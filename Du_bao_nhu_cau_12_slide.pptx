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8ecc85c8444c2a" /><Relationship Type="http://schemas.openxmlformats.org/officeDocument/2006/relationships/extended-properties" Target="/docProps/app.xml" Id="R3faf0afc018d4ab3" /><Relationship Type="http://schemas.openxmlformats.org/officeDocument/2006/relationships/officeDocument" Target="/ppt/presentation.xml" Id="R7795f4eab477464a" /></Relationships>
</file>

<file path=ppt/presentation.xml><?xml version="1.0" encoding="utf-8"?>
<p:presentation xmlns:p="http://schemas.openxmlformats.org/presentationml/2006/main">
  <p:sldMasterIdLst>
    <p:sldMasterId xmlns:r="http://schemas.openxmlformats.org/officeDocument/2006/relationships" id="2147483648" r:id="R74bdb0ed737743e8"/>
  </p:sldMasterIdLst>
  <p:notesMasterIdLst>
    <p:notesMasterId xmlns:r="http://schemas.openxmlformats.org/officeDocument/2006/relationships" r:id="R7f8fbe40668f4192"/>
  </p:notesMasterIdLst>
  <p:sldIdLst>
    <p:sldId xmlns:r="http://schemas.openxmlformats.org/officeDocument/2006/relationships" id="256" r:id="R596fbcc61f284752"/>
    <p:sldId xmlns:r="http://schemas.openxmlformats.org/officeDocument/2006/relationships" id="257" r:id="R40c122cedfc744cc"/>
    <p:sldId xmlns:r="http://schemas.openxmlformats.org/officeDocument/2006/relationships" id="258" r:id="R74f622eb919f473a"/>
    <p:sldId xmlns:r="http://schemas.openxmlformats.org/officeDocument/2006/relationships" id="259" r:id="Rf2f468dd1cbe44b1"/>
    <p:sldId xmlns:r="http://schemas.openxmlformats.org/officeDocument/2006/relationships" id="260" r:id="Rd4e09feda8164266"/>
    <p:sldId xmlns:r="http://schemas.openxmlformats.org/officeDocument/2006/relationships" id="261" r:id="Rb8fa7d76cf2249d7"/>
    <p:sldId xmlns:r="http://schemas.openxmlformats.org/officeDocument/2006/relationships" id="262" r:id="R613fa8e9cdcd46a5"/>
    <p:sldId xmlns:r="http://schemas.openxmlformats.org/officeDocument/2006/relationships" id="263" r:id="R29dba3cb38ff4589"/>
    <p:sldId xmlns:r="http://schemas.openxmlformats.org/officeDocument/2006/relationships" id="264" r:id="R24a24a94e16b4ebe"/>
    <p:sldId xmlns:r="http://schemas.openxmlformats.org/officeDocument/2006/relationships" id="265" r:id="R77e8b7b97d8d4ac9"/>
    <p:sldId xmlns:r="http://schemas.openxmlformats.org/officeDocument/2006/relationships" id="266" r:id="R819a9705e1644998"/>
    <p:sldId xmlns:r="http://schemas.openxmlformats.org/officeDocument/2006/relationships" id="267" r:id="R1455fdc7f442481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aeaea0e5bc436f" /><Relationship Type="http://schemas.openxmlformats.org/officeDocument/2006/relationships/slideMaster" Target="/ppt/slideMasters/slideMaster1.xml" Id="R74bdb0ed737743e8" /><Relationship Type="http://schemas.openxmlformats.org/officeDocument/2006/relationships/notesMaster" Target="/ppt/notesMasters/notesMaster1.xml" Id="R7f8fbe40668f4192" /><Relationship Type="http://schemas.openxmlformats.org/officeDocument/2006/relationships/presProps" Target="/ppt/presProps.xml" Id="R664cef8776ef494b" /><Relationship Type="http://schemas.openxmlformats.org/officeDocument/2006/relationships/tableStyles" Target="/ppt/tableStyles.xml" Id="R3a06594b599d4beb" /><Relationship Type="http://schemas.openxmlformats.org/officeDocument/2006/relationships/slide" Target="/ppt/slides/slide1.xml" Id="R596fbcc61f284752" /><Relationship Type="http://schemas.openxmlformats.org/officeDocument/2006/relationships/slide" Target="/ppt/slides/slide2.xml" Id="R40c122cedfc744cc" /><Relationship Type="http://schemas.openxmlformats.org/officeDocument/2006/relationships/slide" Target="/ppt/slides/slide3.xml" Id="R74f622eb919f473a" /><Relationship Type="http://schemas.openxmlformats.org/officeDocument/2006/relationships/slide" Target="/ppt/slides/slide4.xml" Id="Rf2f468dd1cbe44b1" /><Relationship Type="http://schemas.openxmlformats.org/officeDocument/2006/relationships/slide" Target="/ppt/slides/slide5.xml" Id="Rd4e09feda8164266" /><Relationship Type="http://schemas.openxmlformats.org/officeDocument/2006/relationships/slide" Target="/ppt/slides/slide6.xml" Id="Rb8fa7d76cf2249d7" /><Relationship Type="http://schemas.openxmlformats.org/officeDocument/2006/relationships/slide" Target="/ppt/slides/slide7.xml" Id="R613fa8e9cdcd46a5" /><Relationship Type="http://schemas.openxmlformats.org/officeDocument/2006/relationships/slide" Target="/ppt/slides/slide8.xml" Id="R29dba3cb38ff4589" /><Relationship Type="http://schemas.openxmlformats.org/officeDocument/2006/relationships/slide" Target="/ppt/slides/slide9.xml" Id="R24a24a94e16b4ebe" /><Relationship Type="http://schemas.openxmlformats.org/officeDocument/2006/relationships/slide" Target="/ppt/slides/slide10.xml" Id="R77e8b7b97d8d4ac9" /><Relationship Type="http://schemas.openxmlformats.org/officeDocument/2006/relationships/slide" Target="/ppt/slides/slide11.xml" Id="R819a9705e1644998" /><Relationship Type="http://schemas.openxmlformats.org/officeDocument/2006/relationships/slide" Target="/ppt/slides/slide12.xml" Id="R1455fdc7f44248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b784fb934446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d70522b175459d" /><Relationship Type="http://schemas.openxmlformats.org/officeDocument/2006/relationships/notesMaster" Target="/ppt/notesMasters/notesMaster1.xml" Id="R31c3489ea5e949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129251eca84044" /><Relationship Type="http://schemas.openxmlformats.org/officeDocument/2006/relationships/notesMaster" Target="/ppt/notesMasters/notesMaster1.xml" Id="Rac2a2b146a654a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81e1d3cfbe4836" /><Relationship Type="http://schemas.openxmlformats.org/officeDocument/2006/relationships/notesMaster" Target="/ppt/notesMasters/notesMaster1.xml" Id="Rad0b0887696b40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aa1d33bf294185" /><Relationship Type="http://schemas.openxmlformats.org/officeDocument/2006/relationships/notesMaster" Target="/ppt/notesMasters/notesMaster1.xml" Id="R60245bfc969842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05987c1c2443b9" /><Relationship Type="http://schemas.openxmlformats.org/officeDocument/2006/relationships/notesMaster" Target="/ppt/notesMasters/notesMaster1.xml" Id="R9018f321b49340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abac8e64544a00" /><Relationship Type="http://schemas.openxmlformats.org/officeDocument/2006/relationships/notesMaster" Target="/ppt/notesMasters/notesMaster1.xml" Id="R8356c9a4ad8641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99b05383054dcc" /><Relationship Type="http://schemas.openxmlformats.org/officeDocument/2006/relationships/notesMaster" Target="/ppt/notesMasters/notesMaster1.xml" Id="Ra204b3f4eac043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bd202b46014527" /><Relationship Type="http://schemas.openxmlformats.org/officeDocument/2006/relationships/notesMaster" Target="/ppt/notesMasters/notesMaster1.xml" Id="R4d9ab50f12d040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9710bb3b564e72" /><Relationship Type="http://schemas.openxmlformats.org/officeDocument/2006/relationships/notesMaster" Target="/ppt/notesMasters/notesMaster1.xml" Id="R82555e82e99c48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a2da0818e44145" /><Relationship Type="http://schemas.openxmlformats.org/officeDocument/2006/relationships/notesMaster" Target="/ppt/notesMasters/notesMaster1.xml" Id="Rc09a7fa247944e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07ea092908460a" /><Relationship Type="http://schemas.openxmlformats.org/officeDocument/2006/relationships/notesMaster" Target="/ppt/notesMasters/notesMaster1.xml" Id="Re3bea493f65d43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db8a6461374a09" /><Relationship Type="http://schemas.openxmlformats.org/officeDocument/2006/relationships/notesMaster" Target="/ppt/notesMasters/notesMaster1.xml" Id="Rb1d2de5057b340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Dự án dự báo nhu cầu Car và Motorcycle theo khu vực H3 mức 7 tại TP. Hồ Chí Minh. Ảnh sản phẩm gốc ngày 13/10/2026. Mục tiêu hỗ trợ tài xế và đội vận hành chuẩn bị nguồn lực, chưa đo hiệu quả kinh doanh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Bối cảnh sử dụng giữ theo báo cáo: dự báo để chuẩn bị và điều phối nguồn lực. H10 gợi ý tài xế di chuyển trước. H30 hỗ trợ đội vận hành điều động tới vùng demand cao. H60 hỗ trợ phân bổ theo ca và cảnh báo sớm thiếu cung. Đây là giá trị kỳ vọng, chưa có thử nghiệm đo tác động.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217 khu vực H3 mức 7. 5.404.530 dòng lịch sử 01/05–10/09/2026. Mỗi dòng tương ứng hex, loại xe và bucket 10 phút. Holdout 11–24/09/2026 cùng cơ chế giả lập, ngẫu nhiên độc lập. Chưa chứng minh chất lượng trên dữ liệu khách hàng thực.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loại xe × H10/H30/H60. Train trực tiếp từng tổng nhu cầu tương lai. Đặc trưng gồm lịch, vị trí, lags và biến động gần nhất. H30/H60 thêm khu vực lân cận. Split theo thời gian, purge nhãn vượt ranh giới. Artifact đi kèm schema, mapping, model version. Serving chỉ predict.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trong demand_trend_overfit_results (1)(1).zip. WMAPE holdout Car H10/H30/H60:11.656/11.388/14.374%; Motorcycle:11.056/10.738/13.641%. Tăng 0.034–0.218 điểm phần trăm so với TEST. WMAPE không phải tỷ lệ dự đoán đúng. Trục tung các ô khác nhau.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gốc mentor_daily_actual_prediction_h10.png và CSV cùng ZIP. Car thực tế +10.49%, prediction +9.61%. Motorcycle thực tế +13.65%, prediction +12.86%. Trung bình trên cùng các dòng đủ điều kiện, coverage mỗi ngày có thể khác. Bám hướng nhưng mức phản ứng nhẹ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gốc mentor_daily_actual_prediction_h60.png và CSV. Car thực tế +10.19%, prediction +8.54%. Motorcycle thực tế +13.42%, prediction +11.96%. H60 phản ứng chưa đủ mạnh. Tổng nhãn H60 chồng lấn không phải tổng chuyến duy nhất.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image(20261013-141730).png. Task train_models Success, 20:12:45–21:07:41, duration 54m56s. Log trained_models=6. Thành công task chưa chứng minh phiên bản mới đã được kích hoạt trên Serving. Không gộp metric log với TRAIN_ONLY offline.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image(20261013-141750).png. Inference */10, monitoring hourly, weekly retrain Monday02:00. PostgreSQL lưu dữ liệu. Serving nạp artifact, dùng schema đúng và chỉ predict. Prediction cập nhật API và bản đồ. Các DAG xanh là bằng chứng các lượt chạy, chưa khẳng định uptime24–48h.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missing features, source age và freshness. Hiệu năng: WMAPE,bias,coverage và late predictions. Chỉ đánh giá sau khi cửa sổ actual đầy đủ. Phân phối: so với reference cùng version, theo dõi PSI và out of range. Monitor8001 cung cấp chi tiết, Prometheus9090 thu metrics, Grafana3000 xem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image(20261009-002552).png. Bốn panel:missing features,worst source age,WMAPE,bias. Ảnh thể hiện thiếu/trễ đầu vào và sự biến thiên metric. Không kết luận mọi dịch vụ ổn định hoặc gộp nhiều version thành một kết quả. Cần liên kết cảnh báo với actual và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Đã hoàn thành train/serving/monitoring và có bằng chứng chạy. Offline bám trend holdout, H60 chưa theo hết mức tăng. Phạm vi dữ liệu giả lập. Chưa có đo lường hiệu quả kinh doanh và chưa xác nhận production readiness. Không tuyên bố giảm thời gian chờ hoặc tăng doanh thu.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53384542894f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0483ae5cd140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61ab3acc2044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6d1b41595c4e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4bd3e44c794a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c5c958f3d249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93632E-58E6-4F8C-9E40-CAAFD9DE2FD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0B7D8C-5F03-47FD-92D7-DA1FC9663A20}"/>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27A17C-A038-4BAB-A1DA-E785E2CCF35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7C914F-BB12-4A2D-BB3C-A5B633D83BD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33145F-77D3-4944-9B00-223BD128F03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E6EC69-3068-4D7E-BBD4-91E3E365F0A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65CBE9-09AE-45D9-9313-9B1C90D7E68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CAA289-6FE7-4C29-A267-CEDFDBF04BE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B7A843-5D03-4F02-932D-99BEF6C0343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21A72F-8D80-4885-9C5B-5248E553FE2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d1001044a1445e" /><Relationship Type="http://schemas.openxmlformats.org/officeDocument/2006/relationships/slideLayout" Target="/ppt/slideLayouts/slideLayout1.xml" Id="R1f49ca4a71c64ae8" /><Relationship Type="http://schemas.openxmlformats.org/officeDocument/2006/relationships/slideLayout" Target="/ppt/slideLayouts/slideLayout2.xml" Id="R938a5dfc2bfb47d5" /><Relationship Type="http://schemas.openxmlformats.org/officeDocument/2006/relationships/slideLayout" Target="/ppt/slideLayouts/slideLayout3.xml" Id="R769be2b967084226" /><Relationship Type="http://schemas.openxmlformats.org/officeDocument/2006/relationships/slideLayout" Target="/ppt/slideLayouts/slideLayout4.xml" Id="R4731caa7f999470d" /><Relationship Type="http://schemas.openxmlformats.org/officeDocument/2006/relationships/slideLayout" Target="/ppt/slideLayouts/slideLayout5.xml" Id="Re56994de29d842a2" /><Relationship Type="http://schemas.openxmlformats.org/officeDocument/2006/relationships/slideLayout" Target="/ppt/slideLayouts/slideLayout6.xml" Id="R242aa5535d2149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49ca4a71c64ae8"/>
    <p:sldLayoutId xmlns:r="http://schemas.openxmlformats.org/officeDocument/2006/relationships" id="2147483650" r:id="R938a5dfc2bfb47d5"/>
    <p:sldLayoutId xmlns:r="http://schemas.openxmlformats.org/officeDocument/2006/relationships" id="2147483651" r:id="R769be2b967084226"/>
    <p:sldLayoutId xmlns:r="http://schemas.openxmlformats.org/officeDocument/2006/relationships" id="2147483652" r:id="R4731caa7f999470d"/>
    <p:sldLayoutId xmlns:r="http://schemas.openxmlformats.org/officeDocument/2006/relationships" id="2147483653" r:id="Re56994de29d842a2"/>
    <p:sldLayoutId xmlns:r="http://schemas.openxmlformats.org/officeDocument/2006/relationships" id="2147483654" r:id="R242aa5535d2149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954ba2c2c246f6" /><Relationship Type="http://schemas.openxmlformats.org/officeDocument/2006/relationships/image" Target="/ppt/media/image.png" Id="Rb5ebf2499cab4918" /><Relationship Type="http://schemas.openxmlformats.org/officeDocument/2006/relationships/notesSlide" Target="/ppt/notesSlides/notesSlide1.xml" Id="R230533f62f7b4b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e5e5e1ca3f4e6a" /><Relationship Type="http://schemas.openxmlformats.org/officeDocument/2006/relationships/notesSlide" Target="/ppt/notesSlides/notesSlide2.xml" Id="R408ed5cf4bcf48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b3e022d6b34c97" /><Relationship Type="http://schemas.openxmlformats.org/officeDocument/2006/relationships/notesSlide" Target="/ppt/notesSlides/notesSlide3.xml" Id="R61335897ee7140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a7d3ae85cb455a" /><Relationship Type="http://schemas.openxmlformats.org/officeDocument/2006/relationships/notesSlide" Target="/ppt/notesSlides/notesSlide4.xml" Id="R3551f3f3a1a447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40cd541aba43b1" /><Relationship Type="http://schemas.openxmlformats.org/officeDocument/2006/relationships/image" Target="/ppt/media/image2.png" Id="Re4a426b40bdb44f8" /><Relationship Type="http://schemas.openxmlformats.org/officeDocument/2006/relationships/notesSlide" Target="/ppt/notesSlides/notesSlide5.xml" Id="R28624b0eb1c341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1896f7f78e48b3" /><Relationship Type="http://schemas.openxmlformats.org/officeDocument/2006/relationships/image" Target="/ppt/media/image3.png" Id="Rd4e58232beba4a20" /><Relationship Type="http://schemas.openxmlformats.org/officeDocument/2006/relationships/notesSlide" Target="/ppt/notesSlides/notesSlide6.xml" Id="Rf66fd4ee1dcc4f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d73ddadcfd457c" /><Relationship Type="http://schemas.openxmlformats.org/officeDocument/2006/relationships/image" Target="/ppt/media/image4.png" Id="R6872637772e3437a" /><Relationship Type="http://schemas.openxmlformats.org/officeDocument/2006/relationships/notesSlide" Target="/ppt/notesSlides/notesSlide7.xml" Id="R3d6c70784b1140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62e799070e145c7" /><Relationship Type="http://schemas.openxmlformats.org/officeDocument/2006/relationships/image" Target="/ppt/media/image5.png" Id="Rc0bd36d19a4c442c" /><Relationship Type="http://schemas.openxmlformats.org/officeDocument/2006/relationships/notesSlide" Target="/ppt/notesSlides/notesSlide8.xml" Id="R39de7a09ae5a4a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458f7455bf425a" /><Relationship Type="http://schemas.openxmlformats.org/officeDocument/2006/relationships/image" Target="/ppt/media/image6.png" Id="R2f267648b80545d9" /><Relationship Type="http://schemas.openxmlformats.org/officeDocument/2006/relationships/notesSlide" Target="/ppt/notesSlides/notesSlide9.xml" Id="R57bf1445766047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43ff8075994bc5" /><Relationship Type="http://schemas.openxmlformats.org/officeDocument/2006/relationships/notesSlide" Target="/ppt/notesSlides/notesSlide10.xml" Id="Rf33cf53b9b304b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84a6361a674947" /><Relationship Type="http://schemas.openxmlformats.org/officeDocument/2006/relationships/image" Target="/ppt/media/image7.png" Id="R3f63d4831ff44c56" /><Relationship Type="http://schemas.openxmlformats.org/officeDocument/2006/relationships/notesSlide" Target="/ppt/notesSlides/notesSlide11.xml" Id="R6fb1037e109b47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d1b42c8ffac4016" /><Relationship Type="http://schemas.openxmlformats.org/officeDocument/2006/relationships/notesSlide" Target="/ppt/notesSlides/notesSlide12.xml" Id="Ra4b7b78d211c4ec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0EA754-1EBE-401D-BDF6-37DAA852FD9A}"/>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DỰ BÁO NHU CẦU ĐẶT CHUYẾN</a:t>
            </a:r>
          </a:p>
        </p:txBody>
      </p:sp>
      <p:sp>
        <p:nvSpPr>
          <p:cNvPr id="2" name="">
            <a:extLst xmlns:a="http://schemas.openxmlformats.org/drawingml/2006/main">
              <a:ext uri="{FF2B5EF4-FFF2-40B4-BE49-F238E27FC236}">
                <a16:creationId xmlns:a16="http://schemas.microsoft.com/office/drawing/2014/main" id="{8D740BC9-65AC-4520-88EF-25B9032A4481}"/>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B5C9D8"/>
                </a:solidFill>
                <a:latin typeface="Arial"/>
                <a:ea typeface="Arial"/>
                <a:cs typeface="Arial"/>
              </a:defRPr>
            </a:defPPr>
          </a:lstStyle>
          <a:p xmlns:a="http://schemas.openxmlformats.org/drawingml/2006/main">
            <a:pPr>
              <a:defRPr sz="1350" b="0">
                <a:solidFill>
                  <a:srgbClr val="B5C9D8"/>
                </a:solidFill>
                <a:latin typeface="Arial"/>
                <a:ea typeface="Arial"/>
                <a:cs typeface="Arial"/>
              </a:defRPr>
            </a:pPr>
            <a:r>
              <a:rPr sz="1350" b="0">
                <a:solidFill>
                  <a:srgbClr val="B5C9D8"/>
                </a:solidFill>
                <a:latin typeface="Arial"/>
                <a:ea typeface="Arial"/>
                <a:cs typeface="Arial"/>
              </a:rPr>
              <a:t>Nguyễn Trường An</a:t>
            </a:r>
          </a:p>
        </p:txBody>
      </p:sp>
      <p:sp>
        <p:nvSpPr>
          <p:cNvPr id="3" name="">
            <a:extLst xmlns:a="http://schemas.openxmlformats.org/drawingml/2006/main">
              <a:ext uri="{FF2B5EF4-FFF2-40B4-BE49-F238E27FC236}">
                <a16:creationId xmlns:a16="http://schemas.microsoft.com/office/drawing/2014/main" id="{51B61B82-B3A2-4679-80F5-6594962BA026}"/>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B5C9D8"/>
                </a:solidFill>
                <a:latin typeface="Arial"/>
                <a:ea typeface="Arial"/>
                <a:cs typeface="Arial"/>
              </a:defRPr>
            </a:defPPr>
          </a:lstStyle>
          <a:p xmlns:a="http://schemas.openxmlformats.org/drawingml/2006/main">
            <a:pPr>
              <a:defRPr sz="1425" b="0">
                <a:solidFill>
                  <a:srgbClr val="B5C9D8"/>
                </a:solidFill>
                <a:latin typeface="Arial"/>
                <a:ea typeface="Arial"/>
                <a:cs typeface="Arial"/>
              </a:defRPr>
            </a:pPr>
            <a:r>
              <a:rPr sz="1425" b="0">
                <a:solidFill>
                  <a:srgbClr val="B5C9D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5A3714A-671F-4DBE-BEF4-F3535F414CB3}"/>
              </a:ext>
            </a:extLst>
          </p:cNvPr>
          <p:cNvSpPr>
            <a:spLocks xmlns:a="http://schemas.openxmlformats.org/drawingml/2006/main" noGrp="1"/>
          </p:cNvSpPr>
          <p:nvPr/>
        </p:nvSpPr>
        <p:spPr>
          <a:xfrm xmlns:a="http://schemas.openxmlformats.org/drawingml/2006/main">
            <a:off x="619125" y="2476500"/>
            <a:ext cx="5334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Đúng khu vực.</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Đúng thời điểm.</a:t>
            </a:r>
          </a:p>
        </p:txBody>
      </p:sp>
      <p:sp>
        <p:nvSpPr>
          <p:cNvPr id="5" name="">
            <a:extLst xmlns:a="http://schemas.openxmlformats.org/drawingml/2006/main">
              <a:ext uri="{FF2B5EF4-FFF2-40B4-BE49-F238E27FC236}">
                <a16:creationId xmlns:a16="http://schemas.microsoft.com/office/drawing/2014/main" id="{03E744A1-2F56-47BE-8D1D-51E50B660DC5}"/>
              </a:ext>
            </a:extLst>
          </p:cNvPr>
          <p:cNvSpPr>
            <a:spLocks xmlns:a="http://schemas.openxmlformats.org/drawingml/2006/main" noGrp="1"/>
          </p:cNvSpPr>
          <p:nvPr/>
        </p:nvSpPr>
        <p:spPr>
          <a:xfrm xmlns:a="http://schemas.openxmlformats.org/drawingml/2006/main">
            <a:off x="619125" y="533400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550" b="0">
                <a:solidFill>
                  <a:srgbClr val="72D5D1"/>
                </a:solidFill>
                <a:latin typeface="Arial"/>
                <a:ea typeface="Arial"/>
                <a:cs typeface="Arial"/>
              </a:defRPr>
            </a:defPPr>
          </a:lstStyle>
          <a:p xmlns:a="http://schemas.openxmlformats.org/drawingml/2006/main">
            <a:pPr>
              <a:defRPr sz="2550" b="0">
                <a:solidFill>
                  <a:srgbClr val="72D5D1"/>
                </a:solidFill>
                <a:latin typeface="Arial"/>
                <a:ea typeface="Arial"/>
                <a:cs typeface="Arial"/>
              </a:defRPr>
            </a:pPr>
            <a:r>
              <a:rPr sz="2550" b="0">
                <a:solidFill>
                  <a:srgbClr val="72D5D1"/>
                </a:solidFill>
                <a:latin typeface="Arial"/>
                <a:ea typeface="Arial"/>
                <a:cs typeface="Arial"/>
              </a:rPr>
              <a:t>Car và Motorcycle</a:t>
            </a:r>
          </a:p>
          <a:p xmlns:a="http://schemas.openxmlformats.org/drawingml/2006/main">
            <a:pPr>
              <a:defRPr sz="2550" b="0">
                <a:solidFill>
                  <a:srgbClr val="72D5D1"/>
                </a:solidFill>
                <a:latin typeface="Arial"/>
                <a:ea typeface="Arial"/>
                <a:cs typeface="Arial"/>
              </a:defRPr>
            </a:pPr>
            <a:r>
              <a:rPr sz="2550" b="0">
                <a:solidFill>
                  <a:srgbClr val="72D5D1"/>
                </a:solidFill>
                <a:latin typeface="Arial"/>
                <a:ea typeface="Arial"/>
                <a:cs typeface="Arial"/>
              </a:rPr>
              <a:t>10 / 30 / 60 phút</a:t>
            </a:r>
          </a:p>
        </p:txBody>
      </p:sp>
      <p:pic>
        <p:nvPicPr>
          <p:cNvPr id="6" name="">
            <a:extLst xmlns:a="http://schemas.openxmlformats.org/drawingml/2006/main">
              <a:ext uri="{FF2B5EF4-FFF2-40B4-BE49-F238E27FC236}">
                <a16:creationId xmlns:a16="http://schemas.microsoft.com/office/drawing/2014/main" id="{513D44DE-5268-4A9D-AE28-2B8C4C324839}"/>
              </a:ext>
            </a:extLst>
          </p:cNvPr>
          <p:cNvPicPr>
            <a:picLocks xmlns:a="http://schemas.openxmlformats.org/drawingml/2006/main" noChangeAspect="1"/>
          </p:cNvPicPr>
          <p:nvPr/>
        </p:nvPicPr>
        <p:blipFill>
          <a:blip xmlns:r="http://schemas.openxmlformats.org/officeDocument/2006/relationships" xmlns:a="http://schemas.openxmlformats.org/drawingml/2006/main" r:embed="Rb5ebf2499cab4918"/>
          <a:stretch xmlns:a="http://schemas.openxmlformats.org/drawingml/2006/main"/>
        </p:blipFill>
        <p:spPr>
          <a:xfrm xmlns:a="http://schemas.openxmlformats.org/drawingml/2006/main">
            <a:off x="6191250" y="1918586"/>
            <a:ext cx="8429625" cy="5211579"/>
          </a:xfrm>
          <a:prstGeom xmlns:a="http://schemas.openxmlformats.org/drawingml/2006/main" prst="rect">
            <a:avLst/>
          </a:prstGeom>
        </p:spPr>
      </p:pic>
    </p:spTree>
    <p:extLst>
      <p:ext uri="{BB962C8B-B14F-4D97-AF65-F5344CB8AC3E}">
        <p14:creationId xmlns:p14="http://schemas.microsoft.com/office/powerpoint/2010/main" val="4599550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0A01692-6DAE-408B-9B17-8E10CEA17337}"/>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Người dùng và giá trị</a:t>
            </a:r>
          </a:p>
        </p:txBody>
      </p:sp>
      <p:sp>
        <p:nvSpPr>
          <p:cNvPr id="2" name="">
            <a:extLst xmlns:a="http://schemas.openxmlformats.org/drawingml/2006/main">
              <a:ext uri="{FF2B5EF4-FFF2-40B4-BE49-F238E27FC236}">
                <a16:creationId xmlns:a16="http://schemas.microsoft.com/office/drawing/2014/main" id="{466E8782-10E6-44E7-B788-60D60B9F6D71}"/>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Bố cục: Bài toán / Train / Trend / Serving / Monitoring</a:t>
            </a:r>
          </a:p>
        </p:txBody>
      </p:sp>
      <p:sp>
        <p:nvSpPr>
          <p:cNvPr id="3" name="">
            <a:extLst xmlns:a="http://schemas.openxmlformats.org/drawingml/2006/main">
              <a:ext uri="{FF2B5EF4-FFF2-40B4-BE49-F238E27FC236}">
                <a16:creationId xmlns:a16="http://schemas.microsoft.com/office/drawing/2014/main" id="{3761BBB6-769D-4401-B10A-AB6441D97FE3}"/>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6710E2E9-7432-44EB-919F-DAEBA08868E6}"/>
              </a:ext>
            </a:extLst>
          </p:cNvPr>
          <p:cNvSpPr>
            <a:spLocks xmlns:a="http://schemas.openxmlformats.org/drawingml/2006/main" noGrp="1"/>
          </p:cNvSpPr>
          <p:nvPr/>
        </p:nvSpPr>
        <p:spPr>
          <a:xfrm xmlns:a="http://schemas.openxmlformats.org/drawingml/2006/main">
            <a:off x="619125" y="2190750"/>
            <a:ext cx="4095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600" b="1">
                <a:solidFill>
                  <a:srgbClr val="008A8C"/>
                </a:solidFill>
                <a:latin typeface="Arial"/>
                <a:ea typeface="Arial"/>
                <a:cs typeface="Arial"/>
              </a:defRPr>
            </a:defPPr>
          </a:lstStyle>
          <a:p xmlns:a="http://schemas.openxmlformats.org/drawingml/2006/main">
            <a:pPr>
              <a:defRPr sz="9600" b="1">
                <a:solidFill>
                  <a:srgbClr val="008A8C"/>
                </a:solidFill>
                <a:latin typeface="Arial"/>
                <a:ea typeface="Arial"/>
                <a:cs typeface="Arial"/>
              </a:defRPr>
            </a:pPr>
            <a:r>
              <a:rPr sz="9600" b="1">
                <a:solidFill>
                  <a:srgbClr val="008A8C"/>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2AF7636-84A7-4DD0-9ACA-5BC62D4B5B02}"/>
              </a:ext>
            </a:extLst>
          </p:cNvPr>
          <p:cNvSpPr>
            <a:spLocks xmlns:a="http://schemas.openxmlformats.org/drawingml/2006/main" noGrp="1"/>
          </p:cNvSpPr>
          <p:nvPr/>
        </p:nvSpPr>
        <p:spPr>
          <a:xfrm xmlns:a="http://schemas.openxmlformats.org/drawingml/2006/main">
            <a:off x="619125" y="37338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47887"/>
                </a:solidFill>
                <a:latin typeface="Arial"/>
                <a:ea typeface="Arial"/>
                <a:cs typeface="Arial"/>
              </a:defRPr>
            </a:defPPr>
          </a:lstStyle>
          <a:p xmlns:a="http://schemas.openxmlformats.org/drawingml/2006/main">
            <a:pPr>
              <a:defRPr sz="2175" b="0">
                <a:solidFill>
                  <a:srgbClr val="647887"/>
                </a:solidFill>
                <a:latin typeface="Arial"/>
                <a:ea typeface="Arial"/>
                <a:cs typeface="Arial"/>
              </a:defRPr>
            </a:pPr>
            <a:r>
              <a:rPr sz="2175" b="0">
                <a:solidFill>
                  <a:srgbClr val="647887"/>
                </a:solidFill>
                <a:latin typeface="Arial"/>
                <a:ea typeface="Arial"/>
                <a:cs typeface="Arial"/>
              </a:rPr>
              <a:t>phút</a:t>
            </a:r>
          </a:p>
        </p:txBody>
      </p:sp>
      <p:sp>
        <p:nvSpPr>
          <p:cNvPr id="6" name="">
            <a:extLst xmlns:a="http://schemas.openxmlformats.org/drawingml/2006/main">
              <a:ext uri="{FF2B5EF4-FFF2-40B4-BE49-F238E27FC236}">
                <a16:creationId xmlns:a16="http://schemas.microsoft.com/office/drawing/2014/main" id="{7E8C828F-83FD-4437-8FF9-E36E60F9FF28}"/>
              </a:ext>
            </a:extLst>
          </p:cNvPr>
          <p:cNvSpPr>
            <a:spLocks xmlns:a="http://schemas.openxmlformats.org/drawingml/2006/main" noGrp="1"/>
          </p:cNvSpPr>
          <p:nvPr/>
        </p:nvSpPr>
        <p:spPr>
          <a:xfrm xmlns:a="http://schemas.openxmlformats.org/drawingml/2006/main">
            <a:off x="619125" y="478155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102A43"/>
                </a:solidFill>
                <a:latin typeface="Arial"/>
                <a:ea typeface="Arial"/>
                <a:cs typeface="Arial"/>
              </a:defRPr>
            </a:defPPr>
          </a:lstStyle>
          <a:p xmlns:a="http://schemas.openxmlformats.org/drawingml/2006/main">
            <a:pPr>
              <a:defRPr sz="3150" b="1">
                <a:solidFill>
                  <a:srgbClr val="102A43"/>
                </a:solidFill>
                <a:latin typeface="Arial"/>
                <a:ea typeface="Arial"/>
                <a:cs typeface="Arial"/>
              </a:defRPr>
            </a:pPr>
            <a:r>
              <a:rPr sz="3150" b="1">
                <a:solidFill>
                  <a:srgbClr val="102A43"/>
                </a:solidFill>
                <a:latin typeface="Arial"/>
                <a:ea typeface="Arial"/>
                <a:cs typeface="Arial"/>
              </a:rPr>
              <a:t>Tài xế</a:t>
            </a:r>
          </a:p>
        </p:txBody>
      </p:sp>
      <p:sp>
        <p:nvSpPr>
          <p:cNvPr id="7" name="">
            <a:extLst xmlns:a="http://schemas.openxmlformats.org/drawingml/2006/main">
              <a:ext uri="{FF2B5EF4-FFF2-40B4-BE49-F238E27FC236}">
                <a16:creationId xmlns:a16="http://schemas.microsoft.com/office/drawing/2014/main" id="{0BF61D0E-BB75-4725-B0B9-8D8DBDABBFE4}"/>
              </a:ext>
            </a:extLst>
          </p:cNvPr>
          <p:cNvSpPr>
            <a:spLocks xmlns:a="http://schemas.openxmlformats.org/drawingml/2006/main" noGrp="1"/>
          </p:cNvSpPr>
          <p:nvPr/>
        </p:nvSpPr>
        <p:spPr>
          <a:xfrm xmlns:a="http://schemas.openxmlformats.org/drawingml/2006/main">
            <a:off x="619125" y="5572125"/>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102A43"/>
                </a:solidFill>
                <a:latin typeface="Arial"/>
                <a:ea typeface="Arial"/>
                <a:cs typeface="Arial"/>
              </a:defRPr>
            </a:defPPr>
          </a:lstStyle>
          <a:p xmlns:a="http://schemas.openxmlformats.org/drawingml/2006/main">
            <a:pPr>
              <a:defRPr sz="2475" b="0">
                <a:solidFill>
                  <a:srgbClr val="102A43"/>
                </a:solidFill>
                <a:latin typeface="Arial"/>
                <a:ea typeface="Arial"/>
                <a:cs typeface="Arial"/>
              </a:defRPr>
            </a:pPr>
            <a:r>
              <a:rPr sz="2475" b="0">
                <a:solidFill>
                  <a:srgbClr val="102A43"/>
                </a:solidFill>
                <a:latin typeface="Arial"/>
                <a:ea typeface="Arial"/>
                <a:cs typeface="Arial"/>
              </a:rPr>
              <a:t>Di chuyển trước</a:t>
            </a:r>
          </a:p>
        </p:txBody>
      </p:sp>
      <p:sp>
        <p:nvSpPr>
          <p:cNvPr id="8" name="">
            <a:extLst xmlns:a="http://schemas.openxmlformats.org/drawingml/2006/main">
              <a:ext uri="{FF2B5EF4-FFF2-40B4-BE49-F238E27FC236}">
                <a16:creationId xmlns:a16="http://schemas.microsoft.com/office/drawing/2014/main" id="{CA8CB997-3B8C-478E-841A-9E3EC3737E69}"/>
              </a:ext>
            </a:extLst>
          </p:cNvPr>
          <p:cNvSpPr>
            <a:spLocks xmlns:a="http://schemas.openxmlformats.org/drawingml/2006/main" noGrp="1"/>
          </p:cNvSpPr>
          <p:nvPr/>
        </p:nvSpPr>
        <p:spPr>
          <a:xfrm xmlns:a="http://schemas.openxmlformats.org/drawingml/2006/main">
            <a:off x="5476875" y="2190750"/>
            <a:ext cx="4095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600" b="1">
                <a:solidFill>
                  <a:srgbClr val="008A8C"/>
                </a:solidFill>
                <a:latin typeface="Arial"/>
                <a:ea typeface="Arial"/>
                <a:cs typeface="Arial"/>
              </a:defRPr>
            </a:defPPr>
          </a:lstStyle>
          <a:p xmlns:a="http://schemas.openxmlformats.org/drawingml/2006/main">
            <a:pPr>
              <a:defRPr sz="9600" b="1">
                <a:solidFill>
                  <a:srgbClr val="008A8C"/>
                </a:solidFill>
                <a:latin typeface="Arial"/>
                <a:ea typeface="Arial"/>
                <a:cs typeface="Arial"/>
              </a:defRPr>
            </a:pPr>
            <a:r>
              <a:rPr sz="9600" b="1">
                <a:solidFill>
                  <a:srgbClr val="008A8C"/>
                </a:solidFill>
                <a:latin typeface="Arial"/>
                <a:ea typeface="Arial"/>
                <a:cs typeface="Arial"/>
              </a:rPr>
              <a:t>30</a:t>
            </a:r>
          </a:p>
        </p:txBody>
      </p:sp>
      <p:sp>
        <p:nvSpPr>
          <p:cNvPr id="9" name="">
            <a:extLst xmlns:a="http://schemas.openxmlformats.org/drawingml/2006/main">
              <a:ext uri="{FF2B5EF4-FFF2-40B4-BE49-F238E27FC236}">
                <a16:creationId xmlns:a16="http://schemas.microsoft.com/office/drawing/2014/main" id="{3F3746A2-C10B-405F-A1BC-28A263E5523D}"/>
              </a:ext>
            </a:extLst>
          </p:cNvPr>
          <p:cNvSpPr>
            <a:spLocks xmlns:a="http://schemas.openxmlformats.org/drawingml/2006/main" noGrp="1"/>
          </p:cNvSpPr>
          <p:nvPr/>
        </p:nvSpPr>
        <p:spPr>
          <a:xfrm xmlns:a="http://schemas.openxmlformats.org/drawingml/2006/main">
            <a:off x="5476875" y="37338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47887"/>
                </a:solidFill>
                <a:latin typeface="Arial"/>
                <a:ea typeface="Arial"/>
                <a:cs typeface="Arial"/>
              </a:defRPr>
            </a:defPPr>
          </a:lstStyle>
          <a:p xmlns:a="http://schemas.openxmlformats.org/drawingml/2006/main">
            <a:pPr>
              <a:defRPr sz="2175" b="0">
                <a:solidFill>
                  <a:srgbClr val="647887"/>
                </a:solidFill>
                <a:latin typeface="Arial"/>
                <a:ea typeface="Arial"/>
                <a:cs typeface="Arial"/>
              </a:defRPr>
            </a:pPr>
            <a:r>
              <a:rPr sz="2175" b="0">
                <a:solidFill>
                  <a:srgbClr val="647887"/>
                </a:solidFill>
                <a:latin typeface="Arial"/>
                <a:ea typeface="Arial"/>
                <a:cs typeface="Arial"/>
              </a:rPr>
              <a:t>phút</a:t>
            </a:r>
          </a:p>
        </p:txBody>
      </p:sp>
      <p:sp>
        <p:nvSpPr>
          <p:cNvPr id="10" name="">
            <a:extLst xmlns:a="http://schemas.openxmlformats.org/drawingml/2006/main">
              <a:ext uri="{FF2B5EF4-FFF2-40B4-BE49-F238E27FC236}">
                <a16:creationId xmlns:a16="http://schemas.microsoft.com/office/drawing/2014/main" id="{A28DBA60-F749-4FEC-986D-5D8E28A66810}"/>
              </a:ext>
            </a:extLst>
          </p:cNvPr>
          <p:cNvSpPr>
            <a:spLocks xmlns:a="http://schemas.openxmlformats.org/drawingml/2006/main" noGrp="1"/>
          </p:cNvSpPr>
          <p:nvPr/>
        </p:nvSpPr>
        <p:spPr>
          <a:xfrm xmlns:a="http://schemas.openxmlformats.org/drawingml/2006/main">
            <a:off x="5476875" y="478155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102A43"/>
                </a:solidFill>
                <a:latin typeface="Arial"/>
                <a:ea typeface="Arial"/>
                <a:cs typeface="Arial"/>
              </a:defRPr>
            </a:defPPr>
          </a:lstStyle>
          <a:p xmlns:a="http://schemas.openxmlformats.org/drawingml/2006/main">
            <a:pPr>
              <a:defRPr sz="3150" b="1">
                <a:solidFill>
                  <a:srgbClr val="102A43"/>
                </a:solidFill>
                <a:latin typeface="Arial"/>
                <a:ea typeface="Arial"/>
                <a:cs typeface="Arial"/>
              </a:defRPr>
            </a:pPr>
            <a:r>
              <a:rPr sz="3150" b="1">
                <a:solidFill>
                  <a:srgbClr val="102A43"/>
                </a:solidFill>
                <a:latin typeface="Arial"/>
                <a:ea typeface="Arial"/>
                <a:cs typeface="Arial"/>
              </a:rPr>
              <a:t>Vận hành</a:t>
            </a:r>
          </a:p>
        </p:txBody>
      </p:sp>
      <p:sp>
        <p:nvSpPr>
          <p:cNvPr id="11" name="">
            <a:extLst xmlns:a="http://schemas.openxmlformats.org/drawingml/2006/main">
              <a:ext uri="{FF2B5EF4-FFF2-40B4-BE49-F238E27FC236}">
                <a16:creationId xmlns:a16="http://schemas.microsoft.com/office/drawing/2014/main" id="{F2FCDD49-4405-4507-A103-0BBF15029323}"/>
              </a:ext>
            </a:extLst>
          </p:cNvPr>
          <p:cNvSpPr>
            <a:spLocks xmlns:a="http://schemas.openxmlformats.org/drawingml/2006/main" noGrp="1"/>
          </p:cNvSpPr>
          <p:nvPr/>
        </p:nvSpPr>
        <p:spPr>
          <a:xfrm xmlns:a="http://schemas.openxmlformats.org/drawingml/2006/main">
            <a:off x="5476875" y="5572125"/>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102A43"/>
                </a:solidFill>
                <a:latin typeface="Arial"/>
                <a:ea typeface="Arial"/>
                <a:cs typeface="Arial"/>
              </a:defRPr>
            </a:defPPr>
          </a:lstStyle>
          <a:p xmlns:a="http://schemas.openxmlformats.org/drawingml/2006/main">
            <a:pPr>
              <a:defRPr sz="2475" b="0">
                <a:solidFill>
                  <a:srgbClr val="102A43"/>
                </a:solidFill>
                <a:latin typeface="Arial"/>
                <a:ea typeface="Arial"/>
                <a:cs typeface="Arial"/>
              </a:defRPr>
            </a:pPr>
            <a:r>
              <a:rPr sz="2475" b="0">
                <a:solidFill>
                  <a:srgbClr val="102A43"/>
                </a:solidFill>
                <a:latin typeface="Arial"/>
                <a:ea typeface="Arial"/>
                <a:cs typeface="Arial"/>
              </a:rPr>
              <a:t>Chuẩn bị điều động</a:t>
            </a:r>
          </a:p>
        </p:txBody>
      </p:sp>
      <p:sp>
        <p:nvSpPr>
          <p:cNvPr id="12" name="">
            <a:extLst xmlns:a="http://schemas.openxmlformats.org/drawingml/2006/main">
              <a:ext uri="{FF2B5EF4-FFF2-40B4-BE49-F238E27FC236}">
                <a16:creationId xmlns:a16="http://schemas.microsoft.com/office/drawing/2014/main" id="{6C6F401B-4F0B-4321-809D-70591C164B12}"/>
              </a:ext>
            </a:extLst>
          </p:cNvPr>
          <p:cNvSpPr>
            <a:spLocks xmlns:a="http://schemas.openxmlformats.org/drawingml/2006/main" noGrp="1"/>
          </p:cNvSpPr>
          <p:nvPr/>
        </p:nvSpPr>
        <p:spPr>
          <a:xfrm xmlns:a="http://schemas.openxmlformats.org/drawingml/2006/main">
            <a:off x="10334625" y="2190750"/>
            <a:ext cx="4095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9600" b="1">
                <a:solidFill>
                  <a:srgbClr val="008A8C"/>
                </a:solidFill>
                <a:latin typeface="Arial"/>
                <a:ea typeface="Arial"/>
                <a:cs typeface="Arial"/>
              </a:defRPr>
            </a:defPPr>
          </a:lstStyle>
          <a:p xmlns:a="http://schemas.openxmlformats.org/drawingml/2006/main">
            <a:pPr>
              <a:defRPr sz="9600" b="1">
                <a:solidFill>
                  <a:srgbClr val="008A8C"/>
                </a:solidFill>
                <a:latin typeface="Arial"/>
                <a:ea typeface="Arial"/>
                <a:cs typeface="Arial"/>
              </a:defRPr>
            </a:pPr>
            <a:r>
              <a:rPr sz="9600" b="1">
                <a:solidFill>
                  <a:srgbClr val="008A8C"/>
                </a:solidFill>
                <a:latin typeface="Arial"/>
                <a:ea typeface="Arial"/>
                <a:cs typeface="Arial"/>
              </a:rPr>
              <a:t>60</a:t>
            </a:r>
          </a:p>
        </p:txBody>
      </p:sp>
      <p:sp>
        <p:nvSpPr>
          <p:cNvPr id="13" name="">
            <a:extLst xmlns:a="http://schemas.openxmlformats.org/drawingml/2006/main">
              <a:ext uri="{FF2B5EF4-FFF2-40B4-BE49-F238E27FC236}">
                <a16:creationId xmlns:a16="http://schemas.microsoft.com/office/drawing/2014/main" id="{63DCA332-AD01-4BED-8F88-53FD3E1A063D}"/>
              </a:ext>
            </a:extLst>
          </p:cNvPr>
          <p:cNvSpPr>
            <a:spLocks xmlns:a="http://schemas.openxmlformats.org/drawingml/2006/main" noGrp="1"/>
          </p:cNvSpPr>
          <p:nvPr/>
        </p:nvSpPr>
        <p:spPr>
          <a:xfrm xmlns:a="http://schemas.openxmlformats.org/drawingml/2006/main">
            <a:off x="10334625" y="373380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175" b="0">
                <a:solidFill>
                  <a:srgbClr val="647887"/>
                </a:solidFill>
                <a:latin typeface="Arial"/>
                <a:ea typeface="Arial"/>
                <a:cs typeface="Arial"/>
              </a:defRPr>
            </a:defPPr>
          </a:lstStyle>
          <a:p xmlns:a="http://schemas.openxmlformats.org/drawingml/2006/main">
            <a:pPr>
              <a:defRPr sz="2175" b="0">
                <a:solidFill>
                  <a:srgbClr val="647887"/>
                </a:solidFill>
                <a:latin typeface="Arial"/>
                <a:ea typeface="Arial"/>
                <a:cs typeface="Arial"/>
              </a:defRPr>
            </a:pPr>
            <a:r>
              <a:rPr sz="2175" b="0">
                <a:solidFill>
                  <a:srgbClr val="647887"/>
                </a:solidFill>
                <a:latin typeface="Arial"/>
                <a:ea typeface="Arial"/>
                <a:cs typeface="Arial"/>
              </a:rPr>
              <a:t>phút</a:t>
            </a:r>
          </a:p>
        </p:txBody>
      </p:sp>
      <p:sp>
        <p:nvSpPr>
          <p:cNvPr id="14" name="">
            <a:extLst xmlns:a="http://schemas.openxmlformats.org/drawingml/2006/main">
              <a:ext uri="{FF2B5EF4-FFF2-40B4-BE49-F238E27FC236}">
                <a16:creationId xmlns:a16="http://schemas.microsoft.com/office/drawing/2014/main" id="{A193F3F7-9346-4FF6-8C11-2851F8258B35}"/>
              </a:ext>
            </a:extLst>
          </p:cNvPr>
          <p:cNvSpPr>
            <a:spLocks xmlns:a="http://schemas.openxmlformats.org/drawingml/2006/main" noGrp="1"/>
          </p:cNvSpPr>
          <p:nvPr/>
        </p:nvSpPr>
        <p:spPr>
          <a:xfrm xmlns:a="http://schemas.openxmlformats.org/drawingml/2006/main">
            <a:off x="10334625" y="478155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150" b="1">
                <a:solidFill>
                  <a:srgbClr val="102A43"/>
                </a:solidFill>
                <a:latin typeface="Arial"/>
                <a:ea typeface="Arial"/>
                <a:cs typeface="Arial"/>
              </a:defRPr>
            </a:defPPr>
          </a:lstStyle>
          <a:p xmlns:a="http://schemas.openxmlformats.org/drawingml/2006/main">
            <a:pPr>
              <a:defRPr sz="3150" b="1">
                <a:solidFill>
                  <a:srgbClr val="102A43"/>
                </a:solidFill>
                <a:latin typeface="Arial"/>
                <a:ea typeface="Arial"/>
                <a:cs typeface="Arial"/>
              </a:defRPr>
            </a:pPr>
            <a:r>
              <a:rPr sz="3150" b="1">
                <a:solidFill>
                  <a:srgbClr val="102A43"/>
                </a:solidFill>
                <a:latin typeface="Arial"/>
                <a:ea typeface="Arial"/>
                <a:cs typeface="Arial"/>
              </a:rPr>
              <a:t>Quản lý ca</a:t>
            </a:r>
          </a:p>
        </p:txBody>
      </p:sp>
      <p:sp>
        <p:nvSpPr>
          <p:cNvPr id="15" name="">
            <a:extLst xmlns:a="http://schemas.openxmlformats.org/drawingml/2006/main">
              <a:ext uri="{FF2B5EF4-FFF2-40B4-BE49-F238E27FC236}">
                <a16:creationId xmlns:a16="http://schemas.microsoft.com/office/drawing/2014/main" id="{195CFC68-00E7-4DE4-B39C-14BD30185095}"/>
              </a:ext>
            </a:extLst>
          </p:cNvPr>
          <p:cNvSpPr>
            <a:spLocks xmlns:a="http://schemas.openxmlformats.org/drawingml/2006/main" noGrp="1"/>
          </p:cNvSpPr>
          <p:nvPr/>
        </p:nvSpPr>
        <p:spPr>
          <a:xfrm xmlns:a="http://schemas.openxmlformats.org/drawingml/2006/main">
            <a:off x="10334625" y="5572125"/>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102A43"/>
                </a:solidFill>
                <a:latin typeface="Arial"/>
                <a:ea typeface="Arial"/>
                <a:cs typeface="Arial"/>
              </a:defRPr>
            </a:defPPr>
          </a:lstStyle>
          <a:p xmlns:a="http://schemas.openxmlformats.org/drawingml/2006/main">
            <a:pPr>
              <a:defRPr sz="2475" b="0">
                <a:solidFill>
                  <a:srgbClr val="102A43"/>
                </a:solidFill>
                <a:latin typeface="Arial"/>
                <a:ea typeface="Arial"/>
                <a:cs typeface="Arial"/>
              </a:defRPr>
            </a:pPr>
            <a:r>
              <a:rPr sz="2475" b="0">
                <a:solidFill>
                  <a:srgbClr val="102A43"/>
                </a:solidFill>
                <a:latin typeface="Arial"/>
                <a:ea typeface="Arial"/>
                <a:cs typeface="Arial"/>
              </a:rPr>
              <a:t>Phân bổ nguồn lực</a:t>
            </a:r>
          </a:p>
        </p:txBody>
      </p:sp>
    </p:spTree>
    <p:extLst>
      <p:ext uri="{BB962C8B-B14F-4D97-AF65-F5344CB8AC3E}">
        <p14:creationId xmlns:p14="http://schemas.microsoft.com/office/powerpoint/2010/main" val="17245814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85DCB9-3E5D-4D6E-919A-D832BD469B88}"/>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Phạm vi dữ liệu</a:t>
            </a:r>
          </a:p>
        </p:txBody>
      </p:sp>
      <p:sp>
        <p:nvSpPr>
          <p:cNvPr id="2" name="">
            <a:extLst xmlns:a="http://schemas.openxmlformats.org/drawingml/2006/main">
              <a:ext uri="{FF2B5EF4-FFF2-40B4-BE49-F238E27FC236}">
                <a16:creationId xmlns:a16="http://schemas.microsoft.com/office/drawing/2014/main" id="{8C1BE2E3-D457-4529-833D-753732E9B5F8}"/>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Dữ liệu giả lập. Holdout chưa dùng để train hoặc chọn cấu hình.</a:t>
            </a:r>
          </a:p>
        </p:txBody>
      </p:sp>
      <p:sp>
        <p:nvSpPr>
          <p:cNvPr id="3" name="">
            <a:extLst xmlns:a="http://schemas.openxmlformats.org/drawingml/2006/main">
              <a:ext uri="{FF2B5EF4-FFF2-40B4-BE49-F238E27FC236}">
                <a16:creationId xmlns:a16="http://schemas.microsoft.com/office/drawing/2014/main" id="{F028C219-10A0-42A3-8C46-3CF21EC2D361}"/>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1DE5C36-CA46-43FF-AC37-C26E84BAED96}"/>
              </a:ext>
            </a:extLst>
          </p:cNvPr>
          <p:cNvSpPr>
            <a:spLocks xmlns:a="http://schemas.openxmlformats.org/drawingml/2006/main" noGrp="1"/>
          </p:cNvSpPr>
          <p:nvPr/>
        </p:nvSpPr>
        <p:spPr>
          <a:xfrm xmlns:a="http://schemas.openxmlformats.org/drawingml/2006/main">
            <a:off x="619125" y="2809875"/>
            <a:ext cx="4667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300" b="1">
                <a:solidFill>
                  <a:srgbClr val="008A8C"/>
                </a:solidFill>
                <a:latin typeface="Arial"/>
                <a:ea typeface="Arial"/>
                <a:cs typeface="Arial"/>
              </a:defRPr>
            </a:defPPr>
          </a:lstStyle>
          <a:p xmlns:a="http://schemas.openxmlformats.org/drawingml/2006/main">
            <a:pPr>
              <a:defRPr sz="6300" b="1">
                <a:solidFill>
                  <a:srgbClr val="008A8C"/>
                </a:solidFill>
                <a:latin typeface="Arial"/>
                <a:ea typeface="Arial"/>
                <a:cs typeface="Arial"/>
              </a:defRPr>
            </a:pPr>
            <a:r>
              <a:rPr sz="6300" b="1">
                <a:solidFill>
                  <a:srgbClr val="008A8C"/>
                </a:solidFill>
                <a:latin typeface="Arial"/>
                <a:ea typeface="Arial"/>
                <a:cs typeface="Arial"/>
              </a:rPr>
              <a:t>217</a:t>
            </a:r>
          </a:p>
        </p:txBody>
      </p:sp>
      <p:sp>
        <p:nvSpPr>
          <p:cNvPr id="5" name="">
            <a:extLst xmlns:a="http://schemas.openxmlformats.org/drawingml/2006/main">
              <a:ext uri="{FF2B5EF4-FFF2-40B4-BE49-F238E27FC236}">
                <a16:creationId xmlns:a16="http://schemas.microsoft.com/office/drawing/2014/main" id="{81DB3552-824E-415D-9782-BDEB627ACF5D}"/>
              </a:ext>
            </a:extLst>
          </p:cNvPr>
          <p:cNvSpPr>
            <a:spLocks xmlns:a="http://schemas.openxmlformats.org/drawingml/2006/main" noGrp="1"/>
          </p:cNvSpPr>
          <p:nvPr/>
        </p:nvSpPr>
        <p:spPr>
          <a:xfrm xmlns:a="http://schemas.openxmlformats.org/drawingml/2006/main">
            <a:off x="619125" y="4524375"/>
            <a:ext cx="438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850" b="0">
                <a:solidFill>
                  <a:srgbClr val="102A43"/>
                </a:solidFill>
                <a:latin typeface="Arial"/>
                <a:ea typeface="Arial"/>
                <a:cs typeface="Arial"/>
              </a:defRPr>
            </a:defPPr>
          </a:lstStyle>
          <a:p xmlns:a="http://schemas.openxmlformats.org/drawingml/2006/main">
            <a:pPr>
              <a:defRPr sz="2850" b="0">
                <a:solidFill>
                  <a:srgbClr val="102A43"/>
                </a:solidFill>
                <a:latin typeface="Arial"/>
                <a:ea typeface="Arial"/>
                <a:cs typeface="Arial"/>
              </a:defRPr>
            </a:pPr>
            <a:r>
              <a:rPr sz="2850" b="0">
                <a:solidFill>
                  <a:srgbClr val="102A43"/>
                </a:solidFill>
                <a:latin typeface="Arial"/>
                <a:ea typeface="Arial"/>
                <a:cs typeface="Arial"/>
              </a:rPr>
              <a:t>khu vực H3</a:t>
            </a:r>
          </a:p>
        </p:txBody>
      </p:sp>
      <p:sp>
        <p:nvSpPr>
          <p:cNvPr id="6" name="">
            <a:extLst xmlns:a="http://schemas.openxmlformats.org/drawingml/2006/main">
              <a:ext uri="{FF2B5EF4-FFF2-40B4-BE49-F238E27FC236}">
                <a16:creationId xmlns:a16="http://schemas.microsoft.com/office/drawing/2014/main" id="{96A073B3-BB13-48A2-81F5-D5311F620A91}"/>
              </a:ext>
            </a:extLst>
          </p:cNvPr>
          <p:cNvSpPr>
            <a:spLocks xmlns:a="http://schemas.openxmlformats.org/drawingml/2006/main" noGrp="1"/>
          </p:cNvSpPr>
          <p:nvPr/>
        </p:nvSpPr>
        <p:spPr>
          <a:xfrm xmlns:a="http://schemas.openxmlformats.org/drawingml/2006/main">
            <a:off x="5476875" y="2809875"/>
            <a:ext cx="4667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300" b="1">
                <a:solidFill>
                  <a:srgbClr val="008A8C"/>
                </a:solidFill>
                <a:latin typeface="Arial"/>
                <a:ea typeface="Arial"/>
                <a:cs typeface="Arial"/>
              </a:defRPr>
            </a:defPPr>
          </a:lstStyle>
          <a:p xmlns:a="http://schemas.openxmlformats.org/drawingml/2006/main">
            <a:pPr>
              <a:defRPr sz="6300" b="1">
                <a:solidFill>
                  <a:srgbClr val="008A8C"/>
                </a:solidFill>
                <a:latin typeface="Arial"/>
                <a:ea typeface="Arial"/>
                <a:cs typeface="Arial"/>
              </a:defRPr>
            </a:pPr>
            <a:r>
              <a:rPr sz="6300" b="1">
                <a:solidFill>
                  <a:srgbClr val="008A8C"/>
                </a:solidFill>
                <a:latin typeface="Arial"/>
                <a:ea typeface="Arial"/>
                <a:cs typeface="Arial"/>
              </a:rPr>
              <a:t>5,4 triệu</a:t>
            </a:r>
          </a:p>
        </p:txBody>
      </p:sp>
      <p:sp>
        <p:nvSpPr>
          <p:cNvPr id="7" name="">
            <a:extLst xmlns:a="http://schemas.openxmlformats.org/drawingml/2006/main">
              <a:ext uri="{FF2B5EF4-FFF2-40B4-BE49-F238E27FC236}">
                <a16:creationId xmlns:a16="http://schemas.microsoft.com/office/drawing/2014/main" id="{6C786EE8-A788-4E6C-8CE2-64021FCFA258}"/>
              </a:ext>
            </a:extLst>
          </p:cNvPr>
          <p:cNvSpPr>
            <a:spLocks xmlns:a="http://schemas.openxmlformats.org/drawingml/2006/main" noGrp="1"/>
          </p:cNvSpPr>
          <p:nvPr/>
        </p:nvSpPr>
        <p:spPr>
          <a:xfrm xmlns:a="http://schemas.openxmlformats.org/drawingml/2006/main">
            <a:off x="5476875" y="4524375"/>
            <a:ext cx="438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850" b="0">
                <a:solidFill>
                  <a:srgbClr val="102A43"/>
                </a:solidFill>
                <a:latin typeface="Arial"/>
                <a:ea typeface="Arial"/>
                <a:cs typeface="Arial"/>
              </a:defRPr>
            </a:defPPr>
          </a:lstStyle>
          <a:p xmlns:a="http://schemas.openxmlformats.org/drawingml/2006/main">
            <a:pPr>
              <a:defRPr sz="2850" b="0">
                <a:solidFill>
                  <a:srgbClr val="102A43"/>
                </a:solidFill>
                <a:latin typeface="Arial"/>
                <a:ea typeface="Arial"/>
                <a:cs typeface="Arial"/>
              </a:defRPr>
            </a:pPr>
            <a:r>
              <a:rPr sz="2850" b="0">
                <a:solidFill>
                  <a:srgbClr val="102A43"/>
                </a:solidFill>
                <a:latin typeface="Arial"/>
                <a:ea typeface="Arial"/>
                <a:cs typeface="Arial"/>
              </a:rPr>
              <a:t>dòng lịch sử</a:t>
            </a:r>
          </a:p>
        </p:txBody>
      </p:sp>
      <p:sp>
        <p:nvSpPr>
          <p:cNvPr id="8" name="">
            <a:extLst xmlns:a="http://schemas.openxmlformats.org/drawingml/2006/main">
              <a:ext uri="{FF2B5EF4-FFF2-40B4-BE49-F238E27FC236}">
                <a16:creationId xmlns:a16="http://schemas.microsoft.com/office/drawing/2014/main" id="{4890AB1D-6297-4E0A-83FD-D49EDD6953C3}"/>
              </a:ext>
            </a:extLst>
          </p:cNvPr>
          <p:cNvSpPr>
            <a:spLocks xmlns:a="http://schemas.openxmlformats.org/drawingml/2006/main" noGrp="1"/>
          </p:cNvSpPr>
          <p:nvPr/>
        </p:nvSpPr>
        <p:spPr>
          <a:xfrm xmlns:a="http://schemas.openxmlformats.org/drawingml/2006/main">
            <a:off x="10334625" y="2809875"/>
            <a:ext cx="4667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6300" b="1">
                <a:solidFill>
                  <a:srgbClr val="008A8C"/>
                </a:solidFill>
                <a:latin typeface="Arial"/>
                <a:ea typeface="Arial"/>
                <a:cs typeface="Arial"/>
              </a:defRPr>
            </a:defPPr>
          </a:lstStyle>
          <a:p xmlns:a="http://schemas.openxmlformats.org/drawingml/2006/main">
            <a:pPr>
              <a:defRPr sz="6300" b="1">
                <a:solidFill>
                  <a:srgbClr val="008A8C"/>
                </a:solidFill>
                <a:latin typeface="Arial"/>
                <a:ea typeface="Arial"/>
                <a:cs typeface="Arial"/>
              </a:defRPr>
            </a:pPr>
            <a:r>
              <a:rPr sz="6300" b="1">
                <a:solidFill>
                  <a:srgbClr val="008A8C"/>
                </a:solidFill>
                <a:latin typeface="Arial"/>
                <a:ea typeface="Arial"/>
                <a:cs typeface="Arial"/>
              </a:rPr>
              <a:t>14 ngày</a:t>
            </a:r>
          </a:p>
        </p:txBody>
      </p:sp>
      <p:sp>
        <p:nvSpPr>
          <p:cNvPr id="9" name="">
            <a:extLst xmlns:a="http://schemas.openxmlformats.org/drawingml/2006/main">
              <a:ext uri="{FF2B5EF4-FFF2-40B4-BE49-F238E27FC236}">
                <a16:creationId xmlns:a16="http://schemas.microsoft.com/office/drawing/2014/main" id="{2295BCE5-C2C6-4977-AEB9-FD279EE177FB}"/>
              </a:ext>
            </a:extLst>
          </p:cNvPr>
          <p:cNvSpPr>
            <a:spLocks xmlns:a="http://schemas.openxmlformats.org/drawingml/2006/main" noGrp="1"/>
          </p:cNvSpPr>
          <p:nvPr/>
        </p:nvSpPr>
        <p:spPr>
          <a:xfrm xmlns:a="http://schemas.openxmlformats.org/drawingml/2006/main">
            <a:off x="10334625" y="4524375"/>
            <a:ext cx="438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850" b="0">
                <a:solidFill>
                  <a:srgbClr val="102A43"/>
                </a:solidFill>
                <a:latin typeface="Arial"/>
                <a:ea typeface="Arial"/>
                <a:cs typeface="Arial"/>
              </a:defRPr>
            </a:defPPr>
          </a:lstStyle>
          <a:p xmlns:a="http://schemas.openxmlformats.org/drawingml/2006/main">
            <a:pPr>
              <a:defRPr sz="2850" b="0">
                <a:solidFill>
                  <a:srgbClr val="102A43"/>
                </a:solidFill>
                <a:latin typeface="Arial"/>
                <a:ea typeface="Arial"/>
                <a:cs typeface="Arial"/>
              </a:defRPr>
            </a:pPr>
            <a:r>
              <a:rPr sz="2850" b="0">
                <a:solidFill>
                  <a:srgbClr val="102A43"/>
                </a:solidFill>
                <a:latin typeface="Arial"/>
                <a:ea typeface="Arial"/>
                <a:cs typeface="Arial"/>
              </a:rPr>
              <a:t>holdout mới</a:t>
            </a:r>
          </a:p>
        </p:txBody>
      </p:sp>
      <p:sp>
        <p:nvSpPr>
          <p:cNvPr id="10" name="">
            <a:extLst xmlns:a="http://schemas.openxmlformats.org/drawingml/2006/main">
              <a:ext uri="{FF2B5EF4-FFF2-40B4-BE49-F238E27FC236}">
                <a16:creationId xmlns:a16="http://schemas.microsoft.com/office/drawing/2014/main" id="{4B1EC159-CE30-4C0E-9949-75FF7E19F320}"/>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008A8C"/>
                </a:solidFill>
                <a:latin typeface="Arial"/>
                <a:ea typeface="Arial"/>
                <a:cs typeface="Arial"/>
              </a:defRPr>
            </a:defPPr>
          </a:lstStyle>
          <a:p xmlns:a="http://schemas.openxmlformats.org/drawingml/2006/main">
            <a:pPr>
              <a:defRPr sz="2475" b="1">
                <a:solidFill>
                  <a:srgbClr val="008A8C"/>
                </a:solidFill>
                <a:latin typeface="Arial"/>
                <a:ea typeface="Arial"/>
                <a:cs typeface="Arial"/>
              </a:defRPr>
            </a:pPr>
            <a:r>
              <a:rPr sz="2475" b="1">
                <a:solidFill>
                  <a:srgbClr val="008A8C"/>
                </a:solidFill>
                <a:latin typeface="Arial"/>
                <a:ea typeface="Arial"/>
                <a:cs typeface="Arial"/>
              </a:rPr>
              <a:t>Đánh giá độc lập theo thời gian</a:t>
            </a:r>
          </a:p>
        </p:txBody>
      </p:sp>
    </p:spTree>
    <p:extLst>
      <p:ext uri="{BB962C8B-B14F-4D97-AF65-F5344CB8AC3E}">
        <p14:creationId xmlns:p14="http://schemas.microsoft.com/office/powerpoint/2010/main" val="375394775"/>
      </p:ext>
    </p:extLst>
  </p:cSld>
</p:sld>
</file>

<file path=ppt/slides/slide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EFBF5FB-D219-44D8-B15D-919304AE80BF}"/>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Train: 6 mô hình LightGBM</a:t>
            </a:r>
          </a:p>
        </p:txBody>
      </p:sp>
      <p:sp>
        <p:nvSpPr>
          <p:cNvPr id="2" name="">
            <a:extLst xmlns:a="http://schemas.openxmlformats.org/drawingml/2006/main">
              <a:ext uri="{FF2B5EF4-FFF2-40B4-BE49-F238E27FC236}">
                <a16:creationId xmlns:a16="http://schemas.microsoft.com/office/drawing/2014/main" id="{7DB10D47-CA1C-41E8-A6AC-22DE1D182AFE}"/>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B5C9D8"/>
                </a:solidFill>
                <a:latin typeface="Arial"/>
                <a:ea typeface="Arial"/>
                <a:cs typeface="Arial"/>
              </a:defRPr>
            </a:defPPr>
          </a:lstStyle>
          <a:p xmlns:a="http://schemas.openxmlformats.org/drawingml/2006/main">
            <a:pPr>
              <a:defRPr sz="1350" b="0">
                <a:solidFill>
                  <a:srgbClr val="B5C9D8"/>
                </a:solidFill>
                <a:latin typeface="Arial"/>
                <a:ea typeface="Arial"/>
                <a:cs typeface="Arial"/>
              </a:defRPr>
            </a:pPr>
            <a:r>
              <a:rPr sz="1350" b="0">
                <a:solidFill>
                  <a:srgbClr val="B5C9D8"/>
                </a:solidFill>
                <a:latin typeface="Arial"/>
                <a:ea typeface="Arial"/>
                <a:cs typeface="Arial"/>
              </a:rPr>
              <a:t>Dữ liệu quá khứ đã đóng. Chia tập theo thời gian.</a:t>
            </a:r>
          </a:p>
        </p:txBody>
      </p:sp>
      <p:sp>
        <p:nvSpPr>
          <p:cNvPr id="3" name="">
            <a:extLst xmlns:a="http://schemas.openxmlformats.org/drawingml/2006/main">
              <a:ext uri="{FF2B5EF4-FFF2-40B4-BE49-F238E27FC236}">
                <a16:creationId xmlns:a16="http://schemas.microsoft.com/office/drawing/2014/main" id="{0FD54339-6090-4191-905C-F0901A6DC525}"/>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B5C9D8"/>
                </a:solidFill>
                <a:latin typeface="Arial"/>
                <a:ea typeface="Arial"/>
                <a:cs typeface="Arial"/>
              </a:defRPr>
            </a:defPPr>
          </a:lstStyle>
          <a:p xmlns:a="http://schemas.openxmlformats.org/drawingml/2006/main">
            <a:pPr>
              <a:defRPr sz="1425" b="0">
                <a:solidFill>
                  <a:srgbClr val="B5C9D8"/>
                </a:solidFill>
                <a:latin typeface="Arial"/>
                <a:ea typeface="Arial"/>
                <a:cs typeface="Arial"/>
              </a:defRPr>
            </a:pPr>
            <a:r>
              <a:rPr sz="1425" b="0">
                <a:solidFill>
                  <a:srgbClr val="B5C9D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DFF7F2A9-0365-4B9E-BD23-D6444BC03EBB}"/>
              </a:ext>
            </a:extLst>
          </p:cNvPr>
          <p:cNvSpPr>
            <a:spLocks xmlns:a="http://schemas.openxmlformats.org/drawingml/2006/main" noGrp="1"/>
          </p:cNvSpPr>
          <p:nvPr/>
        </p:nvSpPr>
        <p:spPr>
          <a:xfrm xmlns:a="http://schemas.openxmlformats.org/drawingml/2006/main">
            <a:off x="619125" y="2047875"/>
            <a:ext cx="319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00" b="0">
                <a:solidFill>
                  <a:srgbClr val="72D5D1"/>
                </a:solidFill>
                <a:latin typeface="Arial"/>
                <a:ea typeface="Arial"/>
                <a:cs typeface="Arial"/>
              </a:defRPr>
            </a:defPPr>
          </a:lstStyle>
          <a:p xmlns:a="http://schemas.openxmlformats.org/drawingml/2006/main">
            <a:pPr>
              <a:defRPr sz="3600" b="0">
                <a:solidFill>
                  <a:srgbClr val="72D5D1"/>
                </a:solidFill>
                <a:latin typeface="Arial"/>
                <a:ea typeface="Arial"/>
                <a:cs typeface="Arial"/>
              </a:defRPr>
            </a:pPr>
            <a:r>
              <a:rPr sz="3600" b="0">
                <a:solidFill>
                  <a:srgbClr val="72D5D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2CBF4AF-8FEF-4F69-B2A4-0D1061089745}"/>
              </a:ext>
            </a:extLst>
          </p:cNvPr>
          <p:cNvSpPr>
            <a:spLocks xmlns:a="http://schemas.openxmlformats.org/drawingml/2006/main" noGrp="1"/>
          </p:cNvSpPr>
          <p:nvPr/>
        </p:nvSpPr>
        <p:spPr>
          <a:xfrm xmlns:a="http://schemas.openxmlformats.org/drawingml/2006/main">
            <a:off x="619125" y="333375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FFFFFF"/>
                </a:solidFill>
                <a:latin typeface="Arial"/>
                <a:ea typeface="Arial"/>
                <a:cs typeface="Arial"/>
              </a:defRPr>
            </a:defPPr>
          </a:lstStyle>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Dữ liệu</a:t>
            </a:r>
          </a:p>
        </p:txBody>
      </p:sp>
      <p:sp>
        <p:nvSpPr>
          <p:cNvPr id="6" name="">
            <a:extLst xmlns:a="http://schemas.openxmlformats.org/drawingml/2006/main">
              <a:ext uri="{FF2B5EF4-FFF2-40B4-BE49-F238E27FC236}">
                <a16:creationId xmlns:a16="http://schemas.microsoft.com/office/drawing/2014/main" id="{AD3DCCC1-82F0-4376-BF7F-03BF79D91007}"/>
              </a:ext>
            </a:extLst>
          </p:cNvPr>
          <p:cNvSpPr>
            <a:spLocks xmlns:a="http://schemas.openxmlformats.org/drawingml/2006/main" noGrp="1"/>
          </p:cNvSpPr>
          <p:nvPr/>
        </p:nvSpPr>
        <p:spPr>
          <a:xfrm xmlns:a="http://schemas.openxmlformats.org/drawingml/2006/main">
            <a:off x="619125" y="4619625"/>
            <a:ext cx="3286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0">
                <a:solidFill>
                  <a:srgbClr val="D4E3EC"/>
                </a:solidFill>
                <a:latin typeface="Arial"/>
                <a:ea typeface="Arial"/>
                <a:cs typeface="Arial"/>
              </a:defRPr>
            </a:defPPr>
          </a:lstStyle>
          <a:p xmlns:a="http://schemas.openxmlformats.org/drawingml/2006/main">
            <a:pPr>
              <a:defRPr sz="2325" b="0">
                <a:solidFill>
                  <a:srgbClr val="D4E3EC"/>
                </a:solidFill>
                <a:latin typeface="Arial"/>
                <a:ea typeface="Arial"/>
                <a:cs typeface="Arial"/>
              </a:defRPr>
            </a:pPr>
            <a:r>
              <a:rPr sz="2325" b="0">
                <a:solidFill>
                  <a:srgbClr val="D4E3EC"/>
                </a:solidFill>
                <a:latin typeface="Arial"/>
                <a:ea typeface="Arial"/>
                <a:cs typeface="Arial"/>
              </a:rPr>
              <a:t>Hex + thời gian</a:t>
            </a:r>
          </a:p>
        </p:txBody>
      </p:sp>
      <p:sp>
        <p:nvSpPr>
          <p:cNvPr id="7" name="">
            <a:extLst xmlns:a="http://schemas.openxmlformats.org/drawingml/2006/main">
              <a:ext uri="{FF2B5EF4-FFF2-40B4-BE49-F238E27FC236}">
                <a16:creationId xmlns:a16="http://schemas.microsoft.com/office/drawing/2014/main" id="{C475935B-6BF4-41B2-B846-95FAE39D9153}"/>
              </a:ext>
            </a:extLst>
          </p:cNvPr>
          <p:cNvSpPr>
            <a:spLocks xmlns:a="http://schemas.openxmlformats.org/drawingml/2006/main" noGrp="1"/>
          </p:cNvSpPr>
          <p:nvPr/>
        </p:nvSpPr>
        <p:spPr>
          <a:xfrm xmlns:a="http://schemas.openxmlformats.org/drawingml/2006/main">
            <a:off x="4333875" y="2047875"/>
            <a:ext cx="319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00" b="0">
                <a:solidFill>
                  <a:srgbClr val="72D5D1"/>
                </a:solidFill>
                <a:latin typeface="Arial"/>
                <a:ea typeface="Arial"/>
                <a:cs typeface="Arial"/>
              </a:defRPr>
            </a:defPPr>
          </a:lstStyle>
          <a:p xmlns:a="http://schemas.openxmlformats.org/drawingml/2006/main">
            <a:pPr>
              <a:defRPr sz="3600" b="0">
                <a:solidFill>
                  <a:srgbClr val="72D5D1"/>
                </a:solidFill>
                <a:latin typeface="Arial"/>
                <a:ea typeface="Arial"/>
                <a:cs typeface="Arial"/>
              </a:defRPr>
            </a:pPr>
            <a:r>
              <a:rPr sz="3600" b="0">
                <a:solidFill>
                  <a:srgbClr val="72D5D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35D9AD7-5D5F-4BE1-832F-9A7D4CA31924}"/>
              </a:ext>
            </a:extLst>
          </p:cNvPr>
          <p:cNvSpPr>
            <a:spLocks xmlns:a="http://schemas.openxmlformats.org/drawingml/2006/main" noGrp="1"/>
          </p:cNvSpPr>
          <p:nvPr/>
        </p:nvSpPr>
        <p:spPr>
          <a:xfrm xmlns:a="http://schemas.openxmlformats.org/drawingml/2006/main">
            <a:off x="4333875" y="333375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FFFFFF"/>
                </a:solidFill>
                <a:latin typeface="Arial"/>
                <a:ea typeface="Arial"/>
                <a:cs typeface="Arial"/>
              </a:defRPr>
            </a:defPPr>
          </a:lstStyle>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Đặc trưng</a:t>
            </a:r>
          </a:p>
        </p:txBody>
      </p:sp>
      <p:sp>
        <p:nvSpPr>
          <p:cNvPr id="9" name="">
            <a:extLst xmlns:a="http://schemas.openxmlformats.org/drawingml/2006/main">
              <a:ext uri="{FF2B5EF4-FFF2-40B4-BE49-F238E27FC236}">
                <a16:creationId xmlns:a16="http://schemas.microsoft.com/office/drawing/2014/main" id="{A0EAF5FB-4A38-4005-A89E-FD6EF97EBC62}"/>
              </a:ext>
            </a:extLst>
          </p:cNvPr>
          <p:cNvSpPr>
            <a:spLocks xmlns:a="http://schemas.openxmlformats.org/drawingml/2006/main" noGrp="1"/>
          </p:cNvSpPr>
          <p:nvPr/>
        </p:nvSpPr>
        <p:spPr>
          <a:xfrm xmlns:a="http://schemas.openxmlformats.org/drawingml/2006/main">
            <a:off x="4333875" y="4619625"/>
            <a:ext cx="3286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0">
                <a:solidFill>
                  <a:srgbClr val="D4E3EC"/>
                </a:solidFill>
                <a:latin typeface="Arial"/>
                <a:ea typeface="Arial"/>
                <a:cs typeface="Arial"/>
              </a:defRPr>
            </a:defPPr>
          </a:lstStyle>
          <a:p xmlns:a="http://schemas.openxmlformats.org/drawingml/2006/main">
            <a:pPr>
              <a:defRPr sz="2325" b="0">
                <a:solidFill>
                  <a:srgbClr val="D4E3EC"/>
                </a:solidFill>
                <a:latin typeface="Arial"/>
                <a:ea typeface="Arial"/>
                <a:cs typeface="Arial"/>
              </a:defRPr>
            </a:pPr>
            <a:r>
              <a:rPr sz="2325" b="0">
                <a:solidFill>
                  <a:srgbClr val="D4E3EC"/>
                </a:solidFill>
                <a:latin typeface="Arial"/>
                <a:ea typeface="Arial"/>
                <a:cs typeface="Arial"/>
              </a:rPr>
              <a:t>Nhu cầu gần nhất</a:t>
            </a:r>
          </a:p>
        </p:txBody>
      </p:sp>
      <p:sp>
        <p:nvSpPr>
          <p:cNvPr id="10" name="">
            <a:extLst xmlns:a="http://schemas.openxmlformats.org/drawingml/2006/main">
              <a:ext uri="{FF2B5EF4-FFF2-40B4-BE49-F238E27FC236}">
                <a16:creationId xmlns:a16="http://schemas.microsoft.com/office/drawing/2014/main" id="{846FC156-5A72-405F-A400-9C6DA8F0FB85}"/>
              </a:ext>
            </a:extLst>
          </p:cNvPr>
          <p:cNvSpPr>
            <a:spLocks xmlns:a="http://schemas.openxmlformats.org/drawingml/2006/main" noGrp="1"/>
          </p:cNvSpPr>
          <p:nvPr/>
        </p:nvSpPr>
        <p:spPr>
          <a:xfrm xmlns:a="http://schemas.openxmlformats.org/drawingml/2006/main">
            <a:off x="8048625" y="2047875"/>
            <a:ext cx="319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00" b="0">
                <a:solidFill>
                  <a:srgbClr val="72D5D1"/>
                </a:solidFill>
                <a:latin typeface="Arial"/>
                <a:ea typeface="Arial"/>
                <a:cs typeface="Arial"/>
              </a:defRPr>
            </a:defPPr>
          </a:lstStyle>
          <a:p xmlns:a="http://schemas.openxmlformats.org/drawingml/2006/main">
            <a:pPr>
              <a:defRPr sz="3600" b="0">
                <a:solidFill>
                  <a:srgbClr val="72D5D1"/>
                </a:solidFill>
                <a:latin typeface="Arial"/>
                <a:ea typeface="Arial"/>
                <a:cs typeface="Arial"/>
              </a:defRPr>
            </a:pPr>
            <a:r>
              <a:rPr sz="3600" b="0">
                <a:solidFill>
                  <a:srgbClr val="72D5D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A375D52-B5B2-43D0-AEAA-3527183B021F}"/>
              </a:ext>
            </a:extLst>
          </p:cNvPr>
          <p:cNvSpPr>
            <a:spLocks xmlns:a="http://schemas.openxmlformats.org/drawingml/2006/main" noGrp="1"/>
          </p:cNvSpPr>
          <p:nvPr/>
        </p:nvSpPr>
        <p:spPr>
          <a:xfrm xmlns:a="http://schemas.openxmlformats.org/drawingml/2006/main">
            <a:off x="8048625" y="333375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FFFFFF"/>
                </a:solidFill>
                <a:latin typeface="Arial"/>
                <a:ea typeface="Arial"/>
                <a:cs typeface="Arial"/>
              </a:defRPr>
            </a:defPPr>
          </a:lstStyle>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Huấn luyện</a:t>
            </a:r>
          </a:p>
        </p:txBody>
      </p:sp>
      <p:sp>
        <p:nvSpPr>
          <p:cNvPr id="12" name="">
            <a:extLst xmlns:a="http://schemas.openxmlformats.org/drawingml/2006/main">
              <a:ext uri="{FF2B5EF4-FFF2-40B4-BE49-F238E27FC236}">
                <a16:creationId xmlns:a16="http://schemas.microsoft.com/office/drawing/2014/main" id="{35A7BF64-9318-41D1-8DA5-168B541FBDF4}"/>
              </a:ext>
            </a:extLst>
          </p:cNvPr>
          <p:cNvSpPr>
            <a:spLocks xmlns:a="http://schemas.openxmlformats.org/drawingml/2006/main" noGrp="1"/>
          </p:cNvSpPr>
          <p:nvPr/>
        </p:nvSpPr>
        <p:spPr>
          <a:xfrm xmlns:a="http://schemas.openxmlformats.org/drawingml/2006/main">
            <a:off x="8048625" y="4619625"/>
            <a:ext cx="3286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0">
                <a:solidFill>
                  <a:srgbClr val="D4E3EC"/>
                </a:solidFill>
                <a:latin typeface="Arial"/>
                <a:ea typeface="Arial"/>
                <a:cs typeface="Arial"/>
              </a:defRPr>
            </a:defPPr>
          </a:lstStyle>
          <a:p xmlns:a="http://schemas.openxmlformats.org/drawingml/2006/main">
            <a:pPr>
              <a:defRPr sz="2325" b="0">
                <a:solidFill>
                  <a:srgbClr val="D4E3EC"/>
                </a:solidFill>
                <a:latin typeface="Arial"/>
                <a:ea typeface="Arial"/>
                <a:cs typeface="Arial"/>
              </a:defRPr>
            </a:pPr>
            <a:r>
              <a:rPr sz="2325" b="0">
                <a:solidFill>
                  <a:srgbClr val="D4E3EC"/>
                </a:solidFill>
                <a:latin typeface="Arial"/>
                <a:ea typeface="Arial"/>
                <a:cs typeface="Arial"/>
              </a:rPr>
              <a:t>Car / Motorcycle</a:t>
            </a:r>
          </a:p>
        </p:txBody>
      </p:sp>
      <p:sp>
        <p:nvSpPr>
          <p:cNvPr id="13" name="">
            <a:extLst xmlns:a="http://schemas.openxmlformats.org/drawingml/2006/main">
              <a:ext uri="{FF2B5EF4-FFF2-40B4-BE49-F238E27FC236}">
                <a16:creationId xmlns:a16="http://schemas.microsoft.com/office/drawing/2014/main" id="{109FBBEA-E660-4043-A42E-8D7F57155E88}"/>
              </a:ext>
            </a:extLst>
          </p:cNvPr>
          <p:cNvSpPr>
            <a:spLocks xmlns:a="http://schemas.openxmlformats.org/drawingml/2006/main" noGrp="1"/>
          </p:cNvSpPr>
          <p:nvPr/>
        </p:nvSpPr>
        <p:spPr>
          <a:xfrm xmlns:a="http://schemas.openxmlformats.org/drawingml/2006/main">
            <a:off x="11763375" y="2047875"/>
            <a:ext cx="3190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00" b="0">
                <a:solidFill>
                  <a:srgbClr val="72D5D1"/>
                </a:solidFill>
                <a:latin typeface="Arial"/>
                <a:ea typeface="Arial"/>
                <a:cs typeface="Arial"/>
              </a:defRPr>
            </a:defPPr>
          </a:lstStyle>
          <a:p xmlns:a="http://schemas.openxmlformats.org/drawingml/2006/main">
            <a:pPr>
              <a:defRPr sz="3600" b="0">
                <a:solidFill>
                  <a:srgbClr val="72D5D1"/>
                </a:solidFill>
                <a:latin typeface="Arial"/>
                <a:ea typeface="Arial"/>
                <a:cs typeface="Arial"/>
              </a:defRPr>
            </a:pPr>
            <a:r>
              <a:rPr sz="3600" b="0">
                <a:solidFill>
                  <a:srgbClr val="72D5D1"/>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02748B2-0575-4621-87E7-59947E7913B8}"/>
              </a:ext>
            </a:extLst>
          </p:cNvPr>
          <p:cNvSpPr>
            <a:spLocks xmlns:a="http://schemas.openxmlformats.org/drawingml/2006/main" noGrp="1"/>
          </p:cNvSpPr>
          <p:nvPr/>
        </p:nvSpPr>
        <p:spPr>
          <a:xfrm xmlns:a="http://schemas.openxmlformats.org/drawingml/2006/main">
            <a:off x="11763375" y="333375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000" b="1">
                <a:solidFill>
                  <a:srgbClr val="FFFFFF"/>
                </a:solidFill>
                <a:latin typeface="Arial"/>
                <a:ea typeface="Arial"/>
                <a:cs typeface="Arial"/>
              </a:defRPr>
            </a:defPPr>
          </a:lstStyle>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Artifact</a:t>
            </a:r>
          </a:p>
        </p:txBody>
      </p:sp>
      <p:sp>
        <p:nvSpPr>
          <p:cNvPr id="15" name="">
            <a:extLst xmlns:a="http://schemas.openxmlformats.org/drawingml/2006/main">
              <a:ext uri="{FF2B5EF4-FFF2-40B4-BE49-F238E27FC236}">
                <a16:creationId xmlns:a16="http://schemas.microsoft.com/office/drawing/2014/main" id="{390514D2-42E7-410F-BF00-89C915825D63}"/>
              </a:ext>
            </a:extLst>
          </p:cNvPr>
          <p:cNvSpPr>
            <a:spLocks xmlns:a="http://schemas.openxmlformats.org/drawingml/2006/main" noGrp="1"/>
          </p:cNvSpPr>
          <p:nvPr/>
        </p:nvSpPr>
        <p:spPr>
          <a:xfrm xmlns:a="http://schemas.openxmlformats.org/drawingml/2006/main">
            <a:off x="11763375" y="4619625"/>
            <a:ext cx="32861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325" b="0">
                <a:solidFill>
                  <a:srgbClr val="D4E3EC"/>
                </a:solidFill>
                <a:latin typeface="Arial"/>
                <a:ea typeface="Arial"/>
                <a:cs typeface="Arial"/>
              </a:defRPr>
            </a:defPPr>
          </a:lstStyle>
          <a:p xmlns:a="http://schemas.openxmlformats.org/drawingml/2006/main">
            <a:pPr>
              <a:defRPr sz="2325" b="0">
                <a:solidFill>
                  <a:srgbClr val="D4E3EC"/>
                </a:solidFill>
                <a:latin typeface="Arial"/>
                <a:ea typeface="Arial"/>
                <a:cs typeface="Arial"/>
              </a:defRPr>
            </a:pPr>
            <a:r>
              <a:rPr sz="2325" b="0">
                <a:solidFill>
                  <a:srgbClr val="D4E3EC"/>
                </a:solidFill>
                <a:latin typeface="Arial"/>
                <a:ea typeface="Arial"/>
                <a:cs typeface="Arial"/>
              </a:rPr>
              <a:t>Model + schema</a:t>
            </a:r>
          </a:p>
        </p:txBody>
      </p:sp>
      <p:sp>
        <p:nvSpPr>
          <p:cNvPr id="16" name="">
            <a:extLst xmlns:a="http://schemas.openxmlformats.org/drawingml/2006/main">
              <a:ext uri="{FF2B5EF4-FFF2-40B4-BE49-F238E27FC236}">
                <a16:creationId xmlns:a16="http://schemas.microsoft.com/office/drawing/2014/main" id="{C720F08D-6970-42C8-AEBB-8FB46ED1CC45}"/>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72D5D1"/>
                </a:solidFill>
                <a:latin typeface="Arial"/>
                <a:ea typeface="Arial"/>
                <a:cs typeface="Arial"/>
              </a:defRPr>
            </a:defPPr>
          </a:lstStyle>
          <a:p xmlns:a="http://schemas.openxmlformats.org/drawingml/2006/main">
            <a:pPr>
              <a:defRPr sz="2475" b="1">
                <a:solidFill>
                  <a:srgbClr val="72D5D1"/>
                </a:solidFill>
                <a:latin typeface="Arial"/>
                <a:ea typeface="Arial"/>
                <a:cs typeface="Arial"/>
              </a:defRPr>
            </a:pPr>
            <a:r>
              <a:rPr sz="2475" b="1">
                <a:solidFill>
                  <a:srgbClr val="72D5D1"/>
                </a:solidFill>
                <a:latin typeface="Arial"/>
                <a:ea typeface="Arial"/>
                <a:cs typeface="Arial"/>
              </a:rPr>
              <a:t>Tách Train và Serving bằng phiên bản mô hình</a:t>
            </a:r>
          </a:p>
        </p:txBody>
      </p:sp>
    </p:spTree>
    <p:extLst>
      <p:ext uri="{BB962C8B-B14F-4D97-AF65-F5344CB8AC3E}">
        <p14:creationId xmlns:p14="http://schemas.microsoft.com/office/powerpoint/2010/main" val="17785477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9AD077-48D7-485B-ADD4-AD5C3E077105}"/>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Sai số holdout gần với TEST</a:t>
            </a:r>
          </a:p>
        </p:txBody>
      </p:sp>
      <p:sp>
        <p:nvSpPr>
          <p:cNvPr id="2" name="">
            <a:extLst xmlns:a="http://schemas.openxmlformats.org/drawingml/2006/main">
              <a:ext uri="{FF2B5EF4-FFF2-40B4-BE49-F238E27FC236}">
                <a16:creationId xmlns:a16="http://schemas.microsoft.com/office/drawing/2014/main" id="{CF87AF46-52FE-4635-A3C5-E8DB92821FF2}"/>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Nguồn: split_WMAPE.png. Mô hình offline TRAIN_ONLY, dữ liệu giả lập.</a:t>
            </a:r>
          </a:p>
        </p:txBody>
      </p:sp>
      <p:sp>
        <p:nvSpPr>
          <p:cNvPr id="3" name="">
            <a:extLst xmlns:a="http://schemas.openxmlformats.org/drawingml/2006/main">
              <a:ext uri="{FF2B5EF4-FFF2-40B4-BE49-F238E27FC236}">
                <a16:creationId xmlns:a16="http://schemas.microsoft.com/office/drawing/2014/main" id="{E20607F5-B81B-45E1-BACA-7764CCD44B08}"/>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CF5C4ED9-72BF-448B-9547-D5B87553BA4B}"/>
              </a:ext>
            </a:extLst>
          </p:cNvPr>
          <p:cNvPicPr>
            <a:picLocks xmlns:a="http://schemas.openxmlformats.org/drawingml/2006/main" noChangeAspect="1"/>
          </p:cNvPicPr>
          <p:nvPr/>
        </p:nvPicPr>
        <p:blipFill>
          <a:blip xmlns:r="http://schemas.openxmlformats.org/officeDocument/2006/relationships" xmlns:a="http://schemas.openxmlformats.org/drawingml/2006/main" r:embed="Re4a426b40bdb44f8"/>
          <a:stretch xmlns:a="http://schemas.openxmlformats.org/drawingml/2006/main"/>
        </p:blipFill>
        <p:spPr>
          <a:xfrm xmlns:a="http://schemas.openxmlformats.org/drawingml/2006/main">
            <a:off x="1985792" y="1238250"/>
            <a:ext cx="11268416" cy="6000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8BA6A8-D4D4-46CD-982D-D302DFDB3EAA}"/>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008A8C"/>
                </a:solidFill>
                <a:latin typeface="Arial"/>
                <a:ea typeface="Arial"/>
                <a:cs typeface="Arial"/>
              </a:defRPr>
            </a:defPPr>
          </a:lstStyle>
          <a:p xmlns:a="http://schemas.openxmlformats.org/drawingml/2006/main">
            <a:pPr>
              <a:defRPr sz="2475" b="1">
                <a:solidFill>
                  <a:srgbClr val="008A8C"/>
                </a:solidFill>
                <a:latin typeface="Arial"/>
                <a:ea typeface="Arial"/>
                <a:cs typeface="Arial"/>
              </a:defRPr>
            </a:pPr>
            <a:r>
              <a:rPr sz="2475" b="1">
                <a:solidFill>
                  <a:srgbClr val="008A8C"/>
                </a:solidFill>
                <a:latin typeface="Arial"/>
                <a:ea typeface="Arial"/>
                <a:cs typeface="Arial"/>
              </a:rPr>
              <a:t>WMAPE holdout 10,74–14,37%</a:t>
            </a:r>
          </a:p>
        </p:txBody>
      </p:sp>
    </p:spTree>
    <p:extLst>
      <p:ext uri="{BB962C8B-B14F-4D97-AF65-F5344CB8AC3E}">
        <p14:creationId xmlns:p14="http://schemas.microsoft.com/office/powerpoint/2010/main" val="1799794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097067-FB39-4EA0-A05B-079799B0CF65}"/>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Trend H10: bám hướng biến động</a:t>
            </a:r>
          </a:p>
        </p:txBody>
      </p:sp>
      <p:sp>
        <p:nvSpPr>
          <p:cNvPr id="2" name="">
            <a:extLst xmlns:a="http://schemas.openxmlformats.org/drawingml/2006/main">
              <a:ext uri="{FF2B5EF4-FFF2-40B4-BE49-F238E27FC236}">
                <a16:creationId xmlns:a16="http://schemas.microsoft.com/office/drawing/2014/main" id="{4CCE84CA-7D18-48A2-944E-983F4BC3498F}"/>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Holdout giả lập: 7 ngày cuối so với 7 ngày đầu.</a:t>
            </a:r>
          </a:p>
        </p:txBody>
      </p:sp>
      <p:sp>
        <p:nvSpPr>
          <p:cNvPr id="3" name="">
            <a:extLst xmlns:a="http://schemas.openxmlformats.org/drawingml/2006/main">
              <a:ext uri="{FF2B5EF4-FFF2-40B4-BE49-F238E27FC236}">
                <a16:creationId xmlns:a16="http://schemas.microsoft.com/office/drawing/2014/main" id="{ABA4A952-A73D-4CCC-B418-9E1D36B78C4B}"/>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33951BFC-66E6-47FE-8774-BFC3348BB141}"/>
              </a:ext>
            </a:extLst>
          </p:cNvPr>
          <p:cNvPicPr>
            <a:picLocks xmlns:a="http://schemas.openxmlformats.org/drawingml/2006/main" noChangeAspect="1"/>
          </p:cNvPicPr>
          <p:nvPr/>
        </p:nvPicPr>
        <p:blipFill>
          <a:blip xmlns:r="http://schemas.openxmlformats.org/officeDocument/2006/relationships" xmlns:a="http://schemas.openxmlformats.org/drawingml/2006/main" r:embed="Rd4e58232beba4a20"/>
          <a:stretch xmlns:a="http://schemas.openxmlformats.org/drawingml/2006/main"/>
        </p:blipFill>
        <p:spPr>
          <a:xfrm xmlns:a="http://schemas.openxmlformats.org/drawingml/2006/main">
            <a:off x="1613869" y="1190625"/>
            <a:ext cx="12012262" cy="6048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4606CF8-A7F5-4671-876A-876029BBF9B7}"/>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008A8C"/>
                </a:solidFill>
                <a:latin typeface="Arial"/>
                <a:ea typeface="Arial"/>
                <a:cs typeface="Arial"/>
              </a:defRPr>
            </a:defPPr>
          </a:lstStyle>
          <a:p xmlns:a="http://schemas.openxmlformats.org/drawingml/2006/main">
            <a:pPr>
              <a:defRPr sz="2475" b="1">
                <a:solidFill>
                  <a:srgbClr val="008A8C"/>
                </a:solidFill>
                <a:latin typeface="Arial"/>
                <a:ea typeface="Arial"/>
                <a:cs typeface="Arial"/>
              </a:defRPr>
            </a:pPr>
            <a:r>
              <a:rPr sz="2475" b="1">
                <a:solidFill>
                  <a:srgbClr val="008A8C"/>
                </a:solidFill>
                <a:latin typeface="Arial"/>
                <a:ea typeface="Arial"/>
                <a:cs typeface="Arial"/>
              </a:rPr>
              <a:t>Car: thực tế +10,49% / dự báo +9,61%</a:t>
            </a:r>
          </a:p>
        </p:txBody>
      </p:sp>
    </p:spTree>
    <p:extLst>
      <p:ext uri="{BB962C8B-B14F-4D97-AF65-F5344CB8AC3E}">
        <p14:creationId xmlns:p14="http://schemas.microsoft.com/office/powerpoint/2010/main" val="19429954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F60B81-6861-4DE3-85A8-96763295B05D}"/>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Trend H60: chưa theo hết mức tăng</a:t>
            </a:r>
          </a:p>
        </p:txBody>
      </p:sp>
      <p:sp>
        <p:nvSpPr>
          <p:cNvPr id="2" name="">
            <a:extLst xmlns:a="http://schemas.openxmlformats.org/drawingml/2006/main">
              <a:ext uri="{FF2B5EF4-FFF2-40B4-BE49-F238E27FC236}">
                <a16:creationId xmlns:a16="http://schemas.microsoft.com/office/drawing/2014/main" id="{5339682A-1855-4A0F-B0D0-0DC914A3B5B3}"/>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Holdout giả lập: 7 ngày cuối so với 7 ngày đầu.</a:t>
            </a:r>
          </a:p>
        </p:txBody>
      </p:sp>
      <p:sp>
        <p:nvSpPr>
          <p:cNvPr id="3" name="">
            <a:extLst xmlns:a="http://schemas.openxmlformats.org/drawingml/2006/main">
              <a:ext uri="{FF2B5EF4-FFF2-40B4-BE49-F238E27FC236}">
                <a16:creationId xmlns:a16="http://schemas.microsoft.com/office/drawing/2014/main" id="{3DD77883-10F2-47AE-9CD1-CF34207AE743}"/>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729B5DE9-63EE-4176-ACF3-B2495CEEC92E}"/>
              </a:ext>
            </a:extLst>
          </p:cNvPr>
          <p:cNvPicPr>
            <a:picLocks xmlns:a="http://schemas.openxmlformats.org/drawingml/2006/main" noChangeAspect="1"/>
          </p:cNvPicPr>
          <p:nvPr/>
        </p:nvPicPr>
        <p:blipFill>
          <a:blip xmlns:r="http://schemas.openxmlformats.org/officeDocument/2006/relationships" xmlns:a="http://schemas.openxmlformats.org/drawingml/2006/main" r:embed="R6872637772e3437a"/>
          <a:stretch xmlns:a="http://schemas.openxmlformats.org/drawingml/2006/main"/>
        </p:blipFill>
        <p:spPr>
          <a:xfrm xmlns:a="http://schemas.openxmlformats.org/drawingml/2006/main">
            <a:off x="1613869" y="1190625"/>
            <a:ext cx="12012262" cy="6048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A31D008-83EA-4AC4-BA4F-F954C442236D}"/>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008A8C"/>
                </a:solidFill>
                <a:latin typeface="Arial"/>
                <a:ea typeface="Arial"/>
                <a:cs typeface="Arial"/>
              </a:defRPr>
            </a:defPPr>
          </a:lstStyle>
          <a:p xmlns:a="http://schemas.openxmlformats.org/drawingml/2006/main">
            <a:pPr>
              <a:defRPr sz="2475" b="1">
                <a:solidFill>
                  <a:srgbClr val="008A8C"/>
                </a:solidFill>
                <a:latin typeface="Arial"/>
                <a:ea typeface="Arial"/>
                <a:cs typeface="Arial"/>
              </a:defRPr>
            </a:pPr>
            <a:r>
              <a:rPr sz="2475" b="1">
                <a:solidFill>
                  <a:srgbClr val="008A8C"/>
                </a:solidFill>
                <a:latin typeface="Arial"/>
                <a:ea typeface="Arial"/>
                <a:cs typeface="Arial"/>
              </a:rPr>
              <a:t>Car: thực tế +10,19% / dự báo +8,54%</a:t>
            </a:r>
          </a:p>
        </p:txBody>
      </p:sp>
    </p:spTree>
    <p:extLst>
      <p:ext uri="{BB962C8B-B14F-4D97-AF65-F5344CB8AC3E}">
        <p14:creationId xmlns:p14="http://schemas.microsoft.com/office/powerpoint/2010/main" val="20840982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35EF8E-FB33-42F4-A9AE-21ABC3C8F4C1}"/>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Train đã chạy thành công</a:t>
            </a:r>
          </a:p>
        </p:txBody>
      </p:sp>
      <p:sp>
        <p:nvSpPr>
          <p:cNvPr id="2" name="">
            <a:extLst xmlns:a="http://schemas.openxmlformats.org/drawingml/2006/main">
              <a:ext uri="{FF2B5EF4-FFF2-40B4-BE49-F238E27FC236}">
                <a16:creationId xmlns:a16="http://schemas.microsoft.com/office/drawing/2014/main" id="{8B97549C-7494-4071-81A1-444C8B90802B}"/>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Ảnh Airflow gốc ngày 13/10/2026.</a:t>
            </a:r>
          </a:p>
        </p:txBody>
      </p:sp>
      <p:sp>
        <p:nvSpPr>
          <p:cNvPr id="3" name="">
            <a:extLst xmlns:a="http://schemas.openxmlformats.org/drawingml/2006/main">
              <a:ext uri="{FF2B5EF4-FFF2-40B4-BE49-F238E27FC236}">
                <a16:creationId xmlns:a16="http://schemas.microsoft.com/office/drawing/2014/main" id="{C7A08C41-07F1-4137-B6C8-28CC37C32B5A}"/>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E324A73D-E41B-48B1-8359-511DDDA1B089}"/>
              </a:ext>
            </a:extLst>
          </p:cNvPr>
          <p:cNvPicPr>
            <a:picLocks xmlns:a="http://schemas.openxmlformats.org/drawingml/2006/main" noChangeAspect="1"/>
          </p:cNvPicPr>
          <p:nvPr/>
        </p:nvPicPr>
        <p:blipFill>
          <a:blip xmlns:r="http://schemas.openxmlformats.org/officeDocument/2006/relationships" xmlns:a="http://schemas.openxmlformats.org/drawingml/2006/main" r:embed="Rc0bd36d19a4c442c"/>
          <a:stretch xmlns:a="http://schemas.openxmlformats.org/drawingml/2006/main"/>
        </p:blipFill>
        <p:spPr>
          <a:xfrm xmlns:a="http://schemas.openxmlformats.org/drawingml/2006/main">
            <a:off x="1203405" y="1333500"/>
            <a:ext cx="12833190" cy="5810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46B4F9-A797-40C7-9B09-969D0A5D98F5}"/>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008A8C"/>
                </a:solidFill>
                <a:latin typeface="Arial"/>
                <a:ea typeface="Arial"/>
                <a:cs typeface="Arial"/>
              </a:defRPr>
            </a:defPPr>
          </a:lstStyle>
          <a:p xmlns:a="http://schemas.openxmlformats.org/drawingml/2006/main">
            <a:pPr>
              <a:defRPr sz="2475" b="1">
                <a:solidFill>
                  <a:srgbClr val="008A8C"/>
                </a:solidFill>
                <a:latin typeface="Arial"/>
                <a:ea typeface="Arial"/>
                <a:cs typeface="Arial"/>
              </a:defRPr>
            </a:pPr>
            <a:r>
              <a:rPr sz="2475" b="1">
                <a:solidFill>
                  <a:srgbClr val="008A8C"/>
                </a:solidFill>
                <a:latin typeface="Arial"/>
                <a:ea typeface="Arial"/>
                <a:cs typeface="Arial"/>
              </a:rPr>
              <a:t>6 mô hình / 54 phút 56 giây</a:t>
            </a:r>
          </a:p>
        </p:txBody>
      </p:sp>
    </p:spTree>
    <p:extLst>
      <p:ext uri="{BB962C8B-B14F-4D97-AF65-F5344CB8AC3E}">
        <p14:creationId xmlns:p14="http://schemas.microsoft.com/office/powerpoint/2010/main" val="20047951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38D842-9F06-4395-9A92-FB042F6D5B08}"/>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Serving: dự báo mỗi 10 phút</a:t>
            </a:r>
          </a:p>
        </p:txBody>
      </p:sp>
      <p:sp>
        <p:nvSpPr>
          <p:cNvPr id="2" name="">
            <a:extLst xmlns:a="http://schemas.openxmlformats.org/drawingml/2006/main">
              <a:ext uri="{FF2B5EF4-FFF2-40B4-BE49-F238E27FC236}">
                <a16:creationId xmlns:a16="http://schemas.microsoft.com/office/drawing/2014/main" id="{1C8E79AA-4A5E-4F1D-AAF4-32C814705100}"/>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Ảnh Airflow gốc ngày 13/10/2026.</a:t>
            </a:r>
          </a:p>
        </p:txBody>
      </p:sp>
      <p:sp>
        <p:nvSpPr>
          <p:cNvPr id="3" name="">
            <a:extLst xmlns:a="http://schemas.openxmlformats.org/drawingml/2006/main">
              <a:ext uri="{FF2B5EF4-FFF2-40B4-BE49-F238E27FC236}">
                <a16:creationId xmlns:a16="http://schemas.microsoft.com/office/drawing/2014/main" id="{A502B815-2A26-4EED-AF3E-0CFAF235A9EE}"/>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71F4894E-1F1C-44F6-B4F9-C00B5E8C5D97}"/>
              </a:ext>
            </a:extLst>
          </p:cNvPr>
          <p:cNvPicPr>
            <a:picLocks xmlns:a="http://schemas.openxmlformats.org/drawingml/2006/main" noChangeAspect="1"/>
          </p:cNvPicPr>
          <p:nvPr/>
        </p:nvPicPr>
        <p:blipFill>
          <a:blip xmlns:r="http://schemas.openxmlformats.org/officeDocument/2006/relationships" xmlns:a="http://schemas.openxmlformats.org/drawingml/2006/main" r:embed="R2f267648b80545d9"/>
          <a:stretch xmlns:a="http://schemas.openxmlformats.org/drawingml/2006/main"/>
        </p:blipFill>
        <p:spPr>
          <a:xfrm xmlns:a="http://schemas.openxmlformats.org/drawingml/2006/main">
            <a:off x="619125" y="2298120"/>
            <a:ext cx="14001750" cy="397626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C30B9D-E487-4127-BC5B-9AE475D1F256}"/>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008A8C"/>
                </a:solidFill>
                <a:latin typeface="Arial"/>
                <a:ea typeface="Arial"/>
                <a:cs typeface="Arial"/>
              </a:defRPr>
            </a:defPPr>
          </a:lstStyle>
          <a:p xmlns:a="http://schemas.openxmlformats.org/drawingml/2006/main">
            <a:pPr>
              <a:defRPr sz="2475" b="1">
                <a:solidFill>
                  <a:srgbClr val="008A8C"/>
                </a:solidFill>
                <a:latin typeface="Arial"/>
                <a:ea typeface="Arial"/>
                <a:cs typeface="Arial"/>
              </a:defRPr>
            </a:pPr>
            <a:r>
              <a:rPr sz="2475" b="1">
                <a:solidFill>
                  <a:srgbClr val="008A8C"/>
                </a:solidFill>
                <a:latin typeface="Arial"/>
                <a:ea typeface="Arial"/>
                <a:cs typeface="Arial"/>
              </a:rPr>
              <a:t>Inference 10 phút / Monitoring mỗi giờ</a:t>
            </a:r>
          </a:p>
        </p:txBody>
      </p:sp>
    </p:spTree>
    <p:extLst>
      <p:ext uri="{BB962C8B-B14F-4D97-AF65-F5344CB8AC3E}">
        <p14:creationId xmlns:p14="http://schemas.microsoft.com/office/powerpoint/2010/main" val="1168099229"/>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26A4FBB-21E0-40BC-9F77-9AA3D63FDE8D}"/>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Monitoring theo dõi ba lớp</a:t>
            </a:r>
          </a:p>
        </p:txBody>
      </p:sp>
      <p:sp>
        <p:nvSpPr>
          <p:cNvPr id="2" name="">
            <a:extLst xmlns:a="http://schemas.openxmlformats.org/drawingml/2006/main">
              <a:ext uri="{FF2B5EF4-FFF2-40B4-BE49-F238E27FC236}">
                <a16:creationId xmlns:a16="http://schemas.microsoft.com/office/drawing/2014/main" id="{585A9215-9787-48D0-A66E-DD390FB4BC4B}"/>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B5C9D8"/>
                </a:solidFill>
                <a:latin typeface="Arial"/>
                <a:ea typeface="Arial"/>
                <a:cs typeface="Arial"/>
              </a:defRPr>
            </a:defPPr>
          </a:lstStyle>
          <a:p xmlns:a="http://schemas.openxmlformats.org/drawingml/2006/main">
            <a:pPr>
              <a:defRPr sz="1350" b="0">
                <a:solidFill>
                  <a:srgbClr val="B5C9D8"/>
                </a:solidFill>
                <a:latin typeface="Arial"/>
                <a:ea typeface="Arial"/>
                <a:cs typeface="Arial"/>
              </a:defRPr>
            </a:pPr>
            <a:r>
              <a:rPr sz="1350" b="0">
                <a:solidFill>
                  <a:srgbClr val="B5C9D8"/>
                </a:solidFill>
                <a:latin typeface="Arial"/>
                <a:ea typeface="Arial"/>
                <a:cs typeface="Arial"/>
              </a:rPr>
              <a:t>Cảnh báo cần kiểm tra dữ liệu và phiên bản mô hình.</a:t>
            </a:r>
          </a:p>
        </p:txBody>
      </p:sp>
      <p:sp>
        <p:nvSpPr>
          <p:cNvPr id="3" name="">
            <a:extLst xmlns:a="http://schemas.openxmlformats.org/drawingml/2006/main">
              <a:ext uri="{FF2B5EF4-FFF2-40B4-BE49-F238E27FC236}">
                <a16:creationId xmlns:a16="http://schemas.microsoft.com/office/drawing/2014/main" id="{38849EAA-7819-4691-865D-A278490E8419}"/>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B5C9D8"/>
                </a:solidFill>
                <a:latin typeface="Arial"/>
                <a:ea typeface="Arial"/>
                <a:cs typeface="Arial"/>
              </a:defRPr>
            </a:defPPr>
          </a:lstStyle>
          <a:p xmlns:a="http://schemas.openxmlformats.org/drawingml/2006/main">
            <a:pPr>
              <a:defRPr sz="1425" b="0">
                <a:solidFill>
                  <a:srgbClr val="B5C9D8"/>
                </a:solidFill>
                <a:latin typeface="Arial"/>
                <a:ea typeface="Arial"/>
                <a:cs typeface="Arial"/>
              </a:defRPr>
            </a:pPr>
            <a:r>
              <a:rPr sz="1425" b="0">
                <a:solidFill>
                  <a:srgbClr val="B5C9D8"/>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E46DF2C7-2D61-4EE0-8CAF-6DA3F9691A04}"/>
              </a:ext>
            </a:extLst>
          </p:cNvPr>
          <p:cNvSpPr>
            <a:spLocks xmlns:a="http://schemas.openxmlformats.org/drawingml/2006/main" noGrp="1"/>
          </p:cNvSpPr>
          <p:nvPr/>
        </p:nvSpPr>
        <p:spPr>
          <a:xfrm xmlns:a="http://schemas.openxmlformats.org/drawingml/2006/main">
            <a:off x="619125" y="2095500"/>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750" b="0">
                <a:solidFill>
                  <a:srgbClr val="72D5D1"/>
                </a:solidFill>
                <a:latin typeface="Arial"/>
                <a:ea typeface="Arial"/>
                <a:cs typeface="Arial"/>
              </a:defRPr>
            </a:defPPr>
          </a:lstStyle>
          <a:p xmlns:a="http://schemas.openxmlformats.org/drawingml/2006/main">
            <a:pPr>
              <a:defRPr sz="3750" b="0">
                <a:solidFill>
                  <a:srgbClr val="72D5D1"/>
                </a:solidFill>
                <a:latin typeface="Arial"/>
                <a:ea typeface="Arial"/>
                <a:cs typeface="Arial"/>
              </a:defRPr>
            </a:pPr>
            <a:r>
              <a:rPr sz="3750" b="0">
                <a:solidFill>
                  <a:srgbClr val="72D5D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A9945E7-4E8F-4A1D-B016-70E647E013DC}"/>
              </a:ext>
            </a:extLst>
          </p:cNvPr>
          <p:cNvSpPr>
            <a:spLocks xmlns:a="http://schemas.openxmlformats.org/drawingml/2006/main" noGrp="1"/>
          </p:cNvSpPr>
          <p:nvPr/>
        </p:nvSpPr>
        <p:spPr>
          <a:xfrm xmlns:a="http://schemas.openxmlformats.org/drawingml/2006/main">
            <a:off x="619125" y="347662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Đầu vào</a:t>
            </a:r>
          </a:p>
        </p:txBody>
      </p:sp>
      <p:sp>
        <p:nvSpPr>
          <p:cNvPr id="6" name="">
            <a:extLst xmlns:a="http://schemas.openxmlformats.org/drawingml/2006/main">
              <a:ext uri="{FF2B5EF4-FFF2-40B4-BE49-F238E27FC236}">
                <a16:creationId xmlns:a16="http://schemas.microsoft.com/office/drawing/2014/main" id="{A8414883-1AF1-4BE1-A057-A0B7E4461BA0}"/>
              </a:ext>
            </a:extLst>
          </p:cNvPr>
          <p:cNvSpPr>
            <a:spLocks xmlns:a="http://schemas.openxmlformats.org/drawingml/2006/main" noGrp="1"/>
          </p:cNvSpPr>
          <p:nvPr/>
        </p:nvSpPr>
        <p:spPr>
          <a:xfrm xmlns:a="http://schemas.openxmlformats.org/drawingml/2006/main">
            <a:off x="619125" y="48577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D4E3EC"/>
                </a:solidFill>
                <a:latin typeface="Arial"/>
                <a:ea typeface="Arial"/>
                <a:cs typeface="Arial"/>
              </a:defRPr>
            </a:defPPr>
          </a:lstStyle>
          <a:p xmlns:a="http://schemas.openxmlformats.org/drawingml/2006/main">
            <a:pPr>
              <a:defRPr sz="2475" b="0">
                <a:solidFill>
                  <a:srgbClr val="D4E3EC"/>
                </a:solidFill>
                <a:latin typeface="Arial"/>
                <a:ea typeface="Arial"/>
                <a:cs typeface="Arial"/>
              </a:defRPr>
            </a:pPr>
            <a:r>
              <a:rPr sz="2475" b="0">
                <a:solidFill>
                  <a:srgbClr val="D4E3EC"/>
                </a:solidFill>
                <a:latin typeface="Arial"/>
                <a:ea typeface="Arial"/>
                <a:cs typeface="Arial"/>
              </a:rPr>
              <a:t>Thiếu / trễ dữ liệu</a:t>
            </a:r>
          </a:p>
        </p:txBody>
      </p:sp>
      <p:sp>
        <p:nvSpPr>
          <p:cNvPr id="7" name="">
            <a:extLst xmlns:a="http://schemas.openxmlformats.org/drawingml/2006/main">
              <a:ext uri="{FF2B5EF4-FFF2-40B4-BE49-F238E27FC236}">
                <a16:creationId xmlns:a16="http://schemas.microsoft.com/office/drawing/2014/main" id="{38BCDFEB-877E-445D-8C6B-6F758AF3E7D6}"/>
              </a:ext>
            </a:extLst>
          </p:cNvPr>
          <p:cNvSpPr>
            <a:spLocks xmlns:a="http://schemas.openxmlformats.org/drawingml/2006/main" noGrp="1"/>
          </p:cNvSpPr>
          <p:nvPr/>
        </p:nvSpPr>
        <p:spPr>
          <a:xfrm xmlns:a="http://schemas.openxmlformats.org/drawingml/2006/main">
            <a:off x="5476875" y="2095500"/>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750" b="0">
                <a:solidFill>
                  <a:srgbClr val="72D5D1"/>
                </a:solidFill>
                <a:latin typeface="Arial"/>
                <a:ea typeface="Arial"/>
                <a:cs typeface="Arial"/>
              </a:defRPr>
            </a:defPPr>
          </a:lstStyle>
          <a:p xmlns:a="http://schemas.openxmlformats.org/drawingml/2006/main">
            <a:pPr>
              <a:defRPr sz="3750" b="0">
                <a:solidFill>
                  <a:srgbClr val="72D5D1"/>
                </a:solidFill>
                <a:latin typeface="Arial"/>
                <a:ea typeface="Arial"/>
                <a:cs typeface="Arial"/>
              </a:defRPr>
            </a:pPr>
            <a:r>
              <a:rPr sz="3750" b="0">
                <a:solidFill>
                  <a:srgbClr val="72D5D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C744CF2-30C6-4CBC-ADDB-E12E4863BD07}"/>
              </a:ext>
            </a:extLst>
          </p:cNvPr>
          <p:cNvSpPr>
            <a:spLocks xmlns:a="http://schemas.openxmlformats.org/drawingml/2006/main" noGrp="1"/>
          </p:cNvSpPr>
          <p:nvPr/>
        </p:nvSpPr>
        <p:spPr>
          <a:xfrm xmlns:a="http://schemas.openxmlformats.org/drawingml/2006/main">
            <a:off x="5476875" y="347662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Hiệu năng</a:t>
            </a:r>
          </a:p>
        </p:txBody>
      </p:sp>
      <p:sp>
        <p:nvSpPr>
          <p:cNvPr id="9" name="">
            <a:extLst xmlns:a="http://schemas.openxmlformats.org/drawingml/2006/main">
              <a:ext uri="{FF2B5EF4-FFF2-40B4-BE49-F238E27FC236}">
                <a16:creationId xmlns:a16="http://schemas.microsoft.com/office/drawing/2014/main" id="{4702B7F4-499E-44ED-A7CA-B3CF2E922C49}"/>
              </a:ext>
            </a:extLst>
          </p:cNvPr>
          <p:cNvSpPr>
            <a:spLocks xmlns:a="http://schemas.openxmlformats.org/drawingml/2006/main" noGrp="1"/>
          </p:cNvSpPr>
          <p:nvPr/>
        </p:nvSpPr>
        <p:spPr>
          <a:xfrm xmlns:a="http://schemas.openxmlformats.org/drawingml/2006/main">
            <a:off x="5476875" y="48577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D4E3EC"/>
                </a:solidFill>
                <a:latin typeface="Arial"/>
                <a:ea typeface="Arial"/>
                <a:cs typeface="Arial"/>
              </a:defRPr>
            </a:defPPr>
          </a:lstStyle>
          <a:p xmlns:a="http://schemas.openxmlformats.org/drawingml/2006/main">
            <a:pPr>
              <a:defRPr sz="2475" b="0">
                <a:solidFill>
                  <a:srgbClr val="D4E3EC"/>
                </a:solidFill>
                <a:latin typeface="Arial"/>
                <a:ea typeface="Arial"/>
                <a:cs typeface="Arial"/>
              </a:defRPr>
            </a:pPr>
            <a:r>
              <a:rPr sz="2475" b="0">
                <a:solidFill>
                  <a:srgbClr val="D4E3EC"/>
                </a:solidFill>
                <a:latin typeface="Arial"/>
                <a:ea typeface="Arial"/>
                <a:cs typeface="Arial"/>
              </a:rPr>
              <a:t>WMAPE / bias</a:t>
            </a:r>
          </a:p>
        </p:txBody>
      </p:sp>
      <p:sp>
        <p:nvSpPr>
          <p:cNvPr id="10" name="">
            <a:extLst xmlns:a="http://schemas.openxmlformats.org/drawingml/2006/main">
              <a:ext uri="{FF2B5EF4-FFF2-40B4-BE49-F238E27FC236}">
                <a16:creationId xmlns:a16="http://schemas.microsoft.com/office/drawing/2014/main" id="{A6272F8F-359E-4194-8778-A49AD74B609D}"/>
              </a:ext>
            </a:extLst>
          </p:cNvPr>
          <p:cNvSpPr>
            <a:spLocks xmlns:a="http://schemas.openxmlformats.org/drawingml/2006/main" noGrp="1"/>
          </p:cNvSpPr>
          <p:nvPr/>
        </p:nvSpPr>
        <p:spPr>
          <a:xfrm xmlns:a="http://schemas.openxmlformats.org/drawingml/2006/main">
            <a:off x="10334625" y="2095500"/>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750" b="0">
                <a:solidFill>
                  <a:srgbClr val="72D5D1"/>
                </a:solidFill>
                <a:latin typeface="Arial"/>
                <a:ea typeface="Arial"/>
                <a:cs typeface="Arial"/>
              </a:defRPr>
            </a:defPPr>
          </a:lstStyle>
          <a:p xmlns:a="http://schemas.openxmlformats.org/drawingml/2006/main">
            <a:pPr>
              <a:defRPr sz="3750" b="0">
                <a:solidFill>
                  <a:srgbClr val="72D5D1"/>
                </a:solidFill>
                <a:latin typeface="Arial"/>
                <a:ea typeface="Arial"/>
                <a:cs typeface="Arial"/>
              </a:defRPr>
            </a:pPr>
            <a:r>
              <a:rPr sz="3750" b="0">
                <a:solidFill>
                  <a:srgbClr val="72D5D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A310AC4-8D63-4A08-9AB8-52F622081EE0}"/>
              </a:ext>
            </a:extLst>
          </p:cNvPr>
          <p:cNvSpPr>
            <a:spLocks xmlns:a="http://schemas.openxmlformats.org/drawingml/2006/main" noGrp="1"/>
          </p:cNvSpPr>
          <p:nvPr/>
        </p:nvSpPr>
        <p:spPr>
          <a:xfrm xmlns:a="http://schemas.openxmlformats.org/drawingml/2006/main">
            <a:off x="10334625" y="3476625"/>
            <a:ext cx="4286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Phân phối</a:t>
            </a:r>
          </a:p>
        </p:txBody>
      </p:sp>
      <p:sp>
        <p:nvSpPr>
          <p:cNvPr id="12" name="">
            <a:extLst xmlns:a="http://schemas.openxmlformats.org/drawingml/2006/main">
              <a:ext uri="{FF2B5EF4-FFF2-40B4-BE49-F238E27FC236}">
                <a16:creationId xmlns:a16="http://schemas.microsoft.com/office/drawing/2014/main" id="{49450AEC-5C92-4DA5-B122-48BE328C520D}"/>
              </a:ext>
            </a:extLst>
          </p:cNvPr>
          <p:cNvSpPr>
            <a:spLocks xmlns:a="http://schemas.openxmlformats.org/drawingml/2006/main" noGrp="1"/>
          </p:cNvSpPr>
          <p:nvPr/>
        </p:nvSpPr>
        <p:spPr>
          <a:xfrm xmlns:a="http://schemas.openxmlformats.org/drawingml/2006/main">
            <a:off x="10334625" y="48577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0">
                <a:solidFill>
                  <a:srgbClr val="D4E3EC"/>
                </a:solidFill>
                <a:latin typeface="Arial"/>
                <a:ea typeface="Arial"/>
                <a:cs typeface="Arial"/>
              </a:defRPr>
            </a:defPPr>
          </a:lstStyle>
          <a:p xmlns:a="http://schemas.openxmlformats.org/drawingml/2006/main">
            <a:pPr>
              <a:defRPr sz="2475" b="0">
                <a:solidFill>
                  <a:srgbClr val="D4E3EC"/>
                </a:solidFill>
                <a:latin typeface="Arial"/>
                <a:ea typeface="Arial"/>
                <a:cs typeface="Arial"/>
              </a:defRPr>
            </a:pPr>
            <a:r>
              <a:rPr sz="2475" b="0">
                <a:solidFill>
                  <a:srgbClr val="D4E3EC"/>
                </a:solidFill>
                <a:latin typeface="Arial"/>
                <a:ea typeface="Arial"/>
                <a:cs typeface="Arial"/>
              </a:rPr>
              <a:t>PSI / ngoài khoảng</a:t>
            </a:r>
          </a:p>
        </p:txBody>
      </p:sp>
      <p:sp>
        <p:nvSpPr>
          <p:cNvPr id="13" name="">
            <a:extLst xmlns:a="http://schemas.openxmlformats.org/drawingml/2006/main">
              <a:ext uri="{FF2B5EF4-FFF2-40B4-BE49-F238E27FC236}">
                <a16:creationId xmlns:a16="http://schemas.microsoft.com/office/drawing/2014/main" id="{1B90EA78-FD38-475F-B5AD-F3D6EC6BFA2F}"/>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72D5D1"/>
                </a:solidFill>
                <a:latin typeface="Arial"/>
                <a:ea typeface="Arial"/>
                <a:cs typeface="Arial"/>
              </a:defRPr>
            </a:defPPr>
          </a:lstStyle>
          <a:p xmlns:a="http://schemas.openxmlformats.org/drawingml/2006/main">
            <a:pPr>
              <a:defRPr sz="2475" b="1">
                <a:solidFill>
                  <a:srgbClr val="72D5D1"/>
                </a:solidFill>
                <a:latin typeface="Arial"/>
                <a:ea typeface="Arial"/>
                <a:cs typeface="Arial"/>
              </a:defRPr>
            </a:pPr>
            <a:r>
              <a:rPr sz="2475" b="1">
                <a:solidFill>
                  <a:srgbClr val="72D5D1"/>
                </a:solidFill>
                <a:latin typeface="Arial"/>
                <a:ea typeface="Arial"/>
                <a:cs typeface="Arial"/>
              </a:rPr>
              <a:t>Có thực tế đầy đủ mới đối soát sai số</a:t>
            </a:r>
          </a:p>
        </p:txBody>
      </p:sp>
    </p:spTree>
    <p:extLst>
      <p:ext uri="{BB962C8B-B14F-4D97-AF65-F5344CB8AC3E}">
        <p14:creationId xmlns:p14="http://schemas.microsoft.com/office/powerpoint/2010/main" val="1914404737"/>
      </p:ext>
    </p:extLst>
  </p:cSld>
</p:sld>
</file>

<file path=ppt/slides/slide1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FB346E-A5BA-4C73-9BFF-91B20A6DF9B7}"/>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Grafana: quan sát biến động theo thời gian</a:t>
            </a:r>
          </a:p>
        </p:txBody>
      </p:sp>
      <p:sp>
        <p:nvSpPr>
          <p:cNvPr id="2" name="">
            <a:extLst xmlns:a="http://schemas.openxmlformats.org/drawingml/2006/main">
              <a:ext uri="{FF2B5EF4-FFF2-40B4-BE49-F238E27FC236}">
                <a16:creationId xmlns:a16="http://schemas.microsoft.com/office/drawing/2014/main" id="{17172133-1277-4050-BC83-3E28EC1CD4EE}"/>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B5C9D8"/>
                </a:solidFill>
                <a:latin typeface="Arial"/>
                <a:ea typeface="Arial"/>
                <a:cs typeface="Arial"/>
              </a:defRPr>
            </a:defPPr>
          </a:lstStyle>
          <a:p xmlns:a="http://schemas.openxmlformats.org/drawingml/2006/main">
            <a:pPr>
              <a:defRPr sz="1350" b="0">
                <a:solidFill>
                  <a:srgbClr val="B5C9D8"/>
                </a:solidFill>
                <a:latin typeface="Arial"/>
                <a:ea typeface="Arial"/>
                <a:cs typeface="Arial"/>
              </a:defRPr>
            </a:pPr>
            <a:r>
              <a:rPr sz="1350" b="0">
                <a:solidFill>
                  <a:srgbClr val="B5C9D8"/>
                </a:solidFill>
                <a:latin typeface="Arial"/>
                <a:ea typeface="Arial"/>
                <a:cs typeface="Arial"/>
              </a:rPr>
              <a:t>Ảnh gốc 09/10/2026. Các đường có thể thuộc nhiều phiên bản mô hình.</a:t>
            </a:r>
          </a:p>
        </p:txBody>
      </p:sp>
      <p:sp>
        <p:nvSpPr>
          <p:cNvPr id="3" name="">
            <a:extLst xmlns:a="http://schemas.openxmlformats.org/drawingml/2006/main">
              <a:ext uri="{FF2B5EF4-FFF2-40B4-BE49-F238E27FC236}">
                <a16:creationId xmlns:a16="http://schemas.microsoft.com/office/drawing/2014/main" id="{2ECA2E73-FEEE-4178-A929-0BC90DA68CEB}"/>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B5C9D8"/>
                </a:solidFill>
                <a:latin typeface="Arial"/>
                <a:ea typeface="Arial"/>
                <a:cs typeface="Arial"/>
              </a:defRPr>
            </a:defPPr>
          </a:lstStyle>
          <a:p xmlns:a="http://schemas.openxmlformats.org/drawingml/2006/main">
            <a:pPr>
              <a:defRPr sz="1425" b="0">
                <a:solidFill>
                  <a:srgbClr val="B5C9D8"/>
                </a:solidFill>
                <a:latin typeface="Arial"/>
                <a:ea typeface="Arial"/>
                <a:cs typeface="Arial"/>
              </a:defRPr>
            </a:pPr>
            <a:r>
              <a:rPr sz="1425" b="0">
                <a:solidFill>
                  <a:srgbClr val="B5C9D8"/>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23D44645-7E0D-4201-AEE7-F5CD7EE2841E}"/>
              </a:ext>
            </a:extLst>
          </p:cNvPr>
          <p:cNvPicPr>
            <a:picLocks xmlns:a="http://schemas.openxmlformats.org/drawingml/2006/main" noChangeAspect="1"/>
          </p:cNvPicPr>
          <p:nvPr/>
        </p:nvPicPr>
        <p:blipFill>
          <a:blip xmlns:r="http://schemas.openxmlformats.org/officeDocument/2006/relationships" xmlns:a="http://schemas.openxmlformats.org/drawingml/2006/main" r:embed="R3f63d4831ff44c56"/>
          <a:stretch xmlns:a="http://schemas.openxmlformats.org/drawingml/2006/main"/>
        </p:blipFill>
        <p:spPr>
          <a:xfrm xmlns:a="http://schemas.openxmlformats.org/drawingml/2006/main">
            <a:off x="619125" y="1390591"/>
            <a:ext cx="14001750" cy="569606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EDE006-D1E3-4A41-8922-72ED74491F3F}"/>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72D5D1"/>
                </a:solidFill>
                <a:latin typeface="Arial"/>
                <a:ea typeface="Arial"/>
                <a:cs typeface="Arial"/>
              </a:defRPr>
            </a:defPPr>
          </a:lstStyle>
          <a:p xmlns:a="http://schemas.openxmlformats.org/drawingml/2006/main">
            <a:pPr>
              <a:defRPr sz="2475" b="1">
                <a:solidFill>
                  <a:srgbClr val="72D5D1"/>
                </a:solidFill>
                <a:latin typeface="Arial"/>
                <a:ea typeface="Arial"/>
                <a:cs typeface="Arial"/>
              </a:defRPr>
            </a:pPr>
            <a:r>
              <a:rPr sz="2475" b="1">
                <a:solidFill>
                  <a:srgbClr val="72D5D1"/>
                </a:solidFill>
                <a:latin typeface="Arial"/>
                <a:ea typeface="Arial"/>
                <a:cs typeface="Arial"/>
              </a:rPr>
              <a:t>Theo dõi đồng thời chất lượng dữ liệu và dự báo</a:t>
            </a:r>
          </a:p>
        </p:txBody>
      </p:sp>
    </p:spTree>
    <p:extLst>
      <p:ext uri="{BB962C8B-B14F-4D97-AF65-F5344CB8AC3E}">
        <p14:creationId xmlns:p14="http://schemas.microsoft.com/office/powerpoint/2010/main" val="9236354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87FC7F-5592-4B53-BC2A-7695AC4F7E13}"/>
              </a:ext>
            </a:extLst>
          </p:cNvPr>
          <p:cNvSpPr>
            <a:spLocks xmlns:a="http://schemas.openxmlformats.org/drawingml/2006/main" noGrp="1"/>
          </p:cNvSpPr>
          <p:nvPr/>
        </p:nvSpPr>
        <p:spPr>
          <a:xfrm xmlns:a="http://schemas.openxmlformats.org/drawingml/2006/main">
            <a:off x="619125" y="419100"/>
            <a:ext cx="1400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675" b="1">
                <a:solidFill>
                  <a:srgbClr val="102A43"/>
                </a:solidFill>
                <a:latin typeface="Arial"/>
                <a:ea typeface="Arial"/>
                <a:cs typeface="Arial"/>
              </a:defRPr>
            </a:defPPr>
          </a:lstStyle>
          <a:p xmlns:a="http://schemas.openxmlformats.org/drawingml/2006/main">
            <a:pPr>
              <a:defRPr sz="3675" b="1">
                <a:solidFill>
                  <a:srgbClr val="102A43"/>
                </a:solidFill>
                <a:latin typeface="Arial"/>
                <a:ea typeface="Arial"/>
                <a:cs typeface="Arial"/>
              </a:defRPr>
            </a:pPr>
            <a:r>
              <a:rPr sz="3675" b="1">
                <a:solidFill>
                  <a:srgbClr val="102A43"/>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05CD6910-755F-4A96-B91F-940D1689C5C0}"/>
              </a:ext>
            </a:extLst>
          </p:cNvPr>
          <p:cNvSpPr>
            <a:spLocks xmlns:a="http://schemas.openxmlformats.org/drawingml/2006/main" noGrp="1"/>
          </p:cNvSpPr>
          <p:nvPr/>
        </p:nvSpPr>
        <p:spPr>
          <a:xfrm xmlns:a="http://schemas.openxmlformats.org/drawingml/2006/main">
            <a:off x="619125" y="8134350"/>
            <a:ext cx="1314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350" b="0">
                <a:solidFill>
                  <a:srgbClr val="647887"/>
                </a:solidFill>
                <a:latin typeface="Arial"/>
                <a:ea typeface="Arial"/>
                <a:cs typeface="Arial"/>
              </a:defRPr>
            </a:defPPr>
          </a:lstStyle>
          <a:p xmlns:a="http://schemas.openxmlformats.org/drawingml/2006/main">
            <a:pPr>
              <a:defRPr sz="1350" b="0">
                <a:solidFill>
                  <a:srgbClr val="647887"/>
                </a:solidFill>
                <a:latin typeface="Arial"/>
                <a:ea typeface="Arial"/>
                <a:cs typeface="Arial"/>
              </a:defRPr>
            </a:pPr>
            <a:r>
              <a:rPr sz="1350" b="0">
                <a:solidFill>
                  <a:srgbClr val="647887"/>
                </a:solidFill>
                <a:latin typeface="Arial"/>
                <a:ea typeface="Arial"/>
                <a:cs typeface="Arial"/>
              </a:rPr>
              <a:t>Phạm vi kết luận: thử nghiệm trên dữ liệu giả lập.</a:t>
            </a:r>
          </a:p>
        </p:txBody>
      </p:sp>
      <p:sp>
        <p:nvSpPr>
          <p:cNvPr id="3" name="">
            <a:extLst xmlns:a="http://schemas.openxmlformats.org/drawingml/2006/main">
              <a:ext uri="{FF2B5EF4-FFF2-40B4-BE49-F238E27FC236}">
                <a16:creationId xmlns:a16="http://schemas.microsoft.com/office/drawing/2014/main" id="{6E136A0C-6A08-4D35-B778-78E1A0095620}"/>
              </a:ext>
            </a:extLst>
          </p:cNvPr>
          <p:cNvSpPr>
            <a:spLocks xmlns:a="http://schemas.openxmlformats.org/drawingml/2006/main" noGrp="1"/>
          </p:cNvSpPr>
          <p:nvPr/>
        </p:nvSpPr>
        <p:spPr>
          <a:xfrm xmlns:a="http://schemas.openxmlformats.org/drawingml/2006/main">
            <a:off x="14001750" y="81343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1425" b="0">
                <a:solidFill>
                  <a:srgbClr val="647887"/>
                </a:solidFill>
                <a:latin typeface="Arial"/>
                <a:ea typeface="Arial"/>
                <a:cs typeface="Arial"/>
              </a:defRPr>
            </a:defPPr>
          </a:lstStyle>
          <a:p xmlns:a="http://schemas.openxmlformats.org/drawingml/2006/main">
            <a:pPr>
              <a:defRPr sz="1425" b="0">
                <a:solidFill>
                  <a:srgbClr val="647887"/>
                </a:solidFill>
                <a:latin typeface="Arial"/>
                <a:ea typeface="Arial"/>
                <a:cs typeface="Arial"/>
              </a:defRPr>
            </a:pPr>
            <a:r>
              <a:rPr sz="1425" b="0">
                <a:solidFill>
                  <a:srgbClr val="647887"/>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939E621D-4EE3-4582-8192-58B4A2ABA83C}"/>
              </a:ext>
            </a:extLst>
          </p:cNvPr>
          <p:cNvSpPr>
            <a:spLocks xmlns:a="http://schemas.openxmlformats.org/drawingml/2006/main" noGrp="1"/>
          </p:cNvSpPr>
          <p:nvPr/>
        </p:nvSpPr>
        <p:spPr>
          <a:xfrm xmlns:a="http://schemas.openxmlformats.org/drawingml/2006/main">
            <a:off x="619125" y="2190750"/>
            <a:ext cx="619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900" b="1">
                <a:solidFill>
                  <a:srgbClr val="008A8C"/>
                </a:solidFill>
                <a:latin typeface="Arial"/>
                <a:ea typeface="Arial"/>
                <a:cs typeface="Arial"/>
              </a:defRPr>
            </a:defPPr>
          </a:lstStyle>
          <a:p xmlns:a="http://schemas.openxmlformats.org/drawingml/2006/main">
            <a:pPr>
              <a:defRPr sz="3900" b="1">
                <a:solidFill>
                  <a:srgbClr val="008A8C"/>
                </a:solidFill>
                <a:latin typeface="Arial"/>
                <a:ea typeface="Arial"/>
                <a:cs typeface="Arial"/>
              </a:defRPr>
            </a:pPr>
            <a:r>
              <a:rPr sz="3900" b="1">
                <a:solidFill>
                  <a:srgbClr val="008A8C"/>
                </a:solidFill>
                <a:latin typeface="Arial"/>
                <a:ea typeface="Arial"/>
                <a:cs typeface="Arial"/>
              </a:rPr>
              <a:t>Đã có</a:t>
            </a:r>
          </a:p>
        </p:txBody>
      </p:sp>
      <p:sp>
        <p:nvSpPr>
          <p:cNvPr id="5" name="">
            <a:extLst xmlns:a="http://schemas.openxmlformats.org/drawingml/2006/main">
              <a:ext uri="{FF2B5EF4-FFF2-40B4-BE49-F238E27FC236}">
                <a16:creationId xmlns:a16="http://schemas.microsoft.com/office/drawing/2014/main" id="{8DFEB85D-79F4-4633-BBB3-EB75D73B8F7D}"/>
              </a:ext>
            </a:extLst>
          </p:cNvPr>
          <p:cNvSpPr>
            <a:spLocks xmlns:a="http://schemas.openxmlformats.org/drawingml/2006/main" noGrp="1"/>
          </p:cNvSpPr>
          <p:nvPr/>
        </p:nvSpPr>
        <p:spPr>
          <a:xfrm xmlns:a="http://schemas.openxmlformats.org/drawingml/2006/main">
            <a:off x="619125" y="3381375"/>
            <a:ext cx="6477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225" b="0">
                <a:solidFill>
                  <a:srgbClr val="102A43"/>
                </a:solidFill>
                <a:latin typeface="Arial"/>
                <a:ea typeface="Arial"/>
                <a:cs typeface="Arial"/>
              </a:defRPr>
            </a:defPPr>
          </a:lstStyle>
          <a:p xmlns:a="http://schemas.openxmlformats.org/drawingml/2006/main">
            <a:pPr>
              <a:defRPr sz="3225" b="0">
                <a:solidFill>
                  <a:srgbClr val="102A43"/>
                </a:solidFill>
                <a:latin typeface="Arial"/>
                <a:ea typeface="Arial"/>
                <a:cs typeface="Arial"/>
              </a:defRPr>
            </a:pPr>
            <a:r>
              <a:rPr sz="3225" b="0">
                <a:solidFill>
                  <a:srgbClr val="102A43"/>
                </a:solidFill>
                <a:latin typeface="Arial"/>
                <a:ea typeface="Arial"/>
                <a:cs typeface="Arial"/>
              </a:rPr>
              <a:t>Luồng chạy hoàn chỉnh</a:t>
            </a:r>
          </a:p>
          <a:p xmlns:a="http://schemas.openxmlformats.org/drawingml/2006/main">
            <a:pPr>
              <a:defRPr sz="3225" b="0">
                <a:solidFill>
                  <a:srgbClr val="102A43"/>
                </a:solidFill>
                <a:latin typeface="Arial"/>
                <a:ea typeface="Arial"/>
                <a:cs typeface="Arial"/>
              </a:defRPr>
            </a:pPr>
            <a:r>
              <a:rPr sz="3225" b="0">
                <a:solidFill>
                  <a:srgbClr val="102A43"/>
                </a:solidFill>
                <a:latin typeface="Arial"/>
                <a:ea typeface="Arial"/>
                <a:cs typeface="Arial"/>
              </a:rPr>
              <a:t>Dự báo bám trend</a:t>
            </a:r>
          </a:p>
          <a:p xmlns:a="http://schemas.openxmlformats.org/drawingml/2006/main">
            <a:pPr>
              <a:defRPr sz="3225" b="0">
                <a:solidFill>
                  <a:srgbClr val="102A43"/>
                </a:solidFill>
                <a:latin typeface="Arial"/>
                <a:ea typeface="Arial"/>
                <a:cs typeface="Arial"/>
              </a:defRPr>
            </a:pPr>
            <a:r>
              <a:rPr sz="3225" b="0">
                <a:solidFill>
                  <a:srgbClr val="102A43"/>
                </a:solidFill>
                <a:latin typeface="Arial"/>
                <a:ea typeface="Arial"/>
                <a:cs typeface="Arial"/>
              </a:rPr>
              <a:t>Bằng chứng giám sát</a:t>
            </a:r>
          </a:p>
        </p:txBody>
      </p:sp>
      <p:sp>
        <p:nvSpPr>
          <p:cNvPr id="6" name="">
            <a:extLst xmlns:a="http://schemas.openxmlformats.org/drawingml/2006/main">
              <a:ext uri="{FF2B5EF4-FFF2-40B4-BE49-F238E27FC236}">
                <a16:creationId xmlns:a16="http://schemas.microsoft.com/office/drawing/2014/main" id="{42317CE0-E63C-4E6F-B607-CE33E0EDE95F}"/>
              </a:ext>
            </a:extLst>
          </p:cNvPr>
          <p:cNvSpPr>
            <a:spLocks xmlns:a="http://schemas.openxmlformats.org/drawingml/2006/main" noGrp="1"/>
          </p:cNvSpPr>
          <p:nvPr/>
        </p:nvSpPr>
        <p:spPr>
          <a:xfrm xmlns:a="http://schemas.openxmlformats.org/drawingml/2006/main">
            <a:off x="8334375" y="2190750"/>
            <a:ext cx="619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3900" b="1">
                <a:solidFill>
                  <a:srgbClr val="102A43"/>
                </a:solidFill>
                <a:latin typeface="Arial"/>
                <a:ea typeface="Arial"/>
                <a:cs typeface="Arial"/>
              </a:defRPr>
            </a:defPPr>
          </a:lstStyle>
          <a:p xmlns:a="http://schemas.openxmlformats.org/drawingml/2006/main">
            <a:pPr>
              <a:defRPr sz="3900" b="1">
                <a:solidFill>
                  <a:srgbClr val="102A43"/>
                </a:solidFill>
                <a:latin typeface="Arial"/>
                <a:ea typeface="Arial"/>
                <a:cs typeface="Arial"/>
              </a:defRPr>
            </a:pPr>
            <a:r>
              <a:rPr sz="3900" b="1">
                <a:solidFill>
                  <a:srgbClr val="102A43"/>
                </a:solidFill>
                <a:latin typeface="Arial"/>
                <a:ea typeface="Arial"/>
                <a:cs typeface="Arial"/>
              </a:rPr>
              <a:t>Còn giới hạn</a:t>
            </a:r>
          </a:p>
        </p:txBody>
      </p:sp>
      <p:sp>
        <p:nvSpPr>
          <p:cNvPr id="7" name="">
            <a:extLst xmlns:a="http://schemas.openxmlformats.org/drawingml/2006/main">
              <a:ext uri="{FF2B5EF4-FFF2-40B4-BE49-F238E27FC236}">
                <a16:creationId xmlns:a16="http://schemas.microsoft.com/office/drawing/2014/main" id="{7D215DA1-C65E-4B88-B88F-A491F13CC0B2}"/>
              </a:ext>
            </a:extLst>
          </p:cNvPr>
          <p:cNvSpPr>
            <a:spLocks xmlns:a="http://schemas.openxmlformats.org/drawingml/2006/main" noGrp="1"/>
          </p:cNvSpPr>
          <p:nvPr/>
        </p:nvSpPr>
        <p:spPr>
          <a:xfrm xmlns:a="http://schemas.openxmlformats.org/drawingml/2006/main">
            <a:off x="8334375" y="3381375"/>
            <a:ext cx="61912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700" b="0">
                <a:solidFill>
                  <a:srgbClr val="102A43"/>
                </a:solidFill>
                <a:latin typeface="Arial"/>
                <a:ea typeface="Arial"/>
                <a:cs typeface="Arial"/>
              </a:defRPr>
            </a:defPPr>
          </a:lstStyle>
          <a:p xmlns:a="http://schemas.openxmlformats.org/drawingml/2006/main">
            <a:pPr>
              <a:defRPr sz="2700" b="0">
                <a:solidFill>
                  <a:srgbClr val="102A43"/>
                </a:solidFill>
                <a:latin typeface="Arial"/>
                <a:ea typeface="Arial"/>
                <a:cs typeface="Arial"/>
              </a:defRPr>
            </a:pPr>
            <a:r>
              <a:rPr sz="2700" b="0">
                <a:solidFill>
                  <a:srgbClr val="102A43"/>
                </a:solidFill>
                <a:latin typeface="Arial"/>
                <a:ea typeface="Arial"/>
                <a:cs typeface="Arial"/>
              </a:rPr>
              <a:t>H60 theo mức tăng chưa sát</a:t>
            </a:r>
          </a:p>
          <a:p xmlns:a="http://schemas.openxmlformats.org/drawingml/2006/main">
            <a:pPr>
              <a:defRPr sz="2700" b="0">
                <a:solidFill>
                  <a:srgbClr val="102A43"/>
                </a:solidFill>
                <a:latin typeface="Arial"/>
                <a:ea typeface="Arial"/>
                <a:cs typeface="Arial"/>
              </a:defRPr>
            </a:pPr>
            <a:r>
              <a:rPr sz="2700" b="0">
                <a:solidFill>
                  <a:srgbClr val="102A43"/>
                </a:solidFill>
                <a:latin typeface="Arial"/>
                <a:ea typeface="Arial"/>
                <a:cs typeface="Arial"/>
              </a:rPr>
              <a:t>Chưa kiểm chứng dữ liệu thực</a:t>
            </a:r>
          </a:p>
          <a:p xmlns:a="http://schemas.openxmlformats.org/drawingml/2006/main">
            <a:pPr>
              <a:defRPr sz="2700" b="0">
                <a:solidFill>
                  <a:srgbClr val="102A43"/>
                </a:solidFill>
                <a:latin typeface="Arial"/>
                <a:ea typeface="Arial"/>
                <a:cs typeface="Arial"/>
              </a:defRPr>
            </a:pPr>
            <a:r>
              <a:rPr sz="2700" b="0">
                <a:solidFill>
                  <a:srgbClr val="102A43"/>
                </a:solidFill>
                <a:latin typeface="Arial"/>
                <a:ea typeface="Arial"/>
                <a:cs typeface="Arial"/>
              </a:rPr>
              <a:t>Chưa đo hiệu quả kinh doanh</a:t>
            </a:r>
          </a:p>
        </p:txBody>
      </p:sp>
      <p:sp>
        <p:nvSpPr>
          <p:cNvPr id="8" name="">
            <a:extLst xmlns:a="http://schemas.openxmlformats.org/drawingml/2006/main">
              <a:ext uri="{FF2B5EF4-FFF2-40B4-BE49-F238E27FC236}">
                <a16:creationId xmlns:a16="http://schemas.microsoft.com/office/drawing/2014/main" id="{5CB2E254-E8EA-4290-8144-F9AFC186B872}"/>
              </a:ext>
            </a:extLst>
          </p:cNvPr>
          <p:cNvSpPr>
            <a:spLocks xmlns:a="http://schemas.openxmlformats.org/drawingml/2006/main" noGrp="1"/>
          </p:cNvSpPr>
          <p:nvPr/>
        </p:nvSpPr>
        <p:spPr>
          <a:xfrm xmlns:a="http://schemas.openxmlformats.org/drawingml/2006/main">
            <a:off x="619125" y="7410450"/>
            <a:ext cx="1381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defPPr>
              <a:defRPr sz="2475" b="1">
                <a:solidFill>
                  <a:srgbClr val="008A8C"/>
                </a:solidFill>
                <a:latin typeface="Arial"/>
                <a:ea typeface="Arial"/>
                <a:cs typeface="Arial"/>
              </a:defRPr>
            </a:defPPr>
          </a:lstStyle>
          <a:p xmlns:a="http://schemas.openxmlformats.org/drawingml/2006/main">
            <a:pPr>
              <a:defRPr sz="2475" b="1">
                <a:solidFill>
                  <a:srgbClr val="008A8C"/>
                </a:solidFill>
                <a:latin typeface="Arial"/>
                <a:ea typeface="Arial"/>
                <a:cs typeface="Arial"/>
              </a:defRPr>
            </a:pPr>
            <a:r>
              <a:rPr sz="2475" b="1">
                <a:solidFill>
                  <a:srgbClr val="008A8C"/>
                </a:solidFill>
                <a:latin typeface="Arial"/>
                <a:ea typeface="Arial"/>
                <a:cs typeface="Arial"/>
              </a:rPr>
              <a:t>Có cơ sở để đánh giá tiếp trong thử nghiệm có kiểm soát</a:t>
            </a:r>
          </a:p>
        </p:txBody>
      </p:sp>
    </p:spTree>
    <p:extLst>
      <p:ext uri="{BB962C8B-B14F-4D97-AF65-F5344CB8AC3E}">
        <p14:creationId xmlns:p14="http://schemas.microsoft.com/office/powerpoint/2010/main" val="1478611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2026-10-14T00:59:28.2530000Z</dcterms:created>
  <dcterms:modified xsi:type="dcterms:W3CDTF">2026-10-14T00:59:28.2530000Z</dcterms:modified>
</coreProperties>
</file>