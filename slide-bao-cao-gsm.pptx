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4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723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"/>
          </a:xfrm>
          <a:prstGeom prst="rect">
            <a:avLst/>
          </a:prstGeom>
          <a:solidFill>
            <a:srgbClr val="1AC5A7"/>
          </a:solidFill>
          <a:ln w="8890">
            <a:solidFill>
              <a:srgbClr val="1AC5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7132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94944" y="1252728"/>
            <a:ext cx="777240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</a:t>
            </a:r>
            <a:endParaRPr lang="en-US" sz="35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ĐẶT XE</a:t>
            </a:r>
            <a:endParaRPr lang="en-US" sz="35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TP. HỒ CHÍ MINH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713232" y="383133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04088" y="4507992"/>
            <a:ext cx="4983480" cy="1133856"/>
          </a:xfrm>
          <a:prstGeom prst="roundRect">
            <a:avLst>
              <a:gd name="adj" fmla="val 12097"/>
            </a:avLst>
          </a:prstGeom>
          <a:solidFill>
            <a:srgbClr val="112C43"/>
          </a:solidFill>
          <a:ln w="8890">
            <a:solidFill>
              <a:srgbClr val="2549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4754880"/>
            <a:ext cx="4636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 ô H3  •  6 mô hình LightGBM  •  Dự báo mỗi 10 phút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708392" y="1024128"/>
            <a:ext cx="4160520" cy="4910328"/>
          </a:xfrm>
          <a:prstGeom prst="roundRect">
            <a:avLst>
              <a:gd name="adj" fmla="val 2857"/>
            </a:avLst>
          </a:prstGeom>
          <a:solidFill>
            <a:srgbClr val="0C2639"/>
          </a:solidFill>
          <a:ln w="10160">
            <a:solidFill>
              <a:srgbClr val="426073"/>
            </a:solidFill>
            <a:prstDash val="solid"/>
          </a:ln>
        </p:spPr>
      </p:sp>
      <p:pic>
        <p:nvPicPr>
          <p:cNvPr id="9" name="Image 0" descr="/mnt/data/306013c1a9d5298b70c4(1).jpg"/>
          <p:cNvPicPr>
            <a:picLocks noChangeAspect="1"/>
          </p:cNvPicPr>
          <p:nvPr/>
        </p:nvPicPr>
        <p:blipFill>
          <a:blip r:embed="rId3"/>
          <a:srcRect l="22580" r="22580"/>
          <a:stretch/>
        </p:blipFill>
        <p:spPr>
          <a:xfrm>
            <a:off x="7799832" y="1104900"/>
            <a:ext cx="3968496" cy="46817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6044184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THỰC HIỆN  Nguyễn Trường An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631850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A7BE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Mentors: Nguyễn Hoài Đăng · Nguyễn Khả Tiến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376075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9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dự án cuối cùng và ảnh chụp giao diện hệ thống; dữ liệu nghiên cứu là dữ liệu giả lập.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008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BÀI TOÁN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không chỉ là số chuyến — mà là vị trí và thời điểm.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đặt xe thay đổi theo giờ, phân bố không đều giữa các khu vực tại TP.HCM.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3538728" cy="2697480"/>
          </a:xfrm>
          <a:prstGeom prst="roundRect">
            <a:avLst>
              <a:gd name="adj" fmla="val 5763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249424"/>
            <a:ext cx="493776" cy="493776"/>
          </a:xfrm>
          <a:prstGeom prst="roundRect">
            <a:avLst>
              <a:gd name="adj" fmla="val 24074"/>
            </a:avLst>
          </a:prstGeom>
          <a:solidFill>
            <a:srgbClr val="D9F9E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3774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8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kern="0" spc="100" dirty="0">
                <a:solidFill>
                  <a:srgbClr val="168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KHÁCH HÀNG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59536" y="3282696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tăng, tài xế thiếu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59536" y="41239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chờ chuyến có thể tăng.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4462272" y="1993392"/>
            <a:ext cx="3538728" cy="2697480"/>
          </a:xfrm>
          <a:prstGeom prst="roundRect">
            <a:avLst>
              <a:gd name="adj" fmla="val 5763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249424"/>
            <a:ext cx="493776" cy="493776"/>
          </a:xfrm>
          <a:prstGeom prst="roundRect">
            <a:avLst>
              <a:gd name="adj" fmla="val 24074"/>
            </a:avLst>
          </a:prstGeom>
          <a:solidFill>
            <a:srgbClr val="DCEBF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3774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68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90872" y="288036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kern="0" spc="100" dirty="0">
                <a:solidFill>
                  <a:srgbClr val="168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XẾ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681728" y="3282696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Đứng sai khu vực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81728" y="41239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chờ khách kéo dài.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8284464" y="1993392"/>
            <a:ext cx="3538728" cy="2697480"/>
          </a:xfrm>
          <a:prstGeom prst="roundRect">
            <a:avLst>
              <a:gd name="adj" fmla="val 5763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94776" y="2249424"/>
            <a:ext cx="493776" cy="493776"/>
          </a:xfrm>
          <a:prstGeom prst="roundRect">
            <a:avLst>
              <a:gd name="adj" fmla="val 24074"/>
            </a:avLst>
          </a:prstGeom>
          <a:solidFill>
            <a:srgbClr val="FFF1D9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7072" y="23774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A46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13064" y="288036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kern="0" spc="100" dirty="0">
                <a:solidFill>
                  <a:srgbClr val="168E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 NGHIỆP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503920" y="3282696"/>
            <a:ext cx="3090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bổ nguồn xe chưa khớp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03920" y="41239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chuẩn bị nguồn lực theo khu vực.</a:t>
            </a:r>
            <a:endParaRPr lang="en-US" sz="1360" dirty="0"/>
          </a:p>
        </p:txBody>
      </p:sp>
      <p:sp>
        <p:nvSpPr>
          <p:cNvPr id="23" name="Shape 21"/>
          <p:cNvSpPr/>
          <p:nvPr/>
        </p:nvSpPr>
        <p:spPr>
          <a:xfrm>
            <a:off x="676656" y="5093208"/>
            <a:ext cx="10817352" cy="649224"/>
          </a:xfrm>
          <a:prstGeom prst="roundRect">
            <a:avLst>
              <a:gd name="adj" fmla="val 19718"/>
            </a:avLst>
          </a:prstGeom>
          <a:solidFill>
            <a:srgbClr val="E4F7F2"/>
          </a:solidFill>
          <a:ln w="8890">
            <a:solidFill>
              <a:srgbClr val="C7ED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" y="5303520"/>
            <a:ext cx="10378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b="1" dirty="0">
                <a:solidFill>
                  <a:srgbClr val="185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pháp: dự báo số yêu cầu theo từng ô H3 để hỗ trợ nhận diện điểm nóng và chuẩn bị tài xế sớm hơn.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D9E4E9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4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§1.1–1.2.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3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PHẠM VI DỰ BÁO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bản đồ. Hai loại xe. Ba khoảng dự báo.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5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ô lục giác được gán mã H3 và có kết quả riêng theo loại phương tiện và thời gian.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0936" y="1883664"/>
            <a:ext cx="6858000" cy="404164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2F5267"/>
            </a:solidFill>
            <a:prstDash val="solid"/>
          </a:ln>
        </p:spPr>
      </p:sp>
      <p:pic>
        <p:nvPicPr>
          <p:cNvPr id="6" name="Image 0" descr="/mnt/data/slide_work/doc_image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84980"/>
            <a:ext cx="6537960" cy="25098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" y="5715000"/>
            <a:ext cx="6217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gian H3 mô phỏng — nguồn từ notebook dự án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7781544" y="1975104"/>
            <a:ext cx="3730752" cy="1069848"/>
          </a:xfrm>
          <a:prstGeom prst="roundRect">
            <a:avLst>
              <a:gd name="adj" fmla="val 14530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28432" y="2084832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046720" y="26609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D1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H3 độ phân giải 7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7781544" y="3273552"/>
            <a:ext cx="3730752" cy="1069848"/>
          </a:xfrm>
          <a:prstGeom prst="roundRect">
            <a:avLst>
              <a:gd name="adj" fmla="val 14530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28432" y="3383280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046720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D1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và Motorcycle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7781544" y="4572000"/>
            <a:ext cx="3730752" cy="1069848"/>
          </a:xfrm>
          <a:prstGeom prst="roundRect">
            <a:avLst>
              <a:gd name="adj" fmla="val 14530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28432" y="4681728"/>
            <a:ext cx="32461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 / H30 / H60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046720" y="5257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D1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30 · 60 phút</a:t>
            </a:r>
            <a:endParaRPr lang="en-US" sz="1340" dirty="0"/>
          </a:p>
        </p:txBody>
      </p:sp>
      <p:sp>
        <p:nvSpPr>
          <p:cNvPr id="17" name="Shape 14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376075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9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§1.2, Hình 1; H3 resolution = 7.</a:t>
            </a:r>
            <a:endParaRPr lang="en-US" sz="810" dirty="0"/>
          </a:p>
        </p:txBody>
      </p:sp>
      <p:sp>
        <p:nvSpPr>
          <p:cNvPr id="19" name="Text 16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008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DỮ LIỆU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 triệu bản ghi để mô phỏng nhịp nhu cầu đô thị.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chuỗi giả lập được xây dựng từ thống kê của dữ liệu yêu cầu đặt xe và hiệu ứng thời gian / khu vực.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4944" y="1828800"/>
            <a:ext cx="3529584" cy="1078992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025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5.404.530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96112" y="255117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ghi lịch sử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07992" y="1828800"/>
            <a:ext cx="3529584" cy="1078992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0016" y="20025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2.863.718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4709160" y="255117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828800"/>
            <a:ext cx="3529584" cy="1078992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13064" y="200253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8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2.540.812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8522208" y="255117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4944" y="3227832"/>
            <a:ext cx="7424928" cy="2688336"/>
          </a:xfrm>
          <a:prstGeom prst="roundRect">
            <a:avLst>
              <a:gd name="adj" fmla="val 4422"/>
            </a:avLst>
          </a:prstGeom>
          <a:solidFill>
            <a:srgbClr val="FFFFFF"/>
          </a:solidFill>
          <a:ln w="10160">
            <a:solidFill>
              <a:srgbClr val="D9E6ED"/>
            </a:solidFill>
            <a:prstDash val="solid"/>
          </a:ln>
        </p:spPr>
      </p:sp>
      <p:pic>
        <p:nvPicPr>
          <p:cNvPr id="15" name="Image 0" descr="/mnt/data/slide_work/doc_images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475" y="3291840"/>
            <a:ext cx="4131867" cy="244144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394192" y="3246120"/>
            <a:ext cx="3118104" cy="2633472"/>
          </a:xfrm>
          <a:prstGeom prst="roundRect">
            <a:avLst>
              <a:gd name="adj" fmla="val 5903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04504" y="3502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90" dirty="0">
                <a:solidFill>
                  <a:srgbClr val="178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 QUAN SÁT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13648" y="3922776"/>
            <a:ext cx="2560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4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01.05 — 10.09</a:t>
            </a:r>
            <a:endParaRPr lang="en-US" sz="2740" dirty="0"/>
          </a:p>
          <a:p>
            <a:pPr marL="0" indent="0">
              <a:buNone/>
            </a:pPr>
            <a:r>
              <a:rPr lang="en-US" sz="274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740" dirty="0"/>
          </a:p>
        </p:txBody>
      </p:sp>
      <p:sp>
        <p:nvSpPr>
          <p:cNvPr id="19" name="Text 16"/>
          <p:cNvSpPr/>
          <p:nvPr/>
        </p:nvSpPr>
        <p:spPr>
          <a:xfrm>
            <a:off x="8604504" y="5157216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9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theo từng ô H3 và mỗi bucket 10 phút.</a:t>
            </a:r>
            <a:endParaRPr lang="en-US" sz="1290" dirty="0"/>
          </a:p>
        </p:txBody>
      </p:sp>
      <p:sp>
        <p:nvSpPr>
          <p:cNvPr id="20" name="Shape 17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D9E4E9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4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§2.1–2.2, Hình 3. Dữ liệu của dự án là dữ liệu giả lập.</a:t>
            </a:r>
            <a:endParaRPr lang="en-US" sz="810" dirty="0"/>
          </a:p>
        </p:txBody>
      </p:sp>
      <p:sp>
        <p:nvSpPr>
          <p:cNvPr id="22" name="Text 19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3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008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XÂY DỰNG MÔ HÌNH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 chỉ lấy từ lịch sử đã kết thúc.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Chia TRAIN / VALIDATION / TEST theo thời gian và loại bản ghi vượt ranh giới để tránh rò rỉ nhãn tương lai.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3538728" cy="2002536"/>
          </a:xfrm>
          <a:prstGeom prst="roundRect">
            <a:avLst>
              <a:gd name="adj" fmla="val 7763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" y="2157984"/>
            <a:ext cx="521208" cy="82296"/>
          </a:xfrm>
          <a:prstGeom prst="rect">
            <a:avLst/>
          </a:prstGeom>
          <a:solidFill>
            <a:srgbClr val="1AC5A7"/>
          </a:solidFill>
          <a:ln w="8890">
            <a:solidFill>
              <a:srgbClr val="1AC5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5059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&amp; KHU VỰC</a:t>
            </a:r>
            <a:endParaRPr lang="en-US" sz="151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Giờ · thứ · cuối tuần · ngày lễ · mã ô H3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4443984" y="1901952"/>
            <a:ext cx="3538728" cy="2002536"/>
          </a:xfrm>
          <a:prstGeom prst="roundRect">
            <a:avLst>
              <a:gd name="adj" fmla="val 7763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57984"/>
            <a:ext cx="521208" cy="82296"/>
          </a:xfrm>
          <a:prstGeom prst="rect">
            <a:avLst/>
          </a:prstGeom>
          <a:solidFill>
            <a:srgbClr val="317FA6"/>
          </a:solidFill>
          <a:ln w="8890">
            <a:solidFill>
              <a:srgbClr val="317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45059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NHU CẦU</a:t>
            </a:r>
            <a:endParaRPr lang="en-US" sz="1510" dirty="0"/>
          </a:p>
        </p:txBody>
      </p:sp>
      <p:sp>
        <p:nvSpPr>
          <p:cNvPr id="12" name="Text 10"/>
          <p:cNvSpPr/>
          <p:nvPr/>
        </p:nvSpPr>
        <p:spPr>
          <a:xfrm>
            <a:off x="4626864" y="301752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trễ · trung bình · xu hướng gần đây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8247888" y="1901952"/>
            <a:ext cx="3538728" cy="2002536"/>
          </a:xfrm>
          <a:prstGeom prst="roundRect">
            <a:avLst>
              <a:gd name="adj" fmla="val 7763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2157984"/>
            <a:ext cx="521208" cy="82296"/>
          </a:xfrm>
          <a:prstGeom prst="rect">
            <a:avLst/>
          </a:prstGeom>
          <a:solidFill>
            <a:srgbClr val="FFB565"/>
          </a:solidFill>
          <a:ln w="8890">
            <a:solidFill>
              <a:srgbClr val="FFB5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45059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1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GIAN LÂN CẬN</a:t>
            </a:r>
            <a:endParaRPr lang="en-US" sz="1510" dirty="0"/>
          </a:p>
        </p:txBody>
      </p:sp>
      <p:sp>
        <p:nvSpPr>
          <p:cNvPr id="16" name="Text 14"/>
          <p:cNvSpPr/>
          <p:nvPr/>
        </p:nvSpPr>
        <p:spPr>
          <a:xfrm>
            <a:off x="8430768" y="3017520"/>
            <a:ext cx="30998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 hiệu nhu cầu của các ô H3 gần nhau cho H30 / H60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713232" y="427024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138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ĐẶC TRƯNG CUỐI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4088" y="4599432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4100" dirty="0"/>
          </a:p>
        </p:txBody>
      </p:sp>
      <p:sp>
        <p:nvSpPr>
          <p:cNvPr id="19" name="Text 17"/>
          <p:cNvSpPr/>
          <p:nvPr/>
        </p:nvSpPr>
        <p:spPr>
          <a:xfrm>
            <a:off x="704088" y="5349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 cho H10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78224" y="4626864"/>
            <a:ext cx="0" cy="1207008"/>
          </a:xfrm>
          <a:prstGeom prst="line">
            <a:avLst/>
          </a:prstGeom>
          <a:noFill/>
          <a:ln w="16510">
            <a:solidFill>
              <a:srgbClr val="D5E4EA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443984" y="4599432"/>
            <a:ext cx="32004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1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4100" dirty="0"/>
          </a:p>
        </p:txBody>
      </p:sp>
      <p:sp>
        <p:nvSpPr>
          <p:cNvPr id="22" name="Text 20"/>
          <p:cNvSpPr/>
          <p:nvPr/>
        </p:nvSpPr>
        <p:spPr>
          <a:xfrm>
            <a:off x="4443984" y="534924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trưng cho H30 / H60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82712" y="4261104"/>
            <a:ext cx="3538728" cy="1618488"/>
          </a:xfrm>
          <a:prstGeom prst="roundRect">
            <a:avLst>
              <a:gd name="adj" fmla="val 9040"/>
            </a:avLst>
          </a:prstGeom>
          <a:solidFill>
            <a:srgbClr val="E1F6F0"/>
          </a:solidFill>
          <a:ln w="8890">
            <a:solidFill>
              <a:srgbClr val="C7ED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459028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126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→ VALIDATION → TEST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193024" y="515721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4772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đúng trục thời gian của dữ liệu.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D9E4E9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4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§3.1, §4.1. 25 và 33 là số đặc trưng của cấu hình cuối.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3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CHỌN THUẬT TOÁN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LightGBM được chọn thống nhất cho sáu bài toán.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5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HistGBR, XGBoost và LightGBM trên tập VALIDATION trước khi chốt cấu hình.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68096" y="1993392"/>
            <a:ext cx="365760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700" dirty="0"/>
          </a:p>
        </p:txBody>
      </p:sp>
      <p:sp>
        <p:nvSpPr>
          <p:cNvPr id="6" name="Text 4"/>
          <p:cNvSpPr/>
          <p:nvPr/>
        </p:nvSpPr>
        <p:spPr>
          <a:xfrm>
            <a:off x="3703320" y="2423160"/>
            <a:ext cx="23134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0" b="1" dirty="0">
                <a:solidFill>
                  <a:srgbClr val="F1F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06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832104" y="3813048"/>
            <a:ext cx="54864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 hợp có WMAPE thấp nhất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VALIDATION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10528" y="1883664"/>
            <a:ext cx="4983480" cy="1847088"/>
          </a:xfrm>
          <a:prstGeom prst="roundRect">
            <a:avLst>
              <a:gd name="adj" fmla="val 8416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4848" y="2157984"/>
            <a:ext cx="4279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FFB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NGOẠI LỆ DUY NHẤT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84848" y="2587752"/>
            <a:ext cx="41879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H10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784848" y="3145536"/>
            <a:ext cx="4261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9D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tốt hơn LightGBM 0,15 điểm phần trăm.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10528" y="3986784"/>
            <a:ext cx="4983480" cy="1581912"/>
          </a:xfrm>
          <a:prstGeom prst="roundRect">
            <a:avLst>
              <a:gd name="adj" fmla="val 9827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4242816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kern="0" spc="90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KỸ THUẬT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784848" y="4681728"/>
            <a:ext cx="435254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thuật toán chung giúp triển khai, lưu phiên bản và monitoring đồng nhất.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376075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9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§3.4 và Hình 6–8. Không sử dụng kết quả TEST để chọn thuật toán.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008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CHẤT LƯỢNG TRÊN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6 mô hình đều đạt mục tiêu WMAPE dưới 15%.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WMAPE = tổng sai số tuyệt đối / tổng nhu cầu thực tế. Kết quả đánh giá offline trên TEST.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719072"/>
            <a:ext cx="10853928" cy="4169664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8890">
            <a:solidFill>
              <a:srgbClr val="D9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745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 H10</a:t>
            </a:r>
            <a:endParaRPr lang="en-US" sz="1630" dirty="0"/>
          </a:p>
        </p:txBody>
      </p:sp>
      <p:sp>
        <p:nvSpPr>
          <p:cNvPr id="7" name="Shape 5"/>
          <p:cNvSpPr/>
          <p:nvPr/>
        </p:nvSpPr>
        <p:spPr>
          <a:xfrm>
            <a:off x="2953512" y="1947672"/>
            <a:ext cx="6949440" cy="192024"/>
          </a:xfrm>
          <a:prstGeom prst="roundRect">
            <a:avLst>
              <a:gd name="adj" fmla="val 14286"/>
            </a:avLst>
          </a:prstGeom>
          <a:solidFill>
            <a:srgbClr val="E8F0F3"/>
          </a:solidFill>
          <a:ln w="8890">
            <a:solidFill>
              <a:srgbClr val="E8F0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53512" y="1947672"/>
            <a:ext cx="5314468" cy="192024"/>
          </a:xfrm>
          <a:prstGeom prst="roundRect">
            <a:avLst>
              <a:gd name="adj" fmla="val 14286"/>
            </a:avLst>
          </a:prstGeom>
          <a:solidFill>
            <a:srgbClr val="14B79B"/>
          </a:solidFill>
          <a:ln w="8890">
            <a:solidFill>
              <a:srgbClr val="14B7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40112" y="185989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8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11,471%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713232" y="25146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30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 H30</a:t>
            </a:r>
            <a:endParaRPr lang="en-US" sz="1630" dirty="0"/>
          </a:p>
        </p:txBody>
      </p:sp>
      <p:sp>
        <p:nvSpPr>
          <p:cNvPr id="11" name="Shape 9"/>
          <p:cNvSpPr/>
          <p:nvPr/>
        </p:nvSpPr>
        <p:spPr>
          <a:xfrm>
            <a:off x="2953512" y="2587752"/>
            <a:ext cx="6949440" cy="192024"/>
          </a:xfrm>
          <a:prstGeom prst="roundRect">
            <a:avLst>
              <a:gd name="adj" fmla="val 14286"/>
            </a:avLst>
          </a:prstGeom>
          <a:solidFill>
            <a:srgbClr val="E8F0F3"/>
          </a:solidFill>
          <a:ln w="8890">
            <a:solidFill>
              <a:srgbClr val="E8F0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2587752"/>
            <a:ext cx="5225052" cy="192024"/>
          </a:xfrm>
          <a:prstGeom prst="roundRect">
            <a:avLst>
              <a:gd name="adj" fmla="val 14286"/>
            </a:avLst>
          </a:prstGeom>
          <a:solidFill>
            <a:srgbClr val="14B79B"/>
          </a:solidFill>
          <a:ln w="8890">
            <a:solidFill>
              <a:srgbClr val="14B7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0112" y="249997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8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11,278%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713232" y="31546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30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 H60</a:t>
            </a:r>
            <a:endParaRPr lang="en-US" sz="1630" dirty="0"/>
          </a:p>
        </p:txBody>
      </p:sp>
      <p:sp>
        <p:nvSpPr>
          <p:cNvPr id="15" name="Shape 13"/>
          <p:cNvSpPr/>
          <p:nvPr/>
        </p:nvSpPr>
        <p:spPr>
          <a:xfrm>
            <a:off x="2953512" y="3227832"/>
            <a:ext cx="6949440" cy="192024"/>
          </a:xfrm>
          <a:prstGeom prst="roundRect">
            <a:avLst>
              <a:gd name="adj" fmla="val 14286"/>
            </a:avLst>
          </a:prstGeom>
          <a:solidFill>
            <a:srgbClr val="E8F0F3"/>
          </a:solidFill>
          <a:ln w="8890">
            <a:solidFill>
              <a:srgbClr val="E8F0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53512" y="3227832"/>
            <a:ext cx="6588069" cy="192024"/>
          </a:xfrm>
          <a:prstGeom prst="roundRect">
            <a:avLst>
              <a:gd name="adj" fmla="val 14286"/>
            </a:avLst>
          </a:prstGeom>
          <a:solidFill>
            <a:srgbClr val="14B79B"/>
          </a:solidFill>
          <a:ln w="8890">
            <a:solidFill>
              <a:srgbClr val="14B7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0112" y="314005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8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14,220%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713232" y="37947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3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  H10</a:t>
            </a:r>
            <a:endParaRPr lang="en-US" sz="1630" dirty="0"/>
          </a:p>
        </p:txBody>
      </p:sp>
      <p:sp>
        <p:nvSpPr>
          <p:cNvPr id="19" name="Shape 17"/>
          <p:cNvSpPr/>
          <p:nvPr/>
        </p:nvSpPr>
        <p:spPr>
          <a:xfrm>
            <a:off x="2953512" y="3867912"/>
            <a:ext cx="6949440" cy="192024"/>
          </a:xfrm>
          <a:prstGeom prst="roundRect">
            <a:avLst>
              <a:gd name="adj" fmla="val 14286"/>
            </a:avLst>
          </a:prstGeom>
          <a:solidFill>
            <a:srgbClr val="E8F0F3"/>
          </a:solidFill>
          <a:ln w="8890">
            <a:solidFill>
              <a:srgbClr val="E8F0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53512" y="3867912"/>
            <a:ext cx="5106449" cy="192024"/>
          </a:xfrm>
          <a:prstGeom prst="roundRect">
            <a:avLst>
              <a:gd name="adj" fmla="val 14286"/>
            </a:avLst>
          </a:prstGeom>
          <a:solidFill>
            <a:srgbClr val="4D91BE"/>
          </a:solidFill>
          <a:ln w="8890">
            <a:solidFill>
              <a:srgbClr val="4D91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378013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8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11,022%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713232" y="4434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30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  H30</a:t>
            </a:r>
            <a:endParaRPr lang="en-US" sz="1630" dirty="0"/>
          </a:p>
        </p:txBody>
      </p:sp>
      <p:sp>
        <p:nvSpPr>
          <p:cNvPr id="23" name="Shape 21"/>
          <p:cNvSpPr/>
          <p:nvPr/>
        </p:nvSpPr>
        <p:spPr>
          <a:xfrm>
            <a:off x="2953512" y="4507992"/>
            <a:ext cx="6949440" cy="192024"/>
          </a:xfrm>
          <a:prstGeom prst="roundRect">
            <a:avLst>
              <a:gd name="adj" fmla="val 14286"/>
            </a:avLst>
          </a:prstGeom>
          <a:solidFill>
            <a:srgbClr val="E8F0F3"/>
          </a:solidFill>
          <a:ln w="8890">
            <a:solidFill>
              <a:srgbClr val="E8F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53512" y="4507992"/>
            <a:ext cx="4916497" cy="192024"/>
          </a:xfrm>
          <a:prstGeom prst="roundRect">
            <a:avLst>
              <a:gd name="adj" fmla="val 14286"/>
            </a:avLst>
          </a:prstGeom>
          <a:solidFill>
            <a:srgbClr val="4D91BE"/>
          </a:solidFill>
          <a:ln w="8890">
            <a:solidFill>
              <a:srgbClr val="4D91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40112" y="442021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8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10,612%</a:t>
            </a:r>
            <a:endParaRPr lang="en-US" sz="1580" dirty="0"/>
          </a:p>
        </p:txBody>
      </p:sp>
      <p:sp>
        <p:nvSpPr>
          <p:cNvPr id="26" name="Text 24"/>
          <p:cNvSpPr/>
          <p:nvPr/>
        </p:nvSpPr>
        <p:spPr>
          <a:xfrm>
            <a:off x="713232" y="50749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30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  H60</a:t>
            </a:r>
            <a:endParaRPr lang="en-US" sz="1630" dirty="0"/>
          </a:p>
        </p:txBody>
      </p:sp>
      <p:sp>
        <p:nvSpPr>
          <p:cNvPr id="27" name="Shape 25"/>
          <p:cNvSpPr/>
          <p:nvPr/>
        </p:nvSpPr>
        <p:spPr>
          <a:xfrm>
            <a:off x="2953512" y="5148072"/>
            <a:ext cx="6949440" cy="192024"/>
          </a:xfrm>
          <a:prstGeom prst="roundRect">
            <a:avLst>
              <a:gd name="adj" fmla="val 14286"/>
            </a:avLst>
          </a:prstGeom>
          <a:solidFill>
            <a:srgbClr val="E8F0F3"/>
          </a:solidFill>
          <a:ln w="8890">
            <a:solidFill>
              <a:srgbClr val="E8F0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53512" y="5148072"/>
            <a:ext cx="6218822" cy="192024"/>
          </a:xfrm>
          <a:prstGeom prst="roundRect">
            <a:avLst>
              <a:gd name="adj" fmla="val 14286"/>
            </a:avLst>
          </a:prstGeom>
          <a:solidFill>
            <a:srgbClr val="4D91BE"/>
          </a:solidFill>
          <a:ln w="8890">
            <a:solidFill>
              <a:srgbClr val="4D91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40112" y="5060290"/>
            <a:ext cx="1307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8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13,423%</a:t>
            </a:r>
            <a:endParaRPr lang="en-US" sz="1580" dirty="0"/>
          </a:p>
        </p:txBody>
      </p:sp>
      <p:sp>
        <p:nvSpPr>
          <p:cNvPr id="30" name="Shape 28"/>
          <p:cNvSpPr/>
          <p:nvPr/>
        </p:nvSpPr>
        <p:spPr>
          <a:xfrm>
            <a:off x="9902952" y="1801368"/>
            <a:ext cx="0" cy="3913632"/>
          </a:xfrm>
          <a:prstGeom prst="line">
            <a:avLst/>
          </a:prstGeom>
          <a:noFill/>
          <a:ln w="22860">
            <a:solidFill>
              <a:srgbClr val="D46C6C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8074152" y="5632704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60" b="1" dirty="0">
                <a:solidFill>
                  <a:srgbClr val="BA59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15%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D9E4E9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4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§3.5 và §4.2, Hình 10–11. Các giá trị WMAPE của 6 mô hình trên TEST.</a:t>
            </a:r>
            <a:endParaRPr lang="en-US" sz="810" dirty="0"/>
          </a:p>
        </p:txBody>
      </p:sp>
      <p:sp>
        <p:nvSpPr>
          <p:cNvPr id="34" name="Text 32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3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008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KIỂM TRA TỔNG QUÁT HÓA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mới giữ sai số gần với TEST — nhưng chưa giải hết bài toán điểm nóng.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mô hình đã chốt được kiểm tra thêm trên 14 ngày dữ liệu giả lập không dùng khi chọn mô hình.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9224" y="1883664"/>
            <a:ext cx="7095744" cy="4087368"/>
          </a:xfrm>
          <a:prstGeom prst="roundRect">
            <a:avLst>
              <a:gd name="adj" fmla="val 2908"/>
            </a:avLst>
          </a:prstGeom>
          <a:solidFill>
            <a:srgbClr val="FFFFFF"/>
          </a:solidFill>
          <a:ln w="10160">
            <a:solidFill>
              <a:srgbClr val="DBE8ED"/>
            </a:solidFill>
            <a:prstDash val="solid"/>
          </a:ln>
        </p:spPr>
      </p:sp>
      <p:pic>
        <p:nvPicPr>
          <p:cNvPr id="6" name="Image 0" descr="/mnt/data/slide_work/doc_images/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027374"/>
            <a:ext cx="6876288" cy="3461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" y="5632704"/>
            <a:ext cx="6492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Diễn biến actual và prediction theo ngày — biểu đồ từ báo cáo</a:t>
            </a:r>
            <a:endParaRPr lang="en-US" sz="1040" dirty="0"/>
          </a:p>
        </p:txBody>
      </p:sp>
      <p:sp>
        <p:nvSpPr>
          <p:cNvPr id="8" name="Shape 5"/>
          <p:cNvSpPr/>
          <p:nvPr/>
        </p:nvSpPr>
        <p:spPr>
          <a:xfrm>
            <a:off x="8028432" y="1892808"/>
            <a:ext cx="3493008" cy="1179576"/>
          </a:xfrm>
          <a:prstGeom prst="roundRect">
            <a:avLst>
              <a:gd name="adj" fmla="val 13178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57032" y="2075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18C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ngày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66176" y="2660904"/>
            <a:ext cx="29260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• 11–24.09.2026</a:t>
            </a:r>
            <a:endParaRPr lang="en-US" sz="1190" dirty="0"/>
          </a:p>
        </p:txBody>
      </p:sp>
      <p:sp>
        <p:nvSpPr>
          <p:cNvPr id="11" name="Shape 8"/>
          <p:cNvSpPr/>
          <p:nvPr/>
        </p:nvSpPr>
        <p:spPr>
          <a:xfrm>
            <a:off x="8028432" y="3246120"/>
            <a:ext cx="3493008" cy="1261872"/>
          </a:xfrm>
          <a:prstGeom prst="roundRect">
            <a:avLst>
              <a:gd name="adj" fmla="val 12319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47888" y="3456432"/>
            <a:ext cx="30906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4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10,738%–14,374%</a:t>
            </a:r>
            <a:endParaRPr lang="en-US" sz="2140" dirty="0"/>
          </a:p>
        </p:txBody>
      </p:sp>
      <p:sp>
        <p:nvSpPr>
          <p:cNvPr id="13" name="Text 10"/>
          <p:cNvSpPr/>
          <p:nvPr/>
        </p:nvSpPr>
        <p:spPr>
          <a:xfrm>
            <a:off x="8266176" y="404164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WMAPE trên 6 mô hình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37576" y="4718304"/>
            <a:ext cx="3493008" cy="1197864"/>
          </a:xfrm>
          <a:prstGeom prst="roundRect">
            <a:avLst>
              <a:gd name="adj" fmla="val 9924"/>
            </a:avLst>
          </a:prstGeom>
          <a:solidFill>
            <a:srgbClr val="FFF1EB"/>
          </a:solidFill>
          <a:ln w="8890">
            <a:solidFill>
              <a:srgbClr val="F3D5C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38744" y="4882896"/>
            <a:ext cx="2953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AC55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HẠN CẦN XỬ LÝ</a:t>
            </a:r>
            <a:endParaRPr lang="en-US" sz="1110" dirty="0"/>
          </a:p>
        </p:txBody>
      </p:sp>
      <p:sp>
        <p:nvSpPr>
          <p:cNvPr id="16" name="Text 13"/>
          <p:cNvSpPr/>
          <p:nvPr/>
        </p:nvSpPr>
        <p:spPr>
          <a:xfrm>
            <a:off x="8247888" y="5239512"/>
            <a:ext cx="302666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70" b="1" dirty="0">
                <a:solidFill>
                  <a:srgbClr val="753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nhu cầu &gt;30: chỉ 58,77%–73,06% bản ghi đạt APE ≤15%.</a:t>
            </a:r>
            <a:endParaRPr lang="en-US" sz="1370" dirty="0"/>
          </a:p>
        </p:txBody>
      </p:sp>
      <p:sp>
        <p:nvSpPr>
          <p:cNvPr id="17" name="Shape 14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D9E4E9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4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§4.2, §4.4, Hình 12–15. HOLDOUT cũng là dữ liệu giả lập.</a:t>
            </a:r>
            <a:endParaRPr lang="en-US" sz="810" dirty="0"/>
          </a:p>
        </p:txBody>
      </p:sp>
      <p:sp>
        <p:nvSpPr>
          <p:cNvPr id="19" name="Text 16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3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008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TRAINING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tự động tái huấn luyện theo tuần.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→ đặc trưng và nhãn → chia thời gian → LightGBM → đánh giá → model registry.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7512" y="1837944"/>
            <a:ext cx="10872216" cy="2843784"/>
          </a:xfrm>
          <a:prstGeom prst="roundRect">
            <a:avLst>
              <a:gd name="adj" fmla="val 4180"/>
            </a:avLst>
          </a:prstGeom>
          <a:solidFill>
            <a:srgbClr val="FFFFFF"/>
          </a:solidFill>
          <a:ln w="10160">
            <a:solidFill>
              <a:srgbClr val="D8E6ED"/>
            </a:solidFill>
            <a:prstDash val="solid"/>
          </a:ln>
        </p:spPr>
      </p:sp>
      <p:pic>
        <p:nvPicPr>
          <p:cNvPr id="6" name="Image 0" descr="/mnt/data/44e80a4bb05f3001694e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039" y="2048256"/>
            <a:ext cx="9027163" cy="23408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" y="4882896"/>
            <a:ext cx="3474720" cy="987552"/>
          </a:xfrm>
          <a:prstGeom prst="roundRect">
            <a:avLst>
              <a:gd name="adj" fmla="val 15741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4983480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5486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Thứ Hai hằng tuần</a:t>
            </a:r>
            <a:endParaRPr lang="en-US" sz="1190" dirty="0"/>
          </a:p>
        </p:txBody>
      </p:sp>
      <p:sp>
        <p:nvSpPr>
          <p:cNvPr id="10" name="Shape 7"/>
          <p:cNvSpPr/>
          <p:nvPr/>
        </p:nvSpPr>
        <p:spPr>
          <a:xfrm>
            <a:off x="4425696" y="4882896"/>
            <a:ext cx="3474720" cy="987552"/>
          </a:xfrm>
          <a:prstGeom prst="roundRect">
            <a:avLst>
              <a:gd name="adj" fmla="val 15741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0288" y="4983480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/ 30 / 30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599432" y="5486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TRAIN / VAL / TEST tối đa</a:t>
            </a:r>
            <a:endParaRPr lang="en-US" sz="1190" dirty="0"/>
          </a:p>
        </p:txBody>
      </p:sp>
      <p:sp>
        <p:nvSpPr>
          <p:cNvPr id="13" name="Shape 10"/>
          <p:cNvSpPr/>
          <p:nvPr/>
        </p:nvSpPr>
        <p:spPr>
          <a:xfrm>
            <a:off x="8156448" y="4882896"/>
            <a:ext cx="3474720" cy="987552"/>
          </a:xfrm>
          <a:prstGeom prst="roundRect">
            <a:avLst>
              <a:gd name="adj" fmla="val 15741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21040" y="4983480"/>
            <a:ext cx="3063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8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8330184" y="54864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9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được huấn luyện</a:t>
            </a:r>
            <a:endParaRPr lang="en-US" sz="1190" dirty="0"/>
          </a:p>
        </p:txBody>
      </p:sp>
      <p:sp>
        <p:nvSpPr>
          <p:cNvPr id="16" name="Shape 13"/>
          <p:cNvSpPr/>
          <p:nvPr/>
        </p:nvSpPr>
        <p:spPr>
          <a:xfrm>
            <a:off x="8074152" y="6053328"/>
            <a:ext cx="3419856" cy="265176"/>
          </a:xfrm>
          <a:prstGeom prst="roundRect">
            <a:avLst>
              <a:gd name="adj" fmla="val 27586"/>
            </a:avLst>
          </a:prstGeom>
          <a:solidFill>
            <a:srgbClr val="FFF0E6"/>
          </a:solidFill>
          <a:ln w="8890">
            <a:solidFill>
              <a:srgbClr val="FFF0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47304" y="6108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b="1" dirty="0">
                <a:solidFill>
                  <a:srgbClr val="8F4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ý: ngưỡng cập nhật hiện tại 30%, cần siết về mục tiêu 15%.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D9E4E9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4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Ảnh pipeline do người dùng cung cấp; Báo cáo §5.1–5.3.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3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SERVING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10 phút, hệ thống phát hành một phiên dự báo mới.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5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kích hoạt FastAPI, xây feature từ dữ liệu đã đóng, chạy sáu mô hình, lưu về PostgreSQL.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10890504" cy="290779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10160">
            <a:solidFill>
              <a:srgbClr val="436276"/>
            </a:solidFill>
            <a:prstDash val="solid"/>
          </a:ln>
        </p:spPr>
      </p:sp>
      <p:pic>
        <p:nvPicPr>
          <p:cNvPr id="6" name="Image 0" descr="/mnt/data/5badbb0a011e8140d80f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6613"/>
            <a:ext cx="10597896" cy="2207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5056632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phút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749808" y="562356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C2D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 kỳ phát hành</a:t>
            </a:r>
            <a:endParaRPr lang="en-US" sz="1310" dirty="0"/>
          </a:p>
        </p:txBody>
      </p:sp>
      <p:sp>
        <p:nvSpPr>
          <p:cNvPr id="9" name="Text 6"/>
          <p:cNvSpPr/>
          <p:nvPr/>
        </p:nvSpPr>
        <p:spPr>
          <a:xfrm>
            <a:off x="4498848" y="5056632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giây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4498848" y="562356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C2D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lượng mỗi lượt chạy gần nhất</a:t>
            </a:r>
            <a:endParaRPr lang="en-US" sz="1310" dirty="0"/>
          </a:p>
        </p:txBody>
      </p:sp>
      <p:sp>
        <p:nvSpPr>
          <p:cNvPr id="11" name="Text 8"/>
          <p:cNvSpPr/>
          <p:nvPr/>
        </p:nvSpPr>
        <p:spPr>
          <a:xfrm>
            <a:off x="8247888" y="5056632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 · H30 · H60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247888" y="5623560"/>
            <a:ext cx="3346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C2D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khoảng dự báo</a:t>
            </a:r>
            <a:endParaRPr lang="en-US" sz="1310" dirty="0"/>
          </a:p>
        </p:txBody>
      </p:sp>
      <p:sp>
        <p:nvSpPr>
          <p:cNvPr id="13" name="Shape 10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376075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9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Sơ đồ serving người dùng cung cấp; Báo cáo §6.1 và §6.3 (≈12 giây là kết quả chạy thử).</a:t>
            </a:r>
            <a:endParaRPr lang="en-US" sz="810" dirty="0"/>
          </a:p>
        </p:txBody>
      </p:sp>
      <p:sp>
        <p:nvSpPr>
          <p:cNvPr id="15" name="Text 12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GIAO DIỆN NGƯỜI DÙNG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báo được chuyển thành bản đồ quyết định theo vùng.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5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có thể được đọc theo loại xe, khoảng dự báo, thời điểm và từng mã H3.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19656"/>
            <a:ext cx="7525512" cy="4526280"/>
          </a:xfrm>
          <a:prstGeom prst="roundRect">
            <a:avLst>
              <a:gd name="adj" fmla="val 2626"/>
            </a:avLst>
          </a:prstGeom>
          <a:solidFill>
            <a:srgbClr val="0D2539"/>
          </a:solidFill>
          <a:ln w="10160">
            <a:solidFill>
              <a:srgbClr val="3C6073"/>
            </a:solidFill>
            <a:prstDash val="solid"/>
          </a:ln>
        </p:spPr>
      </p:sp>
      <p:pic>
        <p:nvPicPr>
          <p:cNvPr id="6" name="Image 0" descr="/mnt/data/306013c1a9d5298b70c4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91" y="1938528"/>
            <a:ext cx="6642889" cy="4297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947672"/>
            <a:ext cx="3081528" cy="1097280"/>
          </a:xfrm>
          <a:prstGeom prst="roundRect">
            <a:avLst>
              <a:gd name="adj" fmla="val 14167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31936" y="2066544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217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8641080" y="2596896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C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H3 hiển thị trên bản đồ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8412480" y="3236976"/>
            <a:ext cx="3081528" cy="1097280"/>
          </a:xfrm>
          <a:prstGeom prst="roundRect">
            <a:avLst>
              <a:gd name="adj" fmla="val 14167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31936" y="3355848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/ Motorcycle</a:t>
            </a:r>
            <a:endParaRPr lang="en-US" sz="1770" dirty="0"/>
          </a:p>
        </p:txBody>
      </p:sp>
      <p:sp>
        <p:nvSpPr>
          <p:cNvPr id="12" name="Text 9"/>
          <p:cNvSpPr/>
          <p:nvPr/>
        </p:nvSpPr>
        <p:spPr>
          <a:xfrm>
            <a:off x="8641080" y="38862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C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chế độ nhu cầu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412480" y="4526280"/>
            <a:ext cx="3081528" cy="1097280"/>
          </a:xfrm>
          <a:prstGeom prst="roundRect">
            <a:avLst>
              <a:gd name="adj" fmla="val 14167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31936" y="4645152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 · H30 · H60</a:t>
            </a:r>
            <a:endParaRPr lang="en-US" sz="1770" dirty="0"/>
          </a:p>
        </p:txBody>
      </p:sp>
      <p:sp>
        <p:nvSpPr>
          <p:cNvPr id="15" name="Text 12"/>
          <p:cNvSpPr/>
          <p:nvPr/>
        </p:nvSpPr>
        <p:spPr>
          <a:xfrm>
            <a:off x="8641080" y="517550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BCD4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khoảng dự báo độc lập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376075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9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Ảnh chụp dashboard ứng dụng ngày 15/10/2026; Báo cáo §6.2.</a:t>
            </a:r>
            <a:endParaRPr lang="en-US" sz="810" dirty="0"/>
          </a:p>
        </p:txBody>
      </p:sp>
      <p:sp>
        <p:nvSpPr>
          <p:cNvPr id="18" name="Text 15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008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BẰNG CHỨNG VẬN HÀNH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DAG tự động đã chạy thành công trong ảnh chụp.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thực thi của inference, monitoring và retraining thể hiện trực tiếp trên Airflow.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7512" y="1847088"/>
            <a:ext cx="3557016" cy="4105656"/>
          </a:xfrm>
          <a:prstGeom prst="roundRect">
            <a:avLst>
              <a:gd name="adj" fmla="val 4370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93392"/>
            <a:ext cx="3300984" cy="225856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E4EEF2"/>
            </a:solidFill>
            <a:prstDash val="solid"/>
          </a:ln>
        </p:spPr>
      </p:sp>
      <p:pic>
        <p:nvPicPr>
          <p:cNvPr id="7" name="Image 0" descr="/mnt/data/3e7a4bd0f1c4719a28d5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056560"/>
            <a:ext cx="3236976" cy="21139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4443984"/>
            <a:ext cx="475488" cy="73152"/>
          </a:xfrm>
          <a:prstGeom prst="rect">
            <a:avLst/>
          </a:prstGeom>
          <a:solidFill>
            <a:srgbClr val="1AC5A7"/>
          </a:solidFill>
          <a:ln w="8890">
            <a:solidFill>
              <a:srgbClr val="1AC5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2104" y="470001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32104" y="5184648"/>
            <a:ext cx="3099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10 phút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4471416" y="1847088"/>
            <a:ext cx="3557016" cy="4105656"/>
          </a:xfrm>
          <a:prstGeom prst="roundRect">
            <a:avLst>
              <a:gd name="adj" fmla="val 4370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0288" y="1993392"/>
            <a:ext cx="3300984" cy="225856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E4EEF2"/>
            </a:solidFill>
            <a:prstDash val="solid"/>
          </a:ln>
        </p:spPr>
      </p:sp>
      <p:pic>
        <p:nvPicPr>
          <p:cNvPr id="13" name="Image 1" descr="/mnt/data/6f33029db88938d76198(1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037968"/>
            <a:ext cx="3236976" cy="2151129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26864" y="4443984"/>
            <a:ext cx="475488" cy="73152"/>
          </a:xfrm>
          <a:prstGeom prst="rect">
            <a:avLst/>
          </a:prstGeom>
          <a:solidFill>
            <a:srgbClr val="1AC5A7"/>
          </a:solidFill>
          <a:ln w="8890">
            <a:solidFill>
              <a:srgbClr val="1AC5A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36008" y="470001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36008" y="5184648"/>
            <a:ext cx="3099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giờ</a:t>
            </a:r>
            <a:endParaRPr lang="en-US" sz="1420" dirty="0"/>
          </a:p>
        </p:txBody>
      </p:sp>
      <p:sp>
        <p:nvSpPr>
          <p:cNvPr id="17" name="Shape 13"/>
          <p:cNvSpPr/>
          <p:nvPr/>
        </p:nvSpPr>
        <p:spPr>
          <a:xfrm>
            <a:off x="8275320" y="1847088"/>
            <a:ext cx="3557016" cy="4105656"/>
          </a:xfrm>
          <a:prstGeom prst="roundRect">
            <a:avLst>
              <a:gd name="adj" fmla="val 4370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94192" y="1993392"/>
            <a:ext cx="3300984" cy="225856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E4EEF2"/>
            </a:solidFill>
            <a:prstDash val="solid"/>
          </a:ln>
        </p:spPr>
      </p:sp>
      <p:pic>
        <p:nvPicPr>
          <p:cNvPr id="19" name="Image 2" descr="/mnt/data/204935e48ff00fae56e1(1)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284277"/>
            <a:ext cx="3236976" cy="165851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430768" y="4443984"/>
            <a:ext cx="475488" cy="73152"/>
          </a:xfrm>
          <a:prstGeom prst="rect">
            <a:avLst/>
          </a:prstGeom>
          <a:solidFill>
            <a:srgbClr val="1AC5A7"/>
          </a:solidFill>
          <a:ln w="8890">
            <a:solidFill>
              <a:srgbClr val="1AC5A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439912" y="470001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439912" y="5184648"/>
            <a:ext cx="30998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Hằng tuần</a:t>
            </a:r>
            <a:endParaRPr lang="en-US" sz="1420" dirty="0"/>
          </a:p>
        </p:txBody>
      </p:sp>
      <p:sp>
        <p:nvSpPr>
          <p:cNvPr id="23" name="Shape 18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D9E4E9"/>
            </a:solidFill>
            <a:prstDash val="solid"/>
            <a:headEnd type="none"/>
            <a:tailEnd type="none"/>
          </a:ln>
        </p:spPr>
      </p:sp>
      <p:sp>
        <p:nvSpPr>
          <p:cNvPr id="24" name="Text 19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4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Ba ảnh chụp DAG Airflow do người dùng cung cấp (15/10/2026).</a:t>
            </a:r>
            <a:endParaRPr lang="en-US" sz="810" dirty="0"/>
          </a:p>
        </p:txBody>
      </p:sp>
      <p:sp>
        <p:nvSpPr>
          <p:cNvPr id="25" name="Text 20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3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008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MONITORING DỮ LIỆU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102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Cảnh báo đầu vào hoạt động — dữ liệu thiếu và đến chậm.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cảnh báo: nguồn cũ hơn 15 phút hoặc tỷ lệ thiếu đặc trưng trên 5%.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7598664" cy="3621024"/>
          </a:xfrm>
          <a:prstGeom prst="roundRect">
            <a:avLst>
              <a:gd name="adj" fmla="val 3283"/>
            </a:avLst>
          </a:prstGeom>
          <a:solidFill>
            <a:srgbClr val="12202D"/>
          </a:solidFill>
          <a:ln w="10160">
            <a:solidFill>
              <a:srgbClr val="D1E0E8"/>
            </a:solidFill>
            <a:prstDash val="solid"/>
          </a:ln>
        </p:spPr>
      </p:sp>
      <p:pic>
        <p:nvPicPr>
          <p:cNvPr id="6" name="Image 0" descr="/mnt/data/9279f6d74cc3cc9d95d2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521609"/>
            <a:ext cx="7388352" cy="23359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540496" y="1920240"/>
            <a:ext cx="2962656" cy="950976"/>
          </a:xfrm>
          <a:prstGeom prst="roundRect">
            <a:avLst>
              <a:gd name="adj" fmla="val 16346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14232" y="20756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B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ô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714232" y="2505456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thiếu lịch sử</a:t>
            </a:r>
            <a:endParaRPr lang="en-US" sz="1210" dirty="0"/>
          </a:p>
        </p:txBody>
      </p:sp>
      <p:sp>
        <p:nvSpPr>
          <p:cNvPr id="10" name="Shape 7"/>
          <p:cNvSpPr/>
          <p:nvPr/>
        </p:nvSpPr>
        <p:spPr>
          <a:xfrm>
            <a:off x="8540496" y="3026664"/>
            <a:ext cx="2962656" cy="950976"/>
          </a:xfrm>
          <a:prstGeom prst="roundRect">
            <a:avLst>
              <a:gd name="adj" fmla="val 16346"/>
            </a:avLst>
          </a:prstGeom>
          <a:solidFill>
            <a:srgbClr val="FFFFFF"/>
          </a:solidFill>
          <a:ln w="8890">
            <a:solidFill>
              <a:srgbClr val="E0EA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14232" y="31821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B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ô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8714232" y="361188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Motorcycle thiếu lịch sử</a:t>
            </a:r>
            <a:endParaRPr lang="en-US" sz="1210" dirty="0"/>
          </a:p>
        </p:txBody>
      </p:sp>
      <p:sp>
        <p:nvSpPr>
          <p:cNvPr id="13" name="Shape 10"/>
          <p:cNvSpPr/>
          <p:nvPr/>
        </p:nvSpPr>
        <p:spPr>
          <a:xfrm>
            <a:off x="8558784" y="4197096"/>
            <a:ext cx="2926080" cy="1289304"/>
          </a:xfrm>
          <a:prstGeom prst="roundRect">
            <a:avLst>
              <a:gd name="adj" fmla="val 10638"/>
            </a:avLst>
          </a:prstGeom>
          <a:solidFill>
            <a:srgbClr val="FFF0EB"/>
          </a:solidFill>
          <a:ln w="8890">
            <a:solidFill>
              <a:srgbClr val="F4D8C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69096" y="44256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kern="0" spc="120" dirty="0">
                <a:solidFill>
                  <a:srgbClr val="AD54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QUẢ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8769096" y="4745736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70" b="1" dirty="0">
                <a:solidFill>
                  <a:srgbClr val="813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feature suy giảm trước cả khi đo được sai số.</a:t>
            </a:r>
            <a:endParaRPr lang="en-US" sz="1470" dirty="0"/>
          </a:p>
        </p:txBody>
      </p:sp>
      <p:sp>
        <p:nvSpPr>
          <p:cNvPr id="16" name="Text 13"/>
          <p:cNvSpPr/>
          <p:nvPr/>
        </p:nvSpPr>
        <p:spPr>
          <a:xfrm>
            <a:off x="795528" y="5797296"/>
            <a:ext cx="7132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17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chụp monitoring 15/10/2026</a:t>
            </a:r>
            <a:endParaRPr lang="en-US" sz="1110" dirty="0"/>
          </a:p>
        </p:txBody>
      </p:sp>
      <p:sp>
        <p:nvSpPr>
          <p:cNvPr id="17" name="Shape 14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D9E4E9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4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Ảnh Grafana và bảng feature monitoring 15/10/2026 do người dùng cung cấp.</a:t>
            </a:r>
            <a:endParaRPr lang="en-US" sz="810" dirty="0"/>
          </a:p>
        </p:txBody>
      </p:sp>
      <p:sp>
        <p:nvSpPr>
          <p:cNvPr id="19" name="Text 16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36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47472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10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MONITORING MÔ HÌNH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12648" y="69494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đúng lịch chưa đủ — phải kiểm tra actual và drift.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40080" y="125272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B5C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sau khi có quan sát, đồng thời so phân phối dự báo serving với tham chiếu lúc fit.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67512" y="1883664"/>
            <a:ext cx="5340096" cy="2971800"/>
          </a:xfrm>
          <a:prstGeom prst="roundRect">
            <a:avLst>
              <a:gd name="adj" fmla="val 4000"/>
            </a:avLst>
          </a:prstGeom>
          <a:solidFill>
            <a:srgbClr val="122439"/>
          </a:solidFill>
          <a:ln w="10160">
            <a:solidFill>
              <a:srgbClr val="355367"/>
            </a:solidFill>
            <a:prstDash val="solid"/>
          </a:ln>
        </p:spPr>
      </p:sp>
      <p:pic>
        <p:nvPicPr>
          <p:cNvPr id="6" name="Image 0" descr="/mnt/data/e81a3cba86ae06f05fbf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61281"/>
            <a:ext cx="5111496" cy="23434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90488" y="1883664"/>
            <a:ext cx="5321808" cy="2971800"/>
          </a:xfrm>
          <a:prstGeom prst="roundRect">
            <a:avLst>
              <a:gd name="adj" fmla="val 4000"/>
            </a:avLst>
          </a:prstGeom>
          <a:solidFill>
            <a:srgbClr val="122439"/>
          </a:solidFill>
          <a:ln w="10160">
            <a:solidFill>
              <a:srgbClr val="355367"/>
            </a:solidFill>
            <a:prstDash val="solid"/>
          </a:ln>
        </p:spPr>
      </p:sp>
      <p:pic>
        <p:nvPicPr>
          <p:cNvPr id="8" name="Image 1" descr="/mnt/data/2ec6e0615a75da2b8364(1)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539360"/>
            <a:ext cx="5074920" cy="15872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5001768"/>
            <a:ext cx="47640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2C9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22960" y="533095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WMAPE cửa sổ: 14,925%–20,457%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327648" y="5001768"/>
            <a:ext cx="4663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DRIFT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327648" y="5330952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PSI: 0,537–0,849  &gt;  0,2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749808" y="5888736"/>
            <a:ext cx="10716768" cy="347472"/>
          </a:xfrm>
          <a:prstGeom prst="roundRect">
            <a:avLst>
              <a:gd name="adj" fmla="val 26316"/>
            </a:avLst>
          </a:prstGeom>
          <a:solidFill>
            <a:srgbClr val="163A43"/>
          </a:solidFill>
          <a:ln w="8890">
            <a:solidFill>
              <a:srgbClr val="163A4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23544" y="5980176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C4F6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Lưu ý: số đo vận hành theo cửa sổ có actual chưa đầy đủ; không đồng nhất với kết quả TEST offline.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376075"/>
            </a:solidFill>
            <a:prstDash val="solid"/>
            <a:headEnd type="none"/>
            <a:tailEnd type="none"/>
          </a:ln>
        </p:spPr>
      </p:sp>
      <p:sp>
        <p:nvSpPr>
          <p:cNvPr id="16" name="Text 12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9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ảnh monitoring 15/10/2026. Coverage Car ~69%, Motorcycle ~60% trong cửa sổ quan sát.</a:t>
            </a:r>
            <a:endParaRPr lang="en-US" sz="810" dirty="0"/>
          </a:p>
        </p:txBody>
      </p:sp>
      <p:sp>
        <p:nvSpPr>
          <p:cNvPr id="17" name="Text 13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66344"/>
            <a:ext cx="10451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 /  HƯỚNG PHÁT TRIỂN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4088" y="941832"/>
            <a:ext cx="10753344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đã đạt mục tiêu nghiên cứu.</a:t>
            </a:r>
            <a:endParaRPr lang="en-US" sz="2850" dirty="0"/>
          </a:p>
          <a:p>
            <a:pPr marL="0" indent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đã vận hành.</a:t>
            </a:r>
            <a:endParaRPr lang="en-US" sz="2850" dirty="0"/>
          </a:p>
          <a:p>
            <a:pPr marL="0" indent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tiếp theo là tin cậy dữ liệu.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704088" y="3090672"/>
            <a:ext cx="3465576" cy="1444752"/>
          </a:xfrm>
          <a:prstGeom prst="roundRect">
            <a:avLst>
              <a:gd name="adj" fmla="val 10759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33284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32688" y="3904488"/>
            <a:ext cx="2971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0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đạt WMAPE &lt; 15% trên TEST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71416" y="3090672"/>
            <a:ext cx="3465576" cy="1444752"/>
          </a:xfrm>
          <a:prstGeom prst="roundRect">
            <a:avLst>
              <a:gd name="adj" fmla="val 10759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0016" y="33284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phút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700016" y="3904488"/>
            <a:ext cx="2971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0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lần phát hành dự báo tự động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38744" y="3090672"/>
            <a:ext cx="3465576" cy="1444752"/>
          </a:xfrm>
          <a:prstGeom prst="roundRect">
            <a:avLst>
              <a:gd name="adj" fmla="val 10759"/>
            </a:avLst>
          </a:prstGeom>
          <a:solidFill>
            <a:srgbClr val="102B42"/>
          </a:solidFill>
          <a:ln w="8890">
            <a:solidFill>
              <a:srgbClr val="2644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332841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BDA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67344" y="3904488"/>
            <a:ext cx="2971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0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feature thiếu và prediction drift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" y="4983480"/>
            <a:ext cx="10661904" cy="0"/>
          </a:xfrm>
          <a:prstGeom prst="line">
            <a:avLst/>
          </a:prstGeom>
          <a:noFill/>
          <a:ln w="12700">
            <a:solidFill>
              <a:srgbClr val="335367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86384" y="523036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40" dirty="0">
                <a:solidFill>
                  <a:srgbClr val="FFB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TIẾP THEO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" y="5596128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chứng trên dữ liệu đặt xe thực tế; cải thiện độ đầy đủ của actual và chất lượng dự báo tại các vùng tăng nhu cầu nhanh; đồng bộ ngưỡng cập nhật mô hình với mục tiêu chất lượng.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566928" y="6574536"/>
            <a:ext cx="11045952" cy="0"/>
          </a:xfrm>
          <a:prstGeom prst="line">
            <a:avLst/>
          </a:prstGeom>
          <a:noFill/>
          <a:ln w="6350">
            <a:solidFill>
              <a:srgbClr val="376075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621792" y="6624828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9A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Báo cáo §8.1–8.3; ảnh monitor và Prometheus cung cấp cùng đề bài.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11247120" y="66065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C3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1483</Words>
  <Application>Microsoft Office PowerPoint</Application>
  <PresentationFormat>Widescreen</PresentationFormat>
  <Paragraphs>211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Project showcase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đoán nhu cầu đặt xe tại TP.HCM | Báo cáo dự án MLE</dc:title>
  <dc:subject>Dự đoán nhu cầu đặt xe tại TP.HCM — slide thuyết trình dự án MLE</dc:subject>
  <dc:creator>OpenAI</dc:creator>
  <cp:lastModifiedBy>Trường an Nguyễn</cp:lastModifiedBy>
  <cp:revision>2</cp:revision>
  <dcterms:created xsi:type="dcterms:W3CDTF">2026-10-15T05:27:21Z</dcterms:created>
  <dcterms:modified xsi:type="dcterms:W3CDTF">2026-10-15T05:29:31Z</dcterms:modified>
</cp:coreProperties>
</file>