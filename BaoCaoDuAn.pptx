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9"/>
  </p:notesMasterIdLst>
  <p:sldIdLst>
    <p:sldId id="272" r:id="rId3"/>
    <p:sldId id="257" r:id="rId4"/>
    <p:sldId id="258" r:id="rId5"/>
    <p:sldId id="259" r:id="rId6"/>
    <p:sldId id="260" r:id="rId7"/>
    <p:sldId id="273" r:id="rId8"/>
    <p:sldId id="274" r:id="rId9"/>
    <p:sldId id="275" r:id="rId10"/>
    <p:sldId id="276" r:id="rId11"/>
    <p:sldId id="277" r:id="rId12"/>
    <p:sldId id="278" r:id="rId13"/>
    <p:sldId id="279" r:id="rId14"/>
    <p:sldId id="280" r:id="rId15"/>
    <p:sldId id="281" r:id="rId16"/>
    <p:sldId id="282" r:id="rId17"/>
    <p:sldId id="28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485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4F55-38A8-912F-A9A8-0E8CD9E09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BE48-E48F-8162-1344-01677EF04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3D093-8E16-8325-2408-F166C1BC36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B2BFE-5EE0-F14D-46C2-43DAD13D249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022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3629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434477"/>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A29"/>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4D0B3"/>
          </a:solidFill>
          <a:ln w="12700">
            <a:solidFill>
              <a:srgbClr val="04D0B3"/>
            </a:solidFill>
            <a:prstDash val="solid"/>
          </a:ln>
        </p:spPr>
        <p:txBody>
          <a:bodyPr/>
          <a:lstStyle/>
          <a:p>
            <a:endParaRPr/>
          </a:p>
        </p:txBody>
      </p:sp>
      <p:sp>
        <p:nvSpPr>
          <p:cNvPr id="4" name="Text 2"/>
          <p:cNvSpPr/>
          <p:nvPr/>
        </p:nvSpPr>
        <p:spPr>
          <a:xfrm>
            <a:off x="445304" y="758952"/>
            <a:ext cx="6565392" cy="245059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DỰ ĐOÁN NHU CẦU</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ĐẶT XE TẠI THÀNH PHỐ</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HỒ CHÍ MINH</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p:txBody>
      </p:sp>
      <p:sp>
        <p:nvSpPr>
          <p:cNvPr id="5" name="Text 3"/>
          <p:cNvSpPr/>
          <p:nvPr/>
        </p:nvSpPr>
        <p:spPr>
          <a:xfrm>
            <a:off x="445304" y="3516800"/>
            <a:ext cx="4944655" cy="9418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20" b="0" i="0" u="none" strike="noStrike" kern="1200" cap="none" spc="0" normalizeH="0" baseline="0" noProof="0" dirty="0">
                <a:ln>
                  <a:noFill/>
                </a:ln>
                <a:solidFill>
                  <a:srgbClr val="C8D8DF"/>
                </a:solidFill>
                <a:effectLst/>
                <a:uLnTx/>
                <a:uFillTx/>
                <a:latin typeface="Inter" pitchFamily="34" charset="0"/>
                <a:ea typeface="Inter" pitchFamily="34" charset="-122"/>
                <a:cs typeface="Inter" pitchFamily="34" charset="-120"/>
              </a:rPr>
              <a:t>Xây dựng và lựa chọn mô hình, đánh giá sai số, tự động huấn luyện, triển khai dự báo và giám sát vận hành.</a:t>
            </a:r>
            <a:endParaRPr kumimoji="0" lang="en-US" sz="1720" b="0" i="0" u="none" strike="noStrike" kern="1200" cap="none" spc="0" normalizeH="0" baseline="0" noProof="0" dirty="0">
              <a:ln>
                <a:noFill/>
              </a:ln>
              <a:solidFill>
                <a:prstClr val="black"/>
              </a:solidFill>
              <a:effectLst/>
              <a:uLnTx/>
              <a:uFillTx/>
              <a:ea typeface="+mn-ea"/>
              <a:cs typeface="+mn-cs"/>
            </a:endParaRPr>
          </a:p>
        </p:txBody>
      </p:sp>
      <p:sp>
        <p:nvSpPr>
          <p:cNvPr id="12" name="Shape 10"/>
          <p:cNvSpPr/>
          <p:nvPr/>
        </p:nvSpPr>
        <p:spPr>
          <a:xfrm>
            <a:off x="5459766" y="758952"/>
            <a:ext cx="6560021" cy="5340096"/>
          </a:xfrm>
          <a:prstGeom prst="roundRect">
            <a:avLst>
              <a:gd name="adj" fmla="val 2685"/>
            </a:avLst>
          </a:prstGeom>
          <a:solidFill>
            <a:srgbClr val="0D283C"/>
          </a:solidFill>
          <a:ln w="12700">
            <a:solidFill>
              <a:srgbClr val="2D5262"/>
            </a:solidFill>
            <a:prstDash val="solid"/>
          </a:ln>
        </p:spPr>
        <p:txBody>
          <a:bodyPr/>
          <a:lstStyle/>
          <a:p>
            <a:endParaRPr/>
          </a:p>
        </p:txBody>
      </p:sp>
      <p:sp>
        <p:nvSpPr>
          <p:cNvPr id="14" name="Text 11"/>
          <p:cNvSpPr/>
          <p:nvPr/>
        </p:nvSpPr>
        <p:spPr>
          <a:xfrm>
            <a:off x="348715" y="5941314"/>
            <a:ext cx="10058400" cy="21031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Mentor: Nguyễn Hoài Đăng, Nguyễn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Khả</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Tiến •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Người</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thực</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hiện</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Nguyễn Trường An   </a:t>
            </a:r>
            <a:endParaRPr kumimoji="0" lang="en-US" sz="1030" b="0" i="0" u="none" strike="noStrike" kern="1200" cap="none" spc="0" normalizeH="0" baseline="0" noProof="0" dirty="0">
              <a:ln>
                <a:noFill/>
              </a:ln>
              <a:solidFill>
                <a:prstClr val="black"/>
              </a:solidFill>
              <a:effectLst/>
              <a:uLnTx/>
              <a:uFillTx/>
              <a:latin typeface="Inter"/>
              <a:ea typeface="+mn-ea"/>
              <a:cs typeface="+mn-cs"/>
            </a:endParaRPr>
          </a:p>
        </p:txBody>
      </p:sp>
      <p:pic>
        <p:nvPicPr>
          <p:cNvPr id="16" name="Picture 15">
            <a:extLst>
              <a:ext uri="{FF2B5EF4-FFF2-40B4-BE49-F238E27FC236}">
                <a16:creationId xmlns:a16="http://schemas.microsoft.com/office/drawing/2014/main" id="{F64B1A2D-5289-4687-59C6-F2517C3B940A}"/>
              </a:ext>
            </a:extLst>
          </p:cNvPr>
          <p:cNvPicPr>
            <a:picLocks noChangeAspect="1"/>
          </p:cNvPicPr>
          <p:nvPr/>
        </p:nvPicPr>
        <p:blipFill>
          <a:blip r:embed="rId3"/>
          <a:stretch>
            <a:fillRect/>
          </a:stretch>
        </p:blipFill>
        <p:spPr>
          <a:xfrm>
            <a:off x="5541663" y="1072447"/>
            <a:ext cx="6396227" cy="51317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01 · BÀI TOÁN VÀ MỤC TIÊU</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a:bodyPr>
          <a:lstStyle/>
          <a:p>
            <a:pPr marL="0" indent="0" algn="l">
              <a:buNone/>
            </a:pPr>
            <a:r>
              <a:rPr lang="en-US" sz="2650" b="1" dirty="0">
                <a:solidFill>
                  <a:srgbClr val="102639"/>
                </a:solidFill>
                <a:latin typeface="Arial" pitchFamily="34" charset="0"/>
                <a:ea typeface="Arial" pitchFamily="34" charset="-122"/>
                <a:cs typeface="Arial" pitchFamily="34" charset="-120"/>
              </a:rPr>
              <a:t>Dự </a:t>
            </a:r>
            <a:r>
              <a:rPr lang="en-US" sz="2650" b="1" dirty="0" err="1">
                <a:solidFill>
                  <a:srgbClr val="102639"/>
                </a:solidFill>
                <a:latin typeface="Arial" pitchFamily="34" charset="0"/>
                <a:ea typeface="Arial" pitchFamily="34" charset="-122"/>
                <a:cs typeface="Arial" pitchFamily="34" charset="-120"/>
              </a:rPr>
              <a:t>báo</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nhu</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cầu</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đặt</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xe</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theo</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khu</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vực</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tại</a:t>
            </a:r>
            <a:r>
              <a:rPr lang="en-US" sz="2650" b="1" dirty="0">
                <a:solidFill>
                  <a:srgbClr val="102639"/>
                </a:solidFill>
                <a:latin typeface="Arial" pitchFamily="34" charset="0"/>
                <a:ea typeface="Arial" pitchFamily="34" charset="-122"/>
                <a:cs typeface="Arial" pitchFamily="34" charset="-120"/>
              </a:rPr>
              <a:t> HCM</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02</a:t>
            </a:r>
            <a:endParaRPr lang="en-US" sz="1100" dirty="0"/>
          </a:p>
        </p:txBody>
      </p:sp>
      <p:sp>
        <p:nvSpPr>
          <p:cNvPr id="8" name="Text 6"/>
          <p:cNvSpPr/>
          <p:nvPr/>
        </p:nvSpPr>
        <p:spPr>
          <a:xfrm>
            <a:off x="585216" y="1536192"/>
            <a:ext cx="10972800" cy="630936"/>
          </a:xfrm>
          <a:prstGeom prst="rect">
            <a:avLst/>
          </a:prstGeom>
          <a:noFill/>
          <a:ln/>
        </p:spPr>
        <p:txBody>
          <a:bodyPr wrap="square" lIns="0" tIns="0" rIns="0" bIns="0" rtlCol="0" anchor="t">
            <a:normAutofit/>
          </a:bodyPr>
          <a:lstStyle/>
          <a:p>
            <a:pPr marL="0" indent="0" algn="l">
              <a:buNone/>
            </a:pPr>
            <a:r>
              <a:rPr lang="en-US" sz="1700" dirty="0">
                <a:solidFill>
                  <a:srgbClr val="587083"/>
                </a:solidFill>
                <a:latin typeface="Arial" pitchFamily="34" charset="0"/>
                <a:ea typeface="Arial" pitchFamily="34" charset="-122"/>
                <a:cs typeface="Arial" pitchFamily="34" charset="-120"/>
              </a:rPr>
              <a:t>Nhu cầu đặt xe thay đổi theo giờ và không phân bố đều giữa các khu vực. Chỉ dự báo tổng nhu cầu toàn thành phố sẽ không cho biết nơi nào đang thiếu hoặc dư nguồn xe.</a:t>
            </a:r>
            <a:endParaRPr lang="en-US" sz="1700" dirty="0"/>
          </a:p>
        </p:txBody>
      </p:sp>
      <p:sp>
        <p:nvSpPr>
          <p:cNvPr id="9" name="Shape 7"/>
          <p:cNvSpPr/>
          <p:nvPr/>
        </p:nvSpPr>
        <p:spPr>
          <a:xfrm>
            <a:off x="612648"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0" name="Text 8"/>
          <p:cNvSpPr/>
          <p:nvPr/>
        </p:nvSpPr>
        <p:spPr>
          <a:xfrm>
            <a:off x="786384"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KHÁCH HÀNG</a:t>
            </a:r>
            <a:endParaRPr lang="en-US" sz="1220" dirty="0"/>
          </a:p>
        </p:txBody>
      </p:sp>
      <p:sp>
        <p:nvSpPr>
          <p:cNvPr id="11" name="Text 9"/>
          <p:cNvSpPr/>
          <p:nvPr/>
        </p:nvSpPr>
        <p:spPr>
          <a:xfrm>
            <a:off x="786384"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Hạn chế thời gian chờ khi </a:t>
            </a:r>
            <a:r>
              <a:rPr lang="en-US" sz="1640" dirty="0" err="1">
                <a:solidFill>
                  <a:srgbClr val="102639"/>
                </a:solidFill>
                <a:latin typeface="Arial" pitchFamily="34" charset="0"/>
                <a:ea typeface="Arial" pitchFamily="34" charset="-122"/>
                <a:cs typeface="Arial" pitchFamily="34" charset="-120"/>
              </a:rPr>
              <a:t>nhu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cầu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đặt</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xe</a:t>
            </a:r>
            <a:r>
              <a:rPr lang="en-US" sz="1640" dirty="0">
                <a:solidFill>
                  <a:srgbClr val="102639"/>
                </a:solidFill>
                <a:latin typeface="Arial" pitchFamily="34" charset="0"/>
                <a:ea typeface="Arial" pitchFamily="34" charset="-122"/>
                <a:cs typeface="Arial" pitchFamily="34" charset="-120"/>
              </a:rPr>
              <a:t> tăng tại một khu vực.</a:t>
            </a:r>
            <a:endParaRPr lang="en-US" sz="1640" dirty="0"/>
          </a:p>
        </p:txBody>
      </p:sp>
      <p:sp>
        <p:nvSpPr>
          <p:cNvPr id="12" name="Shape 10"/>
          <p:cNvSpPr/>
          <p:nvPr/>
        </p:nvSpPr>
        <p:spPr>
          <a:xfrm>
            <a:off x="4517136"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3" name="Text 11"/>
          <p:cNvSpPr/>
          <p:nvPr/>
        </p:nvSpPr>
        <p:spPr>
          <a:xfrm>
            <a:off x="4690872"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TÀI XẾ</a:t>
            </a:r>
            <a:endParaRPr lang="en-US" sz="1220" dirty="0"/>
          </a:p>
        </p:txBody>
      </p:sp>
      <p:sp>
        <p:nvSpPr>
          <p:cNvPr id="14" name="Text 12"/>
          <p:cNvSpPr/>
          <p:nvPr/>
        </p:nvSpPr>
        <p:spPr>
          <a:xfrm>
            <a:off x="4690872"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Giảm thời gian chờ chuyến tại những nơi ít yêu </a:t>
            </a:r>
            <a:r>
              <a:rPr lang="en-US" sz="1640" dirty="0" err="1">
                <a:solidFill>
                  <a:srgbClr val="102639"/>
                </a:solidFill>
                <a:latin typeface="Arial" pitchFamily="34" charset="0"/>
                <a:ea typeface="Arial" pitchFamily="34" charset="-122"/>
                <a:cs typeface="Arial" pitchFamily="34" charset="-120"/>
              </a:rPr>
              <a:t>cầu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đặt</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xe</a:t>
            </a:r>
            <a:r>
              <a:rPr lang="en-US" sz="1640" dirty="0">
                <a:solidFill>
                  <a:srgbClr val="102639"/>
                </a:solidFill>
                <a:latin typeface="Arial" pitchFamily="34" charset="0"/>
                <a:ea typeface="Arial" pitchFamily="34" charset="-122"/>
                <a:cs typeface="Arial" pitchFamily="34" charset="-120"/>
              </a:rPr>
              <a:t>.</a:t>
            </a:r>
            <a:endParaRPr lang="en-US" sz="1640" dirty="0"/>
          </a:p>
        </p:txBody>
      </p:sp>
      <p:sp>
        <p:nvSpPr>
          <p:cNvPr id="15" name="Shape 13"/>
          <p:cNvSpPr/>
          <p:nvPr/>
        </p:nvSpPr>
        <p:spPr>
          <a:xfrm>
            <a:off x="8421624"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6" name="Text 14"/>
          <p:cNvSpPr/>
          <p:nvPr/>
        </p:nvSpPr>
        <p:spPr>
          <a:xfrm>
            <a:off x="8595360"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DOANH NGHIỆP</a:t>
            </a:r>
            <a:endParaRPr lang="en-US" sz="1220" dirty="0"/>
          </a:p>
        </p:txBody>
      </p:sp>
      <p:sp>
        <p:nvSpPr>
          <p:cNvPr id="17" name="Text 15"/>
          <p:cNvSpPr/>
          <p:nvPr/>
        </p:nvSpPr>
        <p:spPr>
          <a:xfrm>
            <a:off x="8595360"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Có cơ sở theo dõi và chuẩn bị phân bổ nguồn xe.</a:t>
            </a:r>
            <a:endParaRPr lang="en-US" sz="1640" dirty="0"/>
          </a:p>
        </p:txBody>
      </p:sp>
      <p:sp>
        <p:nvSpPr>
          <p:cNvPr id="18" name="Shape 16"/>
          <p:cNvSpPr/>
          <p:nvPr/>
        </p:nvSpPr>
        <p:spPr>
          <a:xfrm>
            <a:off x="621526" y="4352278"/>
            <a:ext cx="10972800" cy="1472184"/>
          </a:xfrm>
          <a:prstGeom prst="roundRect">
            <a:avLst>
              <a:gd name="adj" fmla="val 9317"/>
            </a:avLst>
          </a:prstGeom>
          <a:solidFill>
            <a:srgbClr val="132B43"/>
          </a:solidFill>
          <a:ln w="12700">
            <a:solidFill>
              <a:srgbClr val="132B43">
                <a:alpha val="0"/>
              </a:srgbClr>
            </a:solidFill>
            <a:prstDash val="solid"/>
          </a:ln>
        </p:spPr>
        <p:txBody>
          <a:bodyPr/>
          <a:lstStyle/>
          <a:p>
            <a:endParaRPr/>
          </a:p>
        </p:txBody>
      </p:sp>
      <p:sp>
        <p:nvSpPr>
          <p:cNvPr id="19" name="Text 17"/>
          <p:cNvSpPr/>
          <p:nvPr/>
        </p:nvSpPr>
        <p:spPr>
          <a:xfrm>
            <a:off x="841248" y="4553712"/>
            <a:ext cx="2971800" cy="283464"/>
          </a:xfrm>
          <a:prstGeom prst="rect">
            <a:avLst/>
          </a:prstGeom>
          <a:noFill/>
          <a:ln/>
        </p:spPr>
        <p:txBody>
          <a:bodyPr wrap="square" lIns="0" tIns="0" rIns="0" bIns="0" rtlCol="0" anchor="ctr">
            <a:normAutofit/>
          </a:bodyPr>
          <a:lstStyle/>
          <a:p>
            <a:pPr marL="0" indent="0" algn="l">
              <a:buNone/>
            </a:pPr>
            <a:r>
              <a:rPr lang="en-US" sz="1300" b="1" dirty="0">
                <a:solidFill>
                  <a:srgbClr val="9AD3CE"/>
                </a:solidFill>
                <a:latin typeface="Arial" pitchFamily="34" charset="0"/>
                <a:ea typeface="Arial" pitchFamily="34" charset="-122"/>
                <a:cs typeface="Arial" pitchFamily="34" charset="-120"/>
              </a:rPr>
              <a:t>THIẾT KẾ BÀI TOÁN</a:t>
            </a:r>
            <a:endParaRPr lang="en-US" sz="1300" dirty="0"/>
          </a:p>
        </p:txBody>
      </p:sp>
      <p:sp>
        <p:nvSpPr>
          <p:cNvPr id="20" name="Text 18"/>
          <p:cNvSpPr/>
          <p:nvPr/>
        </p:nvSpPr>
        <p:spPr>
          <a:xfrm>
            <a:off x="896112"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217</a:t>
            </a:r>
            <a:endParaRPr lang="en-US" sz="2800" dirty="0"/>
          </a:p>
        </p:txBody>
      </p:sp>
      <p:sp>
        <p:nvSpPr>
          <p:cNvPr id="21" name="Text 19"/>
          <p:cNvSpPr/>
          <p:nvPr/>
        </p:nvSpPr>
        <p:spPr>
          <a:xfrm>
            <a:off x="896112"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ô lục giác H3</a:t>
            </a:r>
            <a:endParaRPr lang="en-US" sz="1150" dirty="0"/>
          </a:p>
        </p:txBody>
      </p:sp>
      <p:sp>
        <p:nvSpPr>
          <p:cNvPr id="22" name="Text 20"/>
          <p:cNvSpPr/>
          <p:nvPr/>
        </p:nvSpPr>
        <p:spPr>
          <a:xfrm>
            <a:off x="3621024"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02</a:t>
            </a:r>
            <a:endParaRPr lang="en-US" sz="2800" dirty="0"/>
          </a:p>
        </p:txBody>
      </p:sp>
      <p:sp>
        <p:nvSpPr>
          <p:cNvPr id="23" name="Text 21"/>
          <p:cNvSpPr/>
          <p:nvPr/>
        </p:nvSpPr>
        <p:spPr>
          <a:xfrm>
            <a:off x="3621024"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loại xe: Car/Motorcycle</a:t>
            </a:r>
            <a:endParaRPr lang="en-US" sz="1150" dirty="0"/>
          </a:p>
        </p:txBody>
      </p:sp>
      <p:sp>
        <p:nvSpPr>
          <p:cNvPr id="24" name="Text 22"/>
          <p:cNvSpPr/>
          <p:nvPr/>
        </p:nvSpPr>
        <p:spPr>
          <a:xfrm>
            <a:off x="6345936"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03</a:t>
            </a:r>
            <a:endParaRPr lang="en-US" sz="2800" dirty="0"/>
          </a:p>
        </p:txBody>
      </p:sp>
      <p:sp>
        <p:nvSpPr>
          <p:cNvPr id="25" name="Text 23"/>
          <p:cNvSpPr/>
          <p:nvPr/>
        </p:nvSpPr>
        <p:spPr>
          <a:xfrm>
            <a:off x="6345936"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khoảng H10/H30/H60</a:t>
            </a:r>
            <a:endParaRPr lang="en-US" sz="1150" dirty="0"/>
          </a:p>
        </p:txBody>
      </p:sp>
      <p:sp>
        <p:nvSpPr>
          <p:cNvPr id="26" name="Text 24"/>
          <p:cNvSpPr/>
          <p:nvPr/>
        </p:nvSpPr>
        <p:spPr>
          <a:xfrm>
            <a:off x="9070848"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&lt;15%</a:t>
            </a:r>
            <a:endParaRPr lang="en-US" sz="2800" dirty="0"/>
          </a:p>
        </p:txBody>
      </p:sp>
      <p:sp>
        <p:nvSpPr>
          <p:cNvPr id="27" name="Text 25"/>
          <p:cNvSpPr/>
          <p:nvPr/>
        </p:nvSpPr>
        <p:spPr>
          <a:xfrm>
            <a:off x="9070848"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WMAPE mục tiêu trên TEST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02 · DỮ LIỆU NGHIÊN CỨU</a:t>
            </a:r>
            <a:endParaRPr lang="en-US" sz="1020" dirty="0"/>
          </a:p>
        </p:txBody>
      </p:sp>
      <p:sp>
        <p:nvSpPr>
          <p:cNvPr id="4" name="Text 2"/>
          <p:cNvSpPr/>
          <p:nvPr/>
        </p:nvSpPr>
        <p:spPr>
          <a:xfrm>
            <a:off x="576072" y="722376"/>
            <a:ext cx="6794258" cy="722376"/>
          </a:xfrm>
          <a:prstGeom prst="rect">
            <a:avLst/>
          </a:prstGeom>
          <a:noFill/>
          <a:ln/>
        </p:spPr>
        <p:txBody>
          <a:bodyPr wrap="square" lIns="0" tIns="0" rIns="0" bIns="0" rtlCol="0" anchor="t">
            <a:normAutofit/>
          </a:bodyPr>
          <a:lstStyle/>
          <a:p>
            <a:pPr marL="0" indent="0" algn="l">
              <a:buNone/>
            </a:pPr>
            <a:r>
              <a:rPr lang="en-US" sz="2650" b="1" dirty="0">
                <a:solidFill>
                  <a:srgbClr val="102639"/>
                </a:solidFill>
                <a:latin typeface="Arial" pitchFamily="34" charset="0"/>
                <a:ea typeface="Arial" pitchFamily="34" charset="-122"/>
                <a:cs typeface="Arial" pitchFamily="34" charset="-120"/>
              </a:rPr>
              <a:t>Dữ liệu </a:t>
            </a:r>
            <a:r>
              <a:rPr lang="en-US" sz="2650" b="1" dirty="0" err="1">
                <a:solidFill>
                  <a:srgbClr val="102639"/>
                </a:solidFill>
                <a:latin typeface="Arial" pitchFamily="34" charset="0"/>
                <a:ea typeface="Arial" pitchFamily="34" charset="-122"/>
                <a:cs typeface="Arial" pitchFamily="34" charset="-120"/>
              </a:rPr>
              <a:t>mô</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phỏng</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03</a:t>
            </a:r>
            <a:endParaRPr lang="en-US" sz="1100" dirty="0"/>
          </a:p>
        </p:txBody>
      </p:sp>
      <p:pic>
        <p:nvPicPr>
          <p:cNvPr id="8" name="Image 0" descr="/mnt/data/redo_15/doc_media/image1.png"/>
          <p:cNvPicPr>
            <a:picLocks noChangeAspect="1"/>
          </p:cNvPicPr>
          <p:nvPr/>
        </p:nvPicPr>
        <p:blipFill>
          <a:blip r:embed="rId3"/>
          <a:stretch>
            <a:fillRect/>
          </a:stretch>
        </p:blipFill>
        <p:spPr>
          <a:xfrm>
            <a:off x="576072" y="1939698"/>
            <a:ext cx="7068312" cy="2713428"/>
          </a:xfrm>
          <a:prstGeom prst="rect">
            <a:avLst/>
          </a:prstGeom>
        </p:spPr>
      </p:pic>
      <p:sp>
        <p:nvSpPr>
          <p:cNvPr id="9" name="Shape 6"/>
          <p:cNvSpPr/>
          <p:nvPr/>
        </p:nvSpPr>
        <p:spPr>
          <a:xfrm>
            <a:off x="7808976" y="1655064"/>
            <a:ext cx="3739896" cy="1271016"/>
          </a:xfrm>
          <a:prstGeom prst="roundRect">
            <a:avLst>
              <a:gd name="adj" fmla="val 10791"/>
            </a:avLst>
          </a:prstGeom>
          <a:solidFill>
            <a:srgbClr val="FFFFFF"/>
          </a:solidFill>
          <a:ln w="12700">
            <a:solidFill>
              <a:srgbClr val="FFFFFF">
                <a:alpha val="0"/>
              </a:srgbClr>
            </a:solidFill>
            <a:prstDash val="solid"/>
          </a:ln>
        </p:spPr>
        <p:txBody>
          <a:bodyPr/>
          <a:lstStyle/>
          <a:p>
            <a:endParaRPr/>
          </a:p>
        </p:txBody>
      </p:sp>
      <p:sp>
        <p:nvSpPr>
          <p:cNvPr id="10" name="Shape 7"/>
          <p:cNvSpPr/>
          <p:nvPr/>
        </p:nvSpPr>
        <p:spPr>
          <a:xfrm>
            <a:off x="7808976" y="1655064"/>
            <a:ext cx="59436" cy="1271016"/>
          </a:xfrm>
          <a:prstGeom prst="rect">
            <a:avLst/>
          </a:prstGeom>
          <a:solidFill>
            <a:srgbClr val="0D928B"/>
          </a:solidFill>
          <a:ln w="12700">
            <a:solidFill>
              <a:srgbClr val="0D928B">
                <a:alpha val="0"/>
              </a:srgbClr>
            </a:solidFill>
            <a:prstDash val="solid"/>
          </a:ln>
        </p:spPr>
        <p:txBody>
          <a:bodyPr/>
          <a:lstStyle/>
          <a:p>
            <a:endParaRPr/>
          </a:p>
        </p:txBody>
      </p:sp>
      <p:sp>
        <p:nvSpPr>
          <p:cNvPr id="11" name="Text 8"/>
          <p:cNvSpPr/>
          <p:nvPr/>
        </p:nvSpPr>
        <p:spPr>
          <a:xfrm>
            <a:off x="7982712" y="1773936"/>
            <a:ext cx="3392424" cy="420624"/>
          </a:xfrm>
          <a:prstGeom prst="rect">
            <a:avLst/>
          </a:prstGeom>
          <a:noFill/>
          <a:ln/>
        </p:spPr>
        <p:txBody>
          <a:bodyPr wrap="square" lIns="0" tIns="0" rIns="0" bIns="0" rtlCol="0" anchor="ctr">
            <a:normAutofit/>
          </a:bodyPr>
          <a:lstStyle/>
          <a:p>
            <a:pPr marL="0" indent="0" algn="l">
              <a:buNone/>
            </a:pPr>
            <a:r>
              <a:rPr lang="en-US" sz="2750" b="1" dirty="0">
                <a:solidFill>
                  <a:srgbClr val="0D928B"/>
                </a:solidFill>
                <a:latin typeface="Arial" pitchFamily="34" charset="0"/>
                <a:ea typeface="Arial" pitchFamily="34" charset="-122"/>
                <a:cs typeface="Arial" pitchFamily="34" charset="-120"/>
              </a:rPr>
              <a:t>5.404.530</a:t>
            </a:r>
            <a:endParaRPr lang="en-US" sz="2750" dirty="0"/>
          </a:p>
        </p:txBody>
      </p:sp>
      <p:sp>
        <p:nvSpPr>
          <p:cNvPr id="12" name="Text 9"/>
          <p:cNvSpPr/>
          <p:nvPr/>
        </p:nvSpPr>
        <p:spPr>
          <a:xfrm>
            <a:off x="7982712" y="2304288"/>
            <a:ext cx="3392424" cy="548640"/>
          </a:xfrm>
          <a:prstGeom prst="rect">
            <a:avLst/>
          </a:prstGeom>
          <a:noFill/>
          <a:ln/>
        </p:spPr>
        <p:txBody>
          <a:bodyPr wrap="square" lIns="0" tIns="0" rIns="0" bIns="0" rtlCol="0" anchor="t">
            <a:normAutofit/>
          </a:bodyPr>
          <a:lstStyle/>
          <a:p>
            <a:pPr marL="0" indent="0" algn="l">
              <a:buNone/>
            </a:pPr>
            <a:r>
              <a:rPr lang="en-US" sz="1350" dirty="0">
                <a:solidFill>
                  <a:srgbClr val="587083"/>
                </a:solidFill>
                <a:latin typeface="Arial" pitchFamily="34" charset="0"/>
                <a:ea typeface="Arial" pitchFamily="34" charset="-122"/>
                <a:cs typeface="Arial" pitchFamily="34" charset="-120"/>
              </a:rPr>
              <a:t>bản ghi lịch sử được mô phỏng trong giai đoạn 01/05–10/09/2026.</a:t>
            </a:r>
            <a:endParaRPr lang="en-US" sz="1350" dirty="0"/>
          </a:p>
        </p:txBody>
      </p:sp>
      <p:sp>
        <p:nvSpPr>
          <p:cNvPr id="13" name="Shape 10"/>
          <p:cNvSpPr/>
          <p:nvPr/>
        </p:nvSpPr>
        <p:spPr>
          <a:xfrm>
            <a:off x="7808976" y="3081528"/>
            <a:ext cx="3739896" cy="1225296"/>
          </a:xfrm>
          <a:prstGeom prst="roundRect">
            <a:avLst>
              <a:gd name="adj" fmla="val 11194"/>
            </a:avLst>
          </a:prstGeom>
          <a:solidFill>
            <a:srgbClr val="FFFFFF"/>
          </a:solidFill>
          <a:ln w="12700">
            <a:solidFill>
              <a:srgbClr val="FFFFFF">
                <a:alpha val="0"/>
              </a:srgbClr>
            </a:solidFill>
            <a:prstDash val="solid"/>
          </a:ln>
        </p:spPr>
        <p:txBody>
          <a:bodyPr/>
          <a:lstStyle/>
          <a:p>
            <a:endParaRPr/>
          </a:p>
        </p:txBody>
      </p:sp>
      <p:sp>
        <p:nvSpPr>
          <p:cNvPr id="14" name="Shape 11"/>
          <p:cNvSpPr/>
          <p:nvPr/>
        </p:nvSpPr>
        <p:spPr>
          <a:xfrm>
            <a:off x="7808976" y="3081528"/>
            <a:ext cx="59436" cy="1225296"/>
          </a:xfrm>
          <a:prstGeom prst="rect">
            <a:avLst/>
          </a:prstGeom>
          <a:solidFill>
            <a:srgbClr val="E59C3B"/>
          </a:solidFill>
          <a:ln w="12700">
            <a:solidFill>
              <a:srgbClr val="E59C3B">
                <a:alpha val="0"/>
              </a:srgbClr>
            </a:solidFill>
            <a:prstDash val="solid"/>
          </a:ln>
        </p:spPr>
        <p:txBody>
          <a:bodyPr/>
          <a:lstStyle/>
          <a:p>
            <a:endParaRPr/>
          </a:p>
        </p:txBody>
      </p:sp>
      <p:sp>
        <p:nvSpPr>
          <p:cNvPr id="15" name="Text 12"/>
          <p:cNvSpPr/>
          <p:nvPr/>
        </p:nvSpPr>
        <p:spPr>
          <a:xfrm>
            <a:off x="7982712" y="3200400"/>
            <a:ext cx="3392424" cy="420624"/>
          </a:xfrm>
          <a:prstGeom prst="rect">
            <a:avLst/>
          </a:prstGeom>
          <a:noFill/>
          <a:ln/>
        </p:spPr>
        <p:txBody>
          <a:bodyPr wrap="square" lIns="0" tIns="0" rIns="0" bIns="0" rtlCol="0" anchor="ctr">
            <a:normAutofit/>
          </a:bodyPr>
          <a:lstStyle/>
          <a:p>
            <a:pPr marL="0" indent="0" algn="l">
              <a:buNone/>
            </a:pPr>
            <a:r>
              <a:rPr lang="en-US" sz="2750" b="1" dirty="0">
                <a:solidFill>
                  <a:srgbClr val="E59C3B"/>
                </a:solidFill>
                <a:latin typeface="Arial" pitchFamily="34" charset="0"/>
                <a:ea typeface="Arial" pitchFamily="34" charset="-122"/>
                <a:cs typeface="Arial" pitchFamily="34" charset="-120"/>
              </a:rPr>
              <a:t>10 phút</a:t>
            </a:r>
            <a:endParaRPr lang="en-US" sz="2750" dirty="0"/>
          </a:p>
        </p:txBody>
      </p:sp>
      <p:sp>
        <p:nvSpPr>
          <p:cNvPr id="16" name="Text 13"/>
          <p:cNvSpPr/>
          <p:nvPr/>
        </p:nvSpPr>
        <p:spPr>
          <a:xfrm>
            <a:off x="7982712" y="3730752"/>
            <a:ext cx="3392424" cy="502920"/>
          </a:xfrm>
          <a:prstGeom prst="rect">
            <a:avLst/>
          </a:prstGeom>
          <a:noFill/>
          <a:ln/>
        </p:spPr>
        <p:txBody>
          <a:bodyPr wrap="square" lIns="0" tIns="0" rIns="0" bIns="0" rtlCol="0" anchor="t">
            <a:normAutofit/>
          </a:bodyPr>
          <a:lstStyle/>
          <a:p>
            <a:pPr marL="0" indent="0" algn="l">
              <a:buNone/>
            </a:pPr>
            <a:r>
              <a:rPr lang="en-US" sz="1350" dirty="0">
                <a:solidFill>
                  <a:srgbClr val="587083"/>
                </a:solidFill>
                <a:latin typeface="Arial" pitchFamily="34" charset="0"/>
                <a:ea typeface="Arial" pitchFamily="34" charset="-122"/>
                <a:cs typeface="Arial" pitchFamily="34" charset="-120"/>
              </a:rPr>
              <a:t>mỗi bản ghi = ô H3 × loại xe × khoảng thời gian.</a:t>
            </a:r>
            <a:endParaRPr lang="en-US" sz="1350" dirty="0"/>
          </a:p>
        </p:txBody>
      </p:sp>
      <p:sp>
        <p:nvSpPr>
          <p:cNvPr id="17" name="Shape 14"/>
          <p:cNvSpPr/>
          <p:nvPr/>
        </p:nvSpPr>
        <p:spPr>
          <a:xfrm>
            <a:off x="630936" y="5266944"/>
            <a:ext cx="10954512" cy="676656"/>
          </a:xfrm>
          <a:prstGeom prst="roundRect">
            <a:avLst>
              <a:gd name="adj" fmla="val 20270"/>
            </a:avLst>
          </a:prstGeom>
          <a:solidFill>
            <a:srgbClr val="FFF1DA"/>
          </a:solidFill>
          <a:ln w="12700">
            <a:solidFill>
              <a:srgbClr val="FFF1DA">
                <a:alpha val="0"/>
              </a:srgbClr>
            </a:solidFill>
            <a:prstDash val="solid"/>
          </a:ln>
        </p:spPr>
        <p:txBody>
          <a:bodyPr/>
          <a:lstStyle/>
          <a:p>
            <a:endParaRPr lang="en-US" dirty="0"/>
          </a:p>
        </p:txBody>
      </p:sp>
      <p:sp>
        <p:nvSpPr>
          <p:cNvPr id="18" name="Text 15"/>
          <p:cNvSpPr/>
          <p:nvPr/>
        </p:nvSpPr>
        <p:spPr>
          <a:xfrm>
            <a:off x="832104" y="5404104"/>
            <a:ext cx="1076595" cy="329184"/>
          </a:xfrm>
          <a:prstGeom prst="rect">
            <a:avLst/>
          </a:prstGeom>
          <a:noFill/>
          <a:ln/>
        </p:spPr>
        <p:txBody>
          <a:bodyPr wrap="square" lIns="0" tIns="0" rIns="0" bIns="0" rtlCol="0" anchor="ctr">
            <a:normAutofit/>
          </a:bodyPr>
          <a:lstStyle/>
          <a:p>
            <a:pPr marL="0" indent="0" algn="l">
              <a:buNone/>
            </a:pPr>
            <a:r>
              <a:rPr lang="en-US" sz="1510" b="1" dirty="0" err="1">
                <a:solidFill>
                  <a:srgbClr val="9A6129"/>
                </a:solidFill>
                <a:latin typeface="Arial" pitchFamily="34" charset="0"/>
                <a:ea typeface="Arial" pitchFamily="34" charset="-122"/>
                <a:cs typeface="Arial" pitchFamily="34" charset="-120"/>
              </a:rPr>
              <a:t>Mô</a:t>
            </a:r>
            <a:r>
              <a:rPr lang="en-US" sz="1510" b="1" dirty="0">
                <a:solidFill>
                  <a:srgbClr val="9A6129"/>
                </a:solidFill>
                <a:latin typeface="Arial" pitchFamily="34" charset="0"/>
                <a:ea typeface="Arial" pitchFamily="34" charset="-122"/>
                <a:cs typeface="Arial" pitchFamily="34" charset="-120"/>
              </a:rPr>
              <a:t> </a:t>
            </a:r>
            <a:r>
              <a:rPr lang="en-US" sz="1510" b="1" dirty="0" err="1">
                <a:solidFill>
                  <a:srgbClr val="9A6129"/>
                </a:solidFill>
                <a:latin typeface="Arial" pitchFamily="34" charset="0"/>
                <a:ea typeface="Arial" pitchFamily="34" charset="-122"/>
                <a:cs typeface="Arial" pitchFamily="34" charset="-120"/>
              </a:rPr>
              <a:t>tả</a:t>
            </a:r>
            <a:r>
              <a:rPr lang="en-US" sz="1510" b="1" dirty="0">
                <a:solidFill>
                  <a:srgbClr val="9A6129"/>
                </a:solidFill>
                <a:latin typeface="Arial" pitchFamily="34" charset="0"/>
                <a:ea typeface="Arial" pitchFamily="34" charset="-122"/>
                <a:cs typeface="Arial" pitchFamily="34" charset="-120"/>
              </a:rPr>
              <a:t>:</a:t>
            </a:r>
            <a:endParaRPr lang="en-US" sz="1510" dirty="0"/>
          </a:p>
        </p:txBody>
      </p:sp>
      <p:sp>
        <p:nvSpPr>
          <p:cNvPr id="19" name="Text 16"/>
          <p:cNvSpPr/>
          <p:nvPr/>
        </p:nvSpPr>
        <p:spPr>
          <a:xfrm>
            <a:off x="1908699" y="5349240"/>
            <a:ext cx="9429861" cy="420624"/>
          </a:xfrm>
          <a:prstGeom prst="rect">
            <a:avLst/>
          </a:prstGeom>
          <a:noFill/>
          <a:ln/>
        </p:spPr>
        <p:txBody>
          <a:bodyPr wrap="square" lIns="0" tIns="0" rIns="0" bIns="0" rtlCol="0" anchor="ctr">
            <a:normAutofit/>
          </a:bodyPr>
          <a:lstStyle/>
          <a:p>
            <a:pPr marL="0" indent="0" algn="l">
              <a:buNone/>
            </a:pPr>
            <a:r>
              <a:rPr lang="en-US" sz="1470" dirty="0" err="1">
                <a:solidFill>
                  <a:srgbClr val="102639"/>
                </a:solidFill>
                <a:latin typeface="Arial" pitchFamily="34" charset="0"/>
                <a:cs typeface="Arial" pitchFamily="34" charset="-120"/>
              </a:rPr>
              <a:t>Dữ</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liệu</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được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sinh</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bằng</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cách</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dựa</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vào</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thống</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kê</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trên</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dữ</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liệu</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thật</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và</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từ</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đặc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điểm</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thực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tế</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tại</a:t>
            </a:r>
            <a:r>
              <a:rPr lang="en-US" sz="1470" dirty="0">
                <a:solidFill>
                  <a:srgbClr val="102639"/>
                </a:solidFill>
                <a:latin typeface="Arial" pitchFamily="34" charset="0"/>
                <a:cs typeface="Arial" pitchFamily="34" charset="-120"/>
              </a:rPr>
              <a:t> HCM.</a:t>
            </a:r>
            <a:endParaRPr lang="en-US" sz="14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fontScale="92500" lnSpcReduction="10000"/>
          </a:bodyPr>
          <a:lstStyle/>
          <a:p>
            <a:pPr marL="0" indent="0" algn="l">
              <a:buNone/>
            </a:pPr>
            <a:r>
              <a:rPr lang="en-US" sz="2650" b="1" dirty="0" err="1">
                <a:solidFill>
                  <a:srgbClr val="102639"/>
                </a:solidFill>
                <a:latin typeface="Arial" pitchFamily="34" charset="0"/>
                <a:ea typeface="Arial" pitchFamily="34" charset="-122"/>
                <a:cs typeface="Arial" pitchFamily="34" charset="-120"/>
              </a:rPr>
              <a:t>Xây</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dựng</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mô</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hình</a:t>
            </a:r>
            <a:r>
              <a:rPr lang="en-US" sz="2650" b="1" dirty="0">
                <a:solidFill>
                  <a:srgbClr val="102639"/>
                </a:solidFill>
                <a:latin typeface="Arial" pitchFamily="34" charset="0"/>
                <a:ea typeface="Arial" pitchFamily="34" charset="-122"/>
                <a:cs typeface="Arial" pitchFamily="34" charset="-120"/>
              </a:rPr>
              <a:t> baseline </a:t>
            </a:r>
            <a:r>
              <a:rPr lang="en-US" sz="2650" b="1" dirty="0" err="1">
                <a:solidFill>
                  <a:srgbClr val="102639"/>
                </a:solidFill>
                <a:latin typeface="Arial" pitchFamily="34" charset="0"/>
                <a:ea typeface="Arial" pitchFamily="34" charset="-122"/>
                <a:cs typeface="Arial" pitchFamily="34" charset="-120"/>
              </a:rPr>
              <a:t>và</a:t>
            </a:r>
            <a:r>
              <a:rPr lang="en-US" sz="2650" b="1" dirty="0">
                <a:solidFill>
                  <a:srgbClr val="102639"/>
                </a:solidFill>
                <a:latin typeface="Arial" pitchFamily="34" charset="0"/>
                <a:ea typeface="Arial" pitchFamily="34" charset="-122"/>
                <a:cs typeface="Arial" pitchFamily="34" charset="-120"/>
              </a:rPr>
              <a:t> so </a:t>
            </a:r>
            <a:r>
              <a:rPr lang="en-US" sz="2650" b="1" dirty="0" err="1">
                <a:solidFill>
                  <a:srgbClr val="102639"/>
                </a:solidFill>
                <a:latin typeface="Arial" pitchFamily="34" charset="0"/>
                <a:ea typeface="Arial" pitchFamily="34" charset="-122"/>
                <a:cs typeface="Arial" pitchFamily="34" charset="-120"/>
              </a:rPr>
              <a:t>sánh</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với</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mô</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hình</a:t>
            </a:r>
            <a:r>
              <a:rPr lang="en-US" sz="2650" b="1" dirty="0">
                <a:solidFill>
                  <a:srgbClr val="102639"/>
                </a:solidFill>
                <a:latin typeface="Arial" pitchFamily="34" charset="0"/>
                <a:ea typeface="Arial" pitchFamily="34" charset="-122"/>
                <a:cs typeface="Arial" pitchFamily="34" charset="-120"/>
              </a:rPr>
              <a:t> machine learning để </a:t>
            </a:r>
            <a:r>
              <a:rPr lang="en-US" sz="2650" b="1" dirty="0" err="1">
                <a:solidFill>
                  <a:srgbClr val="102639"/>
                </a:solidFill>
                <a:latin typeface="Arial" pitchFamily="34" charset="0"/>
                <a:ea typeface="Arial" pitchFamily="34" charset="-122"/>
                <a:cs typeface="Arial" pitchFamily="34" charset="-120"/>
              </a:rPr>
              <a:t>kiểm</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chứng</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hiệu</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quả</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dự</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đoán</a:t>
            </a:r>
            <a:r>
              <a:rPr lang="en-US" sz="2650" b="1" dirty="0">
                <a:solidFill>
                  <a:srgbClr val="102639"/>
                </a:solidFill>
                <a:latin typeface="Arial" pitchFamily="34" charset="0"/>
                <a:ea typeface="Arial" pitchFamily="34" charset="-122"/>
                <a:cs typeface="Arial" pitchFamily="34" charset="-120"/>
              </a:rPr>
              <a:t>.</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04</a:t>
            </a:r>
            <a:endParaRPr lang="en-US" sz="1100" dirty="0"/>
          </a:p>
        </p:txBody>
      </p:sp>
      <p:sp>
        <p:nvSpPr>
          <p:cNvPr id="8" name="Text 6"/>
          <p:cNvSpPr/>
          <p:nvPr/>
        </p:nvSpPr>
        <p:spPr>
          <a:xfrm>
            <a:off x="594360" y="1527048"/>
            <a:ext cx="11018520" cy="621792"/>
          </a:xfrm>
          <a:prstGeom prst="rect">
            <a:avLst/>
          </a:prstGeom>
          <a:noFill/>
          <a:ln/>
        </p:spPr>
        <p:txBody>
          <a:bodyPr wrap="square" lIns="0" tIns="0" rIns="0" bIns="0" rtlCol="0" anchor="t">
            <a:normAutofit/>
          </a:bodyPr>
          <a:lstStyle/>
          <a:p>
            <a:pPr marL="0" indent="0" algn="l">
              <a:buNone/>
            </a:pPr>
            <a:r>
              <a:rPr lang="en-US" sz="1700" dirty="0">
                <a:solidFill>
                  <a:srgbClr val="587083"/>
                </a:solidFill>
                <a:latin typeface="Arial" pitchFamily="34" charset="0"/>
                <a:ea typeface="Arial" pitchFamily="34" charset="-122"/>
                <a:cs typeface="Arial" pitchFamily="34" charset="-120"/>
              </a:rPr>
              <a:t>Ba phương pháp baseline đều dự báo từ lịch sử đã biết trước thời điểm T. Kết quả trên VALIDATION cho thấy Naive_recent là baseline tốt nhất trong ba cách.</a:t>
            </a:r>
            <a:endParaRPr lang="en-US" sz="1700" dirty="0"/>
          </a:p>
        </p:txBody>
      </p:sp>
      <p:sp>
        <p:nvSpPr>
          <p:cNvPr id="9" name="Shape 7"/>
          <p:cNvSpPr/>
          <p:nvPr/>
        </p:nvSpPr>
        <p:spPr>
          <a:xfrm>
            <a:off x="594360" y="2395728"/>
            <a:ext cx="3675888"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0" name="Shape 8"/>
          <p:cNvSpPr/>
          <p:nvPr/>
        </p:nvSpPr>
        <p:spPr>
          <a:xfrm>
            <a:off x="594360" y="2395728"/>
            <a:ext cx="68580" cy="1261872"/>
          </a:xfrm>
          <a:prstGeom prst="rect">
            <a:avLst/>
          </a:prstGeom>
          <a:solidFill>
            <a:srgbClr val="0D928B"/>
          </a:solidFill>
          <a:ln w="12700">
            <a:solidFill>
              <a:srgbClr val="0D928B"/>
            </a:solidFill>
            <a:prstDash val="solid"/>
          </a:ln>
        </p:spPr>
        <p:txBody>
          <a:bodyPr/>
          <a:lstStyle/>
          <a:p>
            <a:endParaRPr/>
          </a:p>
        </p:txBody>
      </p:sp>
      <p:sp>
        <p:nvSpPr>
          <p:cNvPr id="11" name="Text 9"/>
          <p:cNvSpPr/>
          <p:nvPr/>
        </p:nvSpPr>
        <p:spPr>
          <a:xfrm>
            <a:off x="777240" y="2523744"/>
            <a:ext cx="3346704"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Naive_recent</a:t>
            </a:r>
            <a:endParaRPr lang="en-US" sz="1670" dirty="0"/>
          </a:p>
        </p:txBody>
      </p:sp>
      <p:sp>
        <p:nvSpPr>
          <p:cNvPr id="12" name="Text 10"/>
          <p:cNvSpPr/>
          <p:nvPr/>
        </p:nvSpPr>
        <p:spPr>
          <a:xfrm>
            <a:off x="777240" y="2880360"/>
            <a:ext cx="3337560"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ở các bucket gần nhất đã đóng trước T.</a:t>
            </a:r>
            <a:endParaRPr lang="en-US" sz="1440" dirty="0"/>
          </a:p>
        </p:txBody>
      </p:sp>
      <p:sp>
        <p:nvSpPr>
          <p:cNvPr id="13" name="Shape 11"/>
          <p:cNvSpPr/>
          <p:nvPr/>
        </p:nvSpPr>
        <p:spPr>
          <a:xfrm>
            <a:off x="4407408" y="2395728"/>
            <a:ext cx="3511296"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4" name="Shape 12"/>
          <p:cNvSpPr/>
          <p:nvPr/>
        </p:nvSpPr>
        <p:spPr>
          <a:xfrm>
            <a:off x="4407408" y="2395728"/>
            <a:ext cx="68580" cy="1261872"/>
          </a:xfrm>
          <a:prstGeom prst="rect">
            <a:avLst/>
          </a:prstGeom>
          <a:solidFill>
            <a:srgbClr val="31729B"/>
          </a:solidFill>
          <a:ln w="12700">
            <a:solidFill>
              <a:srgbClr val="31729B"/>
            </a:solidFill>
            <a:prstDash val="solid"/>
          </a:ln>
        </p:spPr>
        <p:txBody>
          <a:bodyPr/>
          <a:lstStyle/>
          <a:p>
            <a:endParaRPr/>
          </a:p>
        </p:txBody>
      </p:sp>
      <p:sp>
        <p:nvSpPr>
          <p:cNvPr id="15" name="Text 13"/>
          <p:cNvSpPr/>
          <p:nvPr/>
        </p:nvSpPr>
        <p:spPr>
          <a:xfrm>
            <a:off x="4590288" y="2523744"/>
            <a:ext cx="3182112"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Naive_1d</a:t>
            </a:r>
            <a:endParaRPr lang="en-US" sz="1670" dirty="0"/>
          </a:p>
        </p:txBody>
      </p:sp>
      <p:sp>
        <p:nvSpPr>
          <p:cNvPr id="16" name="Text 14"/>
          <p:cNvSpPr/>
          <p:nvPr/>
        </p:nvSpPr>
        <p:spPr>
          <a:xfrm>
            <a:off x="4590288" y="2880360"/>
            <a:ext cx="3172968"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tại cùng thời điểm của ngày trước.</a:t>
            </a:r>
            <a:endParaRPr lang="en-US" sz="1440" dirty="0"/>
          </a:p>
        </p:txBody>
      </p:sp>
      <p:sp>
        <p:nvSpPr>
          <p:cNvPr id="17" name="Shape 15"/>
          <p:cNvSpPr/>
          <p:nvPr/>
        </p:nvSpPr>
        <p:spPr>
          <a:xfrm>
            <a:off x="8055864" y="2395728"/>
            <a:ext cx="3520440"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8" name="Shape 16"/>
          <p:cNvSpPr/>
          <p:nvPr/>
        </p:nvSpPr>
        <p:spPr>
          <a:xfrm>
            <a:off x="8055864" y="2395728"/>
            <a:ext cx="68580" cy="1261872"/>
          </a:xfrm>
          <a:prstGeom prst="rect">
            <a:avLst/>
          </a:prstGeom>
          <a:solidFill>
            <a:srgbClr val="E59C3B"/>
          </a:solidFill>
          <a:ln w="12700">
            <a:solidFill>
              <a:srgbClr val="E59C3B"/>
            </a:solidFill>
            <a:prstDash val="solid"/>
          </a:ln>
        </p:spPr>
        <p:txBody>
          <a:bodyPr/>
          <a:lstStyle/>
          <a:p>
            <a:endParaRPr/>
          </a:p>
        </p:txBody>
      </p:sp>
      <p:sp>
        <p:nvSpPr>
          <p:cNvPr id="19" name="Text 17"/>
          <p:cNvSpPr/>
          <p:nvPr/>
        </p:nvSpPr>
        <p:spPr>
          <a:xfrm>
            <a:off x="8238744" y="2523744"/>
            <a:ext cx="319125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Naive_7d</a:t>
            </a:r>
            <a:endParaRPr lang="en-US" sz="1670" dirty="0"/>
          </a:p>
        </p:txBody>
      </p:sp>
      <p:sp>
        <p:nvSpPr>
          <p:cNvPr id="20" name="Text 18"/>
          <p:cNvSpPr/>
          <p:nvPr/>
        </p:nvSpPr>
        <p:spPr>
          <a:xfrm>
            <a:off x="8238744" y="2880360"/>
            <a:ext cx="3182112"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tại cùng thời điểm của tuần trước.</a:t>
            </a:r>
            <a:endParaRPr lang="en-US" sz="1440" dirty="0"/>
          </a:p>
        </p:txBody>
      </p:sp>
      <p:sp>
        <p:nvSpPr>
          <p:cNvPr id="21" name="Text 19"/>
          <p:cNvSpPr/>
          <p:nvPr/>
        </p:nvSpPr>
        <p:spPr>
          <a:xfrm>
            <a:off x="630936" y="4142232"/>
            <a:ext cx="10698480" cy="320040"/>
          </a:xfrm>
          <a:prstGeom prst="rect">
            <a:avLst/>
          </a:prstGeom>
          <a:noFill/>
          <a:ln/>
        </p:spPr>
        <p:txBody>
          <a:bodyPr wrap="square" lIns="0" tIns="0" rIns="0" bIns="0" rtlCol="0" anchor="ctr">
            <a:normAutofit/>
          </a:bodyPr>
          <a:lstStyle/>
          <a:p>
            <a:pPr marL="0" indent="0" algn="l">
              <a:buNone/>
            </a:pPr>
            <a:r>
              <a:rPr lang="en-US" sz="1600" b="1" dirty="0">
                <a:solidFill>
                  <a:srgbClr val="102639"/>
                </a:solidFill>
                <a:latin typeface="Arial" pitchFamily="34" charset="0"/>
                <a:ea typeface="Arial" pitchFamily="34" charset="-122"/>
                <a:cs typeface="Arial" pitchFamily="34" charset="-120"/>
              </a:rPr>
              <a:t>WMAPE VALIDATION — baseline Naive_recent, ví dụ với Car</a:t>
            </a:r>
            <a:endParaRPr lang="en-US" sz="1600" dirty="0"/>
          </a:p>
        </p:txBody>
      </p:sp>
      <p:sp>
        <p:nvSpPr>
          <p:cNvPr id="22" name="Shape 20"/>
          <p:cNvSpPr/>
          <p:nvPr/>
        </p:nvSpPr>
        <p:spPr>
          <a:xfrm>
            <a:off x="612648"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3" name="Text 21"/>
          <p:cNvSpPr/>
          <p:nvPr/>
        </p:nvSpPr>
        <p:spPr>
          <a:xfrm>
            <a:off x="804672"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H10</a:t>
            </a:r>
            <a:endParaRPr lang="en-US" sz="1550" dirty="0"/>
          </a:p>
        </p:txBody>
      </p:sp>
      <p:sp>
        <p:nvSpPr>
          <p:cNvPr id="24" name="Text 22"/>
          <p:cNvSpPr/>
          <p:nvPr/>
        </p:nvSpPr>
        <p:spPr>
          <a:xfrm>
            <a:off x="1911096"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22,76%</a:t>
            </a:r>
            <a:endParaRPr lang="en-US" sz="2500" dirty="0"/>
          </a:p>
        </p:txBody>
      </p:sp>
      <p:sp>
        <p:nvSpPr>
          <p:cNvPr id="25" name="Shape 23"/>
          <p:cNvSpPr/>
          <p:nvPr/>
        </p:nvSpPr>
        <p:spPr>
          <a:xfrm>
            <a:off x="4416552"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6" name="Text 24"/>
          <p:cNvSpPr/>
          <p:nvPr/>
        </p:nvSpPr>
        <p:spPr>
          <a:xfrm>
            <a:off x="4608576"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H30</a:t>
            </a:r>
            <a:endParaRPr lang="en-US" sz="1550" dirty="0"/>
          </a:p>
        </p:txBody>
      </p:sp>
      <p:sp>
        <p:nvSpPr>
          <p:cNvPr id="27" name="Text 25"/>
          <p:cNvSpPr/>
          <p:nvPr/>
        </p:nvSpPr>
        <p:spPr>
          <a:xfrm>
            <a:off x="5715000"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32,42%</a:t>
            </a:r>
            <a:endParaRPr lang="en-US" sz="2500" dirty="0"/>
          </a:p>
        </p:txBody>
      </p:sp>
      <p:sp>
        <p:nvSpPr>
          <p:cNvPr id="28" name="Shape 26"/>
          <p:cNvSpPr/>
          <p:nvPr/>
        </p:nvSpPr>
        <p:spPr>
          <a:xfrm>
            <a:off x="8220456"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9" name="Text 27"/>
          <p:cNvSpPr/>
          <p:nvPr/>
        </p:nvSpPr>
        <p:spPr>
          <a:xfrm>
            <a:off x="8412480"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H60</a:t>
            </a:r>
            <a:endParaRPr lang="en-US" sz="1550" dirty="0"/>
          </a:p>
        </p:txBody>
      </p:sp>
      <p:sp>
        <p:nvSpPr>
          <p:cNvPr id="30" name="Text 28"/>
          <p:cNvSpPr/>
          <p:nvPr/>
        </p:nvSpPr>
        <p:spPr>
          <a:xfrm>
            <a:off x="9518904"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47,89%</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fontScale="92500" lnSpcReduction="10000"/>
          </a:bodyPr>
          <a:lstStyle/>
          <a:p>
            <a:pPr marL="0" indent="0" algn="l">
              <a:buNone/>
            </a:pPr>
            <a:r>
              <a:rPr lang="en-US" sz="2650" b="1" dirty="0">
                <a:solidFill>
                  <a:srgbClr val="102639"/>
                </a:solidFill>
                <a:latin typeface="Arial" pitchFamily="34" charset="0"/>
                <a:ea typeface="Arial" pitchFamily="34" charset="-122"/>
                <a:cs typeface="Arial" pitchFamily="34" charset="-120"/>
              </a:rPr>
              <a:t>LightGBM thắng 5/6 phép so sánh trên VALIDATION nên được chọn làm thuật toán thống nhất.</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05</a:t>
            </a:r>
            <a:endParaRPr lang="en-US" sz="1100" dirty="0"/>
          </a:p>
        </p:txBody>
      </p:sp>
      <p:sp>
        <p:nvSpPr>
          <p:cNvPr id="8" name="Shape 6"/>
          <p:cNvSpPr/>
          <p:nvPr/>
        </p:nvSpPr>
        <p:spPr>
          <a:xfrm>
            <a:off x="630936" y="1840252"/>
            <a:ext cx="3191256" cy="3236976"/>
          </a:xfrm>
          <a:prstGeom prst="roundRect">
            <a:avLst>
              <a:gd name="adj" fmla="val 4298"/>
            </a:avLst>
          </a:prstGeom>
          <a:solidFill>
            <a:srgbClr val="132B43"/>
          </a:solidFill>
          <a:ln w="12700">
            <a:solidFill>
              <a:srgbClr val="132B43">
                <a:alpha val="0"/>
              </a:srgbClr>
            </a:solidFill>
            <a:prstDash val="solid"/>
          </a:ln>
        </p:spPr>
        <p:txBody>
          <a:bodyPr/>
          <a:lstStyle/>
          <a:p>
            <a:endParaRPr/>
          </a:p>
        </p:txBody>
      </p:sp>
      <p:sp>
        <p:nvSpPr>
          <p:cNvPr id="9" name="Text 7"/>
          <p:cNvSpPr/>
          <p:nvPr/>
        </p:nvSpPr>
        <p:spPr>
          <a:xfrm>
            <a:off x="877824" y="1984248"/>
            <a:ext cx="2606040" cy="914400"/>
          </a:xfrm>
          <a:prstGeom prst="rect">
            <a:avLst/>
          </a:prstGeom>
          <a:noFill/>
          <a:ln/>
        </p:spPr>
        <p:txBody>
          <a:bodyPr wrap="square" lIns="0" tIns="0" rIns="0" bIns="0" rtlCol="0" anchor="ctr">
            <a:normAutofit/>
          </a:bodyPr>
          <a:lstStyle/>
          <a:p>
            <a:pPr marL="0" indent="0" algn="ctr">
              <a:buNone/>
            </a:pPr>
            <a:r>
              <a:rPr lang="en-US" sz="5400" b="1" dirty="0">
                <a:solidFill>
                  <a:srgbClr val="FFFFFF"/>
                </a:solidFill>
                <a:latin typeface="Arial" pitchFamily="34" charset="0"/>
                <a:ea typeface="Arial" pitchFamily="34" charset="-122"/>
                <a:cs typeface="Arial" pitchFamily="34" charset="-120"/>
              </a:rPr>
              <a:t>5 / 6</a:t>
            </a:r>
            <a:endParaRPr lang="en-US" sz="5400" dirty="0"/>
          </a:p>
        </p:txBody>
      </p:sp>
      <p:sp>
        <p:nvSpPr>
          <p:cNvPr id="10" name="Text 8"/>
          <p:cNvSpPr/>
          <p:nvPr/>
        </p:nvSpPr>
        <p:spPr>
          <a:xfrm>
            <a:off x="932688" y="3017520"/>
            <a:ext cx="2560320" cy="914400"/>
          </a:xfrm>
          <a:prstGeom prst="rect">
            <a:avLst/>
          </a:prstGeom>
          <a:noFill/>
          <a:ln/>
        </p:spPr>
        <p:txBody>
          <a:bodyPr wrap="square" lIns="0" tIns="0" rIns="0" bIns="0" rtlCol="0" anchor="ctr">
            <a:normAutofit/>
          </a:bodyPr>
          <a:lstStyle/>
          <a:p>
            <a:pPr marL="0" indent="0" algn="ctr">
              <a:buNone/>
            </a:pPr>
            <a:r>
              <a:rPr lang="en-US" sz="1800" dirty="0">
                <a:solidFill>
                  <a:srgbClr val="D2E6EC"/>
                </a:solidFill>
                <a:latin typeface="Arial" pitchFamily="34" charset="0"/>
                <a:ea typeface="Arial" pitchFamily="34" charset="-122"/>
                <a:cs typeface="Arial" pitchFamily="34" charset="-120"/>
              </a:rPr>
              <a:t>tổ hợp có WMAPE</a:t>
            </a:r>
            <a:endParaRPr lang="en-US" sz="1800" dirty="0"/>
          </a:p>
          <a:p>
            <a:pPr marL="0" indent="0" algn="ctr">
              <a:buNone/>
            </a:pPr>
            <a:r>
              <a:rPr lang="en-US" sz="1800" dirty="0">
                <a:solidFill>
                  <a:srgbClr val="D2E6EC"/>
                </a:solidFill>
                <a:latin typeface="Arial" pitchFamily="34" charset="0"/>
                <a:ea typeface="Arial" pitchFamily="34" charset="-122"/>
                <a:cs typeface="Arial" pitchFamily="34" charset="-120"/>
              </a:rPr>
              <a:t>thấp nhất với LightGBM</a:t>
            </a:r>
            <a:endParaRPr lang="en-US" sz="1800" dirty="0"/>
          </a:p>
        </p:txBody>
      </p:sp>
      <p:sp>
        <p:nvSpPr>
          <p:cNvPr id="11" name="Shape 9"/>
          <p:cNvSpPr/>
          <p:nvPr/>
        </p:nvSpPr>
        <p:spPr>
          <a:xfrm>
            <a:off x="4062984" y="1655064"/>
            <a:ext cx="7498080" cy="1380744"/>
          </a:xfrm>
          <a:prstGeom prst="roundRect">
            <a:avLst>
              <a:gd name="adj" fmla="val 9934"/>
            </a:avLst>
          </a:prstGeom>
          <a:solidFill>
            <a:srgbClr val="FFFFFF"/>
          </a:solidFill>
          <a:ln w="12700">
            <a:solidFill>
              <a:srgbClr val="FFFFFF">
                <a:alpha val="0"/>
              </a:srgbClr>
            </a:solidFill>
            <a:prstDash val="solid"/>
          </a:ln>
        </p:spPr>
        <p:txBody>
          <a:bodyPr/>
          <a:lstStyle/>
          <a:p>
            <a:endParaRPr/>
          </a:p>
        </p:txBody>
      </p:sp>
      <p:sp>
        <p:nvSpPr>
          <p:cNvPr id="12" name="Shape 10"/>
          <p:cNvSpPr/>
          <p:nvPr/>
        </p:nvSpPr>
        <p:spPr>
          <a:xfrm>
            <a:off x="4050792" y="1673352"/>
            <a:ext cx="68580" cy="1380744"/>
          </a:xfrm>
          <a:prstGeom prst="rect">
            <a:avLst/>
          </a:prstGeom>
          <a:solidFill>
            <a:srgbClr val="E59C3B"/>
          </a:solidFill>
          <a:ln w="12700">
            <a:solidFill>
              <a:srgbClr val="E59C3B"/>
            </a:solidFill>
            <a:prstDash val="solid"/>
          </a:ln>
        </p:spPr>
        <p:txBody>
          <a:bodyPr/>
          <a:lstStyle/>
          <a:p>
            <a:endParaRPr/>
          </a:p>
        </p:txBody>
      </p:sp>
      <p:sp>
        <p:nvSpPr>
          <p:cNvPr id="13" name="Text 11"/>
          <p:cNvSpPr/>
          <p:nvPr/>
        </p:nvSpPr>
        <p:spPr>
          <a:xfrm>
            <a:off x="4233672" y="1801368"/>
            <a:ext cx="716889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Car · H10: ngoại lệ</a:t>
            </a:r>
            <a:endParaRPr lang="en-US" sz="1670" dirty="0"/>
          </a:p>
        </p:txBody>
      </p:sp>
      <p:sp>
        <p:nvSpPr>
          <p:cNvPr id="14" name="Text 12"/>
          <p:cNvSpPr/>
          <p:nvPr/>
        </p:nvSpPr>
        <p:spPr>
          <a:xfrm>
            <a:off x="4233672" y="2157984"/>
            <a:ext cx="7159752" cy="822960"/>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XGBoost 15,32% so với LightGBM 15,47%; chênh lệch </a:t>
            </a:r>
            <a:r>
              <a:rPr lang="en-US" sz="1440" dirty="0" err="1">
                <a:solidFill>
                  <a:srgbClr val="587083"/>
                </a:solidFill>
                <a:latin typeface="Arial" pitchFamily="34" charset="0"/>
                <a:ea typeface="Arial" pitchFamily="34" charset="-122"/>
                <a:cs typeface="Arial" pitchFamily="34" charset="-120"/>
              </a:rPr>
              <a:t>chỉ</a:t>
            </a:r>
            <a:r>
              <a:rPr lang="en-US" sz="1440" dirty="0">
                <a:solidFill>
                  <a:srgbClr val="587083"/>
                </a:solidFill>
                <a:latin typeface="Arial" pitchFamily="34" charset="0"/>
                <a:ea typeface="Arial" pitchFamily="34" charset="-122"/>
                <a:cs typeface="Arial" pitchFamily="34" charset="-120"/>
              </a:rPr>
              <a:t> 0,15%. </a:t>
            </a:r>
            <a:endParaRPr lang="en-US" sz="1440" dirty="0"/>
          </a:p>
        </p:txBody>
      </p:sp>
      <p:sp>
        <p:nvSpPr>
          <p:cNvPr id="15" name="Shape 13"/>
          <p:cNvSpPr/>
          <p:nvPr/>
        </p:nvSpPr>
        <p:spPr>
          <a:xfrm>
            <a:off x="4119372" y="3672337"/>
            <a:ext cx="749808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6" name="Shape 14"/>
          <p:cNvSpPr/>
          <p:nvPr/>
        </p:nvSpPr>
        <p:spPr>
          <a:xfrm>
            <a:off x="4046583" y="3694176"/>
            <a:ext cx="68580" cy="1508760"/>
          </a:xfrm>
          <a:prstGeom prst="rect">
            <a:avLst/>
          </a:prstGeom>
          <a:solidFill>
            <a:srgbClr val="0D928B"/>
          </a:solidFill>
          <a:ln w="12700">
            <a:solidFill>
              <a:srgbClr val="0D928B"/>
            </a:solidFill>
            <a:prstDash val="solid"/>
          </a:ln>
        </p:spPr>
        <p:txBody>
          <a:bodyPr/>
          <a:lstStyle/>
          <a:p>
            <a:endParaRPr/>
          </a:p>
        </p:txBody>
      </p:sp>
      <p:sp>
        <p:nvSpPr>
          <p:cNvPr id="17" name="Text 15"/>
          <p:cNvSpPr/>
          <p:nvPr/>
        </p:nvSpPr>
        <p:spPr>
          <a:xfrm>
            <a:off x="4223004" y="3789833"/>
            <a:ext cx="716889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H30/H60: LightGBM tốt nhất</a:t>
            </a:r>
            <a:endParaRPr lang="en-US" sz="1670" dirty="0"/>
          </a:p>
        </p:txBody>
      </p:sp>
      <p:sp>
        <p:nvSpPr>
          <p:cNvPr id="18" name="Text 16"/>
          <p:cNvSpPr/>
          <p:nvPr/>
        </p:nvSpPr>
        <p:spPr>
          <a:xfrm>
            <a:off x="4223004" y="4197762"/>
            <a:ext cx="7159752" cy="950976"/>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Cả bốn trường hợp Car và Motorcycle ở H30/H60 đều có WMAPE nhỏ nhất với LightGBM.</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a:extLst>
            <a:ext uri="{FF2B5EF4-FFF2-40B4-BE49-F238E27FC236}">
              <a16:creationId xmlns:a16="http://schemas.microsoft.com/office/drawing/2014/main" id="{AD3E508C-6D26-D23A-2842-EDEDB7366F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2E5A3A-CEAF-76BB-EC45-5ADF9928EA6A}"/>
              </a:ext>
            </a:extLst>
          </p:cNvPr>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a:extLst>
              <a:ext uri="{FF2B5EF4-FFF2-40B4-BE49-F238E27FC236}">
                <a16:creationId xmlns:a16="http://schemas.microsoft.com/office/drawing/2014/main" id="{93BE2E67-45F9-D39D-8FF6-3C7FAB1DE651}"/>
              </a:ext>
            </a:extLst>
          </p:cNvPr>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a:extLst>
              <a:ext uri="{FF2B5EF4-FFF2-40B4-BE49-F238E27FC236}">
                <a16:creationId xmlns:a16="http://schemas.microsoft.com/office/drawing/2014/main" id="{C6796EAB-078C-AF49-7485-44B65AE0E0AE}"/>
              </a:ext>
            </a:extLst>
          </p:cNvPr>
          <p:cNvSpPr/>
          <p:nvPr/>
        </p:nvSpPr>
        <p:spPr>
          <a:xfrm>
            <a:off x="512064" y="658368"/>
            <a:ext cx="11137392" cy="722376"/>
          </a:xfrm>
          <a:prstGeom prst="rect">
            <a:avLst/>
          </a:prstGeom>
          <a:noFill/>
          <a:ln/>
        </p:spPr>
        <p:txBody>
          <a:bodyPr wrap="square" lIns="0" tIns="0" rIns="0" bIns="0" rtlCol="0" anchor="t">
            <a:normAutofit/>
          </a:bodyPr>
          <a:lstStyle/>
          <a:p>
            <a:pPr marL="0" indent="0" algn="l">
              <a:buNone/>
            </a:pPr>
            <a:r>
              <a:rPr lang="en-US" sz="2650" b="1" dirty="0" err="1">
                <a:solidFill>
                  <a:srgbClr val="102639"/>
                </a:solidFill>
                <a:latin typeface="Arial" pitchFamily="34" charset="0"/>
                <a:ea typeface="Arial" pitchFamily="34" charset="-122"/>
                <a:cs typeface="Arial" pitchFamily="34" charset="-120"/>
              </a:rPr>
              <a:t>Kết</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quả</a:t>
            </a:r>
            <a:r>
              <a:rPr lang="en-US" sz="2650" b="1" dirty="0">
                <a:solidFill>
                  <a:srgbClr val="102639"/>
                </a:solidFill>
                <a:latin typeface="Arial" pitchFamily="34" charset="0"/>
                <a:ea typeface="Arial" pitchFamily="34" charset="-122"/>
                <a:cs typeface="Arial" pitchFamily="34" charset="-120"/>
              </a:rPr>
              <a:t> so </a:t>
            </a:r>
            <a:r>
              <a:rPr lang="en-US" sz="2650" b="1" dirty="0" err="1">
                <a:solidFill>
                  <a:srgbClr val="102639"/>
                </a:solidFill>
                <a:latin typeface="Arial" pitchFamily="34" charset="0"/>
                <a:ea typeface="Arial" pitchFamily="34" charset="-122"/>
                <a:cs typeface="Arial" pitchFamily="34" charset="-120"/>
              </a:rPr>
              <a:t>sánh</a:t>
            </a:r>
            <a:endParaRPr lang="en-US" sz="2650" dirty="0"/>
          </a:p>
        </p:txBody>
      </p:sp>
      <p:sp>
        <p:nvSpPr>
          <p:cNvPr id="5" name="Shape 3">
            <a:extLst>
              <a:ext uri="{FF2B5EF4-FFF2-40B4-BE49-F238E27FC236}">
                <a16:creationId xmlns:a16="http://schemas.microsoft.com/office/drawing/2014/main" id="{31BA8790-9BE7-AB8C-DBF7-CC586043ADCA}"/>
              </a:ext>
            </a:extLst>
          </p:cNvPr>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a:extLst>
              <a:ext uri="{FF2B5EF4-FFF2-40B4-BE49-F238E27FC236}">
                <a16:creationId xmlns:a16="http://schemas.microsoft.com/office/drawing/2014/main" id="{9DEA4644-CDD4-31A3-A271-695C78FC7A3B}"/>
              </a:ext>
            </a:extLst>
          </p:cNvPr>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06</a:t>
            </a:r>
          </a:p>
        </p:txBody>
      </p:sp>
      <p:pic>
        <p:nvPicPr>
          <p:cNvPr id="23" name="Picture 22">
            <a:extLst>
              <a:ext uri="{FF2B5EF4-FFF2-40B4-BE49-F238E27FC236}">
                <a16:creationId xmlns:a16="http://schemas.microsoft.com/office/drawing/2014/main" id="{19CB8936-7775-9DAD-9F6A-CCBA7FD75628}"/>
              </a:ext>
            </a:extLst>
          </p:cNvPr>
          <p:cNvPicPr>
            <a:picLocks noChangeAspect="1"/>
          </p:cNvPicPr>
          <p:nvPr/>
        </p:nvPicPr>
        <p:blipFill>
          <a:blip r:embed="rId3"/>
          <a:stretch>
            <a:fillRect/>
          </a:stretch>
        </p:blipFill>
        <p:spPr>
          <a:xfrm>
            <a:off x="548639" y="1612606"/>
            <a:ext cx="4360711" cy="2502189"/>
          </a:xfrm>
          <a:prstGeom prst="rect">
            <a:avLst/>
          </a:prstGeom>
        </p:spPr>
      </p:pic>
      <p:pic>
        <p:nvPicPr>
          <p:cNvPr id="25" name="Picture 24">
            <a:extLst>
              <a:ext uri="{FF2B5EF4-FFF2-40B4-BE49-F238E27FC236}">
                <a16:creationId xmlns:a16="http://schemas.microsoft.com/office/drawing/2014/main" id="{83934085-37CE-FD39-DC40-F26E2FE1274B}"/>
              </a:ext>
            </a:extLst>
          </p:cNvPr>
          <p:cNvPicPr>
            <a:picLocks noChangeAspect="1"/>
          </p:cNvPicPr>
          <p:nvPr/>
        </p:nvPicPr>
        <p:blipFill>
          <a:blip r:embed="rId4"/>
          <a:stretch>
            <a:fillRect/>
          </a:stretch>
        </p:blipFill>
        <p:spPr>
          <a:xfrm>
            <a:off x="512063" y="4133083"/>
            <a:ext cx="4397287" cy="2296016"/>
          </a:xfrm>
          <a:prstGeom prst="rect">
            <a:avLst/>
          </a:prstGeom>
        </p:spPr>
      </p:pic>
      <p:pic>
        <p:nvPicPr>
          <p:cNvPr id="27" name="Picture 26">
            <a:extLst>
              <a:ext uri="{FF2B5EF4-FFF2-40B4-BE49-F238E27FC236}">
                <a16:creationId xmlns:a16="http://schemas.microsoft.com/office/drawing/2014/main" id="{950BA0C5-6657-7644-CC93-6062235207E0}"/>
              </a:ext>
            </a:extLst>
          </p:cNvPr>
          <p:cNvPicPr>
            <a:picLocks noChangeAspect="1"/>
          </p:cNvPicPr>
          <p:nvPr/>
        </p:nvPicPr>
        <p:blipFill>
          <a:blip r:embed="rId5"/>
          <a:stretch>
            <a:fillRect/>
          </a:stretch>
        </p:blipFill>
        <p:spPr>
          <a:xfrm>
            <a:off x="5970321" y="1594969"/>
            <a:ext cx="4425429" cy="2613043"/>
          </a:xfrm>
          <a:prstGeom prst="rect">
            <a:avLst/>
          </a:prstGeom>
        </p:spPr>
      </p:pic>
      <p:graphicFrame>
        <p:nvGraphicFramePr>
          <p:cNvPr id="31" name="Table 30">
            <a:extLst>
              <a:ext uri="{FF2B5EF4-FFF2-40B4-BE49-F238E27FC236}">
                <a16:creationId xmlns:a16="http://schemas.microsoft.com/office/drawing/2014/main" id="{B9AB1F8F-02EB-B02E-E82A-D04C13CA3913}"/>
              </a:ext>
            </a:extLst>
          </p:cNvPr>
          <p:cNvGraphicFramePr>
            <a:graphicFrameLocks noGrp="1"/>
          </p:cNvGraphicFramePr>
          <p:nvPr>
            <p:extLst>
              <p:ext uri="{D42A27DB-BD31-4B8C-83A1-F6EECF244321}">
                <p14:modId xmlns:p14="http://schemas.microsoft.com/office/powerpoint/2010/main" val="3508121833"/>
              </p:ext>
            </p:extLst>
          </p:nvPr>
        </p:nvGraphicFramePr>
        <p:xfrm>
          <a:off x="548640" y="1231899"/>
          <a:ext cx="4360711" cy="370840"/>
        </p:xfrm>
        <a:graphic>
          <a:graphicData uri="http://schemas.openxmlformats.org/drawingml/2006/table">
            <a:tbl>
              <a:tblPr firstRow="1" bandRow="1">
                <a:tableStyleId>{5C22544A-7EE6-4342-B048-85BDC9FD1C3A}</a:tableStyleId>
              </a:tblPr>
              <a:tblGrid>
                <a:gridCol w="735531">
                  <a:extLst>
                    <a:ext uri="{9D8B030D-6E8A-4147-A177-3AD203B41FA5}">
                      <a16:colId xmlns:a16="http://schemas.microsoft.com/office/drawing/2014/main" val="3127057074"/>
                    </a:ext>
                  </a:extLst>
                </a:gridCol>
                <a:gridCol w="819837">
                  <a:extLst>
                    <a:ext uri="{9D8B030D-6E8A-4147-A177-3AD203B41FA5}">
                      <a16:colId xmlns:a16="http://schemas.microsoft.com/office/drawing/2014/main" val="1493393088"/>
                    </a:ext>
                  </a:extLst>
                </a:gridCol>
                <a:gridCol w="1065320">
                  <a:extLst>
                    <a:ext uri="{9D8B030D-6E8A-4147-A177-3AD203B41FA5}">
                      <a16:colId xmlns:a16="http://schemas.microsoft.com/office/drawing/2014/main" val="2602580096"/>
                    </a:ext>
                  </a:extLst>
                </a:gridCol>
                <a:gridCol w="626221">
                  <a:extLst>
                    <a:ext uri="{9D8B030D-6E8A-4147-A177-3AD203B41FA5}">
                      <a16:colId xmlns:a16="http://schemas.microsoft.com/office/drawing/2014/main" val="3421068556"/>
                    </a:ext>
                  </a:extLst>
                </a:gridCol>
                <a:gridCol w="634408">
                  <a:extLst>
                    <a:ext uri="{9D8B030D-6E8A-4147-A177-3AD203B41FA5}">
                      <a16:colId xmlns:a16="http://schemas.microsoft.com/office/drawing/2014/main" val="48406361"/>
                    </a:ext>
                  </a:extLst>
                </a:gridCol>
                <a:gridCol w="479394">
                  <a:extLst>
                    <a:ext uri="{9D8B030D-6E8A-4147-A177-3AD203B41FA5}">
                      <a16:colId xmlns:a16="http://schemas.microsoft.com/office/drawing/2014/main" val="1282265365"/>
                    </a:ext>
                  </a:extLst>
                </a:gridCol>
              </a:tblGrid>
              <a:tr h="370840">
                <a:tc>
                  <a:txBody>
                    <a:bodyPr/>
                    <a:lstStyle/>
                    <a:p>
                      <a:r>
                        <a:rPr lang="en-US" sz="900" dirty="0"/>
                        <a:t>mode</a:t>
                      </a:r>
                    </a:p>
                  </a:txBody>
                  <a:tcPr/>
                </a:tc>
                <a:tc>
                  <a:txBody>
                    <a:bodyPr/>
                    <a:lstStyle/>
                    <a:p>
                      <a:r>
                        <a:rPr lang="en-US" sz="900" dirty="0"/>
                        <a:t>method</a:t>
                      </a:r>
                    </a:p>
                  </a:txBody>
                  <a:tcPr/>
                </a:tc>
                <a:tc>
                  <a:txBody>
                    <a:bodyPr/>
                    <a:lstStyle/>
                    <a:p>
                      <a:r>
                        <a:rPr lang="en-US" sz="900" dirty="0"/>
                        <a:t>VAL-WMAPE</a:t>
                      </a:r>
                    </a:p>
                  </a:txBody>
                  <a:tcPr/>
                </a:tc>
                <a:tc>
                  <a:txBody>
                    <a:bodyPr/>
                    <a:lstStyle/>
                    <a:p>
                      <a:r>
                        <a:rPr lang="en-US" sz="900" dirty="0"/>
                        <a:t>TEST-WMAPE</a:t>
                      </a:r>
                    </a:p>
                  </a:txBody>
                  <a:tcPr/>
                </a:tc>
                <a:tc>
                  <a:txBody>
                    <a:bodyPr/>
                    <a:lstStyle/>
                    <a:p>
                      <a:r>
                        <a:rPr lang="en-US" sz="900" dirty="0"/>
                        <a:t>Horizon</a:t>
                      </a:r>
                    </a:p>
                  </a:txBody>
                  <a:tcPr/>
                </a:tc>
                <a:tc>
                  <a:txBody>
                    <a:bodyPr/>
                    <a:lstStyle/>
                    <a:p>
                      <a:r>
                        <a:rPr lang="en-US" sz="900" dirty="0"/>
                        <a:t>type</a:t>
                      </a:r>
                    </a:p>
                  </a:txBody>
                  <a:tcPr/>
                </a:tc>
                <a:extLst>
                  <a:ext uri="{0D108BD9-81ED-4DB2-BD59-A6C34878D82A}">
                    <a16:rowId xmlns:a16="http://schemas.microsoft.com/office/drawing/2014/main" val="1102874836"/>
                  </a:ext>
                </a:extLst>
              </a:tr>
            </a:tbl>
          </a:graphicData>
        </a:graphic>
      </p:graphicFrame>
      <p:graphicFrame>
        <p:nvGraphicFramePr>
          <p:cNvPr id="32" name="Table 31">
            <a:extLst>
              <a:ext uri="{FF2B5EF4-FFF2-40B4-BE49-F238E27FC236}">
                <a16:creationId xmlns:a16="http://schemas.microsoft.com/office/drawing/2014/main" id="{33FB98B1-800D-976E-A907-EE4B73C6FE3C}"/>
              </a:ext>
            </a:extLst>
          </p:cNvPr>
          <p:cNvGraphicFramePr>
            <a:graphicFrameLocks noGrp="1"/>
          </p:cNvGraphicFramePr>
          <p:nvPr>
            <p:extLst>
              <p:ext uri="{D42A27DB-BD31-4B8C-83A1-F6EECF244321}">
                <p14:modId xmlns:p14="http://schemas.microsoft.com/office/powerpoint/2010/main" val="4255915752"/>
              </p:ext>
            </p:extLst>
          </p:nvPr>
        </p:nvGraphicFramePr>
        <p:xfrm>
          <a:off x="5970320" y="1233576"/>
          <a:ext cx="4360711" cy="370840"/>
        </p:xfrm>
        <a:graphic>
          <a:graphicData uri="http://schemas.openxmlformats.org/drawingml/2006/table">
            <a:tbl>
              <a:tblPr firstRow="1" bandRow="1">
                <a:tableStyleId>{5C22544A-7EE6-4342-B048-85BDC9FD1C3A}</a:tableStyleId>
              </a:tblPr>
              <a:tblGrid>
                <a:gridCol w="735531">
                  <a:extLst>
                    <a:ext uri="{9D8B030D-6E8A-4147-A177-3AD203B41FA5}">
                      <a16:colId xmlns:a16="http://schemas.microsoft.com/office/drawing/2014/main" val="3127057074"/>
                    </a:ext>
                  </a:extLst>
                </a:gridCol>
                <a:gridCol w="819837">
                  <a:extLst>
                    <a:ext uri="{9D8B030D-6E8A-4147-A177-3AD203B41FA5}">
                      <a16:colId xmlns:a16="http://schemas.microsoft.com/office/drawing/2014/main" val="1493393088"/>
                    </a:ext>
                  </a:extLst>
                </a:gridCol>
                <a:gridCol w="1065320">
                  <a:extLst>
                    <a:ext uri="{9D8B030D-6E8A-4147-A177-3AD203B41FA5}">
                      <a16:colId xmlns:a16="http://schemas.microsoft.com/office/drawing/2014/main" val="2602580096"/>
                    </a:ext>
                  </a:extLst>
                </a:gridCol>
                <a:gridCol w="626221">
                  <a:extLst>
                    <a:ext uri="{9D8B030D-6E8A-4147-A177-3AD203B41FA5}">
                      <a16:colId xmlns:a16="http://schemas.microsoft.com/office/drawing/2014/main" val="3421068556"/>
                    </a:ext>
                  </a:extLst>
                </a:gridCol>
                <a:gridCol w="634408">
                  <a:extLst>
                    <a:ext uri="{9D8B030D-6E8A-4147-A177-3AD203B41FA5}">
                      <a16:colId xmlns:a16="http://schemas.microsoft.com/office/drawing/2014/main" val="48406361"/>
                    </a:ext>
                  </a:extLst>
                </a:gridCol>
                <a:gridCol w="479394">
                  <a:extLst>
                    <a:ext uri="{9D8B030D-6E8A-4147-A177-3AD203B41FA5}">
                      <a16:colId xmlns:a16="http://schemas.microsoft.com/office/drawing/2014/main" val="1282265365"/>
                    </a:ext>
                  </a:extLst>
                </a:gridCol>
              </a:tblGrid>
              <a:tr h="370840">
                <a:tc>
                  <a:txBody>
                    <a:bodyPr/>
                    <a:lstStyle/>
                    <a:p>
                      <a:r>
                        <a:rPr lang="en-US" sz="900" dirty="0"/>
                        <a:t>mode</a:t>
                      </a:r>
                    </a:p>
                  </a:txBody>
                  <a:tcPr/>
                </a:tc>
                <a:tc>
                  <a:txBody>
                    <a:bodyPr/>
                    <a:lstStyle/>
                    <a:p>
                      <a:r>
                        <a:rPr lang="en-US" sz="900" dirty="0"/>
                        <a:t>method</a:t>
                      </a:r>
                    </a:p>
                  </a:txBody>
                  <a:tcPr/>
                </a:tc>
                <a:tc>
                  <a:txBody>
                    <a:bodyPr/>
                    <a:lstStyle/>
                    <a:p>
                      <a:r>
                        <a:rPr lang="en-US" sz="900" dirty="0"/>
                        <a:t>VAL-WMAPE</a:t>
                      </a:r>
                    </a:p>
                  </a:txBody>
                  <a:tcPr/>
                </a:tc>
                <a:tc>
                  <a:txBody>
                    <a:bodyPr/>
                    <a:lstStyle/>
                    <a:p>
                      <a:r>
                        <a:rPr lang="en-US" sz="900" dirty="0"/>
                        <a:t>TEST-WMAPE</a:t>
                      </a:r>
                    </a:p>
                  </a:txBody>
                  <a:tcPr/>
                </a:tc>
                <a:tc>
                  <a:txBody>
                    <a:bodyPr/>
                    <a:lstStyle/>
                    <a:p>
                      <a:r>
                        <a:rPr lang="en-US" sz="900" dirty="0"/>
                        <a:t>Horizon</a:t>
                      </a:r>
                    </a:p>
                  </a:txBody>
                  <a:tcPr/>
                </a:tc>
                <a:tc>
                  <a:txBody>
                    <a:bodyPr/>
                    <a:lstStyle/>
                    <a:p>
                      <a:r>
                        <a:rPr lang="en-US" sz="900" dirty="0"/>
                        <a:t>type</a:t>
                      </a:r>
                    </a:p>
                  </a:txBody>
                  <a:tcPr/>
                </a:tc>
                <a:extLst>
                  <a:ext uri="{0D108BD9-81ED-4DB2-BD59-A6C34878D82A}">
                    <a16:rowId xmlns:a16="http://schemas.microsoft.com/office/drawing/2014/main" val="1102874836"/>
                  </a:ext>
                </a:extLst>
              </a:tr>
            </a:tbl>
          </a:graphicData>
        </a:graphic>
      </p:graphicFrame>
    </p:spTree>
    <p:extLst>
      <p:ext uri="{BB962C8B-B14F-4D97-AF65-F5344CB8AC3E}">
        <p14:creationId xmlns:p14="http://schemas.microsoft.com/office/powerpoint/2010/main" val="50844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03 · XÂY DỰNG VÀ LỰA CHỌN MÔ HÌNH</a:t>
            </a:r>
          </a:p>
        </p:txBody>
      </p:sp>
      <p:sp>
        <p:nvSpPr>
          <p:cNvPr id="4" name="TextBox 3"/>
          <p:cNvSpPr txBox="1"/>
          <p:nvPr/>
        </p:nvSpPr>
        <p:spPr>
          <a:xfrm>
            <a:off x="352044" y="777240"/>
            <a:ext cx="11109960" cy="410882"/>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rPr lang="en-US" dirty="0" err="1"/>
              <a:t>Kiểm</a:t>
            </a:r>
            <a:r>
              <a:rPr lang="en-US" dirty="0"/>
              <a:t> </a:t>
            </a:r>
            <a:r>
              <a:rPr lang="en-US" dirty="0" err="1"/>
              <a:t>tra</a:t>
            </a:r>
            <a:r>
              <a:rPr lang="en-US" dirty="0"/>
              <a:t> </a:t>
            </a:r>
            <a:r>
              <a:rPr lang="en-US" dirty="0" err="1"/>
              <a:t>đặc</a:t>
            </a:r>
            <a:r>
              <a:rPr lang="en-US" dirty="0"/>
              <a:t> </a:t>
            </a:r>
            <a:r>
              <a:rPr lang="en-US" dirty="0" err="1"/>
              <a:t>trưng</a:t>
            </a:r>
            <a:endParaRPr dirty="0"/>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07</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Thử loại từng đặc trưng rồi huấn luyện lại để đo mức thay đổi WMAPE. Đặc trưng có ích giúp mô hình giảm sai số.</a:t>
            </a:r>
          </a:p>
        </p:txBody>
      </p:sp>
      <p:pic>
        <p:nvPicPr>
          <p:cNvPr id="8" name="Picture 7" descr="report_05.png"/>
          <p:cNvPicPr>
            <a:picLocks noChangeAspect="1"/>
          </p:cNvPicPr>
          <p:nvPr/>
        </p:nvPicPr>
        <p:blipFill>
          <a:blip r:embed="rId2"/>
          <a:stretch>
            <a:fillRect/>
          </a:stretch>
        </p:blipFill>
        <p:spPr>
          <a:xfrm>
            <a:off x="921460" y="1975104"/>
            <a:ext cx="10373462" cy="3502152"/>
          </a:xfrm>
          <a:prstGeom prst="rect">
            <a:avLst/>
          </a:prstGeom>
        </p:spPr>
      </p:pic>
      <p:sp>
        <p:nvSpPr>
          <p:cNvPr id="9" name="Rounded Rectangle 8"/>
          <p:cNvSpPr/>
          <p:nvPr/>
        </p:nvSpPr>
        <p:spPr>
          <a:xfrm>
            <a:off x="704088" y="5577840"/>
            <a:ext cx="10835640" cy="640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4088" y="5577840"/>
            <a:ext cx="64008" cy="6400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5687568"/>
            <a:ext cx="10332720" cy="384048"/>
          </a:xfrm>
          <a:prstGeom prst="rect">
            <a:avLst/>
          </a:prstGeom>
          <a:noFill/>
        </p:spPr>
        <p:txBody>
          <a:bodyPr wrap="square" lIns="18288" tIns="18288" rIns="18288" bIns="0">
            <a:spAutoFit/>
          </a:bodyPr>
          <a:lstStyle/>
          <a:p>
            <a:pPr>
              <a:spcBef>
                <a:spcPts val="0"/>
              </a:spcBef>
              <a:spcAft>
                <a:spcPts val="0"/>
              </a:spcAft>
              <a:defRPr sz="1560" b="0">
                <a:solidFill>
                  <a:srgbClr val="102A39"/>
                </a:solidFill>
                <a:latin typeface="Arial"/>
              </a:defRPr>
            </a:pPr>
            <a:r>
              <a:t>Các tín hiệu lịch sử gần được giữ lại; hiệu quả của cấu hình cuối được xác nhận riêng bằng kết quả đánh giá mô hình.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03 · XÂY DỰNG VÀ LỰA CHỌN MÔ HÌNH</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rPr dirty="0" err="1"/>
              <a:t>Chốt</a:t>
            </a:r>
            <a:r>
              <a:rPr dirty="0"/>
              <a:t> </a:t>
            </a:r>
            <a:r>
              <a:rPr dirty="0" err="1"/>
              <a:t>các</a:t>
            </a:r>
            <a:r>
              <a:rPr dirty="0"/>
              <a:t> </a:t>
            </a:r>
            <a:r>
              <a:rPr dirty="0" err="1"/>
              <a:t>mô</a:t>
            </a:r>
            <a:r>
              <a:rPr dirty="0"/>
              <a:t> </a:t>
            </a:r>
            <a:r>
              <a:rPr dirty="0" err="1"/>
              <a:t>hình</a:t>
            </a:r>
            <a:r>
              <a:rPr dirty="0"/>
              <a:t> </a:t>
            </a:r>
            <a:r>
              <a:rPr dirty="0" err="1"/>
              <a:t>LightGBM</a:t>
            </a:r>
            <a:r>
              <a:rPr dirty="0"/>
              <a:t> </a:t>
            </a:r>
            <a:r>
              <a:rPr dirty="0" err="1"/>
              <a:t>độc</a:t>
            </a:r>
            <a:r>
              <a:rPr dirty="0"/>
              <a:t> </a:t>
            </a:r>
            <a:r>
              <a:rPr dirty="0" err="1"/>
              <a:t>lập</a:t>
            </a:r>
            <a:r>
              <a:rPr dirty="0"/>
              <a:t> </a:t>
            </a:r>
            <a:r>
              <a:rPr dirty="0" err="1"/>
              <a:t>theo</a:t>
            </a:r>
            <a:r>
              <a:rPr dirty="0"/>
              <a:t> </a:t>
            </a:r>
            <a:r>
              <a:rPr dirty="0" err="1"/>
              <a:t>loại</a:t>
            </a:r>
            <a:r>
              <a:rPr dirty="0"/>
              <a:t> </a:t>
            </a:r>
            <a:r>
              <a:rPr dirty="0" err="1"/>
              <a:t>xe</a:t>
            </a:r>
            <a:r>
              <a:rPr dirty="0"/>
              <a:t> </a:t>
            </a:r>
            <a:r>
              <a:rPr dirty="0" err="1"/>
              <a:t>và</a:t>
            </a:r>
            <a:r>
              <a:rPr dirty="0"/>
              <a:t> </a:t>
            </a:r>
            <a:r>
              <a:rPr dirty="0" err="1"/>
              <a:t>khoảng</a:t>
            </a:r>
            <a:r>
              <a:rPr dirty="0"/>
              <a:t> </a:t>
            </a:r>
            <a:r>
              <a:rPr dirty="0" err="1"/>
              <a:t>dự</a:t>
            </a:r>
            <a:r>
              <a:rPr dirty="0"/>
              <a:t> </a:t>
            </a:r>
            <a:r>
              <a:rPr dirty="0" err="1"/>
              <a:t>báo</a:t>
            </a:r>
            <a:endParaRPr dirty="0"/>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08</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rPr dirty="0" err="1"/>
              <a:t>Mỗi</a:t>
            </a:r>
            <a:r>
              <a:rPr dirty="0"/>
              <a:t> </a:t>
            </a:r>
            <a:r>
              <a:rPr dirty="0" err="1"/>
              <a:t>mô</a:t>
            </a:r>
            <a:r>
              <a:rPr dirty="0"/>
              <a:t> </a:t>
            </a:r>
            <a:r>
              <a:rPr dirty="0" err="1"/>
              <a:t>hình</a:t>
            </a:r>
            <a:r>
              <a:rPr dirty="0"/>
              <a:t> </a:t>
            </a:r>
            <a:r>
              <a:rPr dirty="0" err="1"/>
              <a:t>ước</a:t>
            </a:r>
            <a:r>
              <a:rPr dirty="0"/>
              <a:t> </a:t>
            </a:r>
            <a:r>
              <a:rPr dirty="0" err="1"/>
              <a:t>lượng</a:t>
            </a:r>
            <a:r>
              <a:rPr dirty="0"/>
              <a:t> </a:t>
            </a:r>
            <a:r>
              <a:rPr dirty="0" err="1"/>
              <a:t>trực</a:t>
            </a:r>
            <a:r>
              <a:rPr dirty="0"/>
              <a:t> </a:t>
            </a:r>
            <a:r>
              <a:rPr dirty="0" err="1"/>
              <a:t>tiếp</a:t>
            </a:r>
            <a:r>
              <a:rPr dirty="0"/>
              <a:t> </a:t>
            </a:r>
            <a:r>
              <a:rPr dirty="0" err="1"/>
              <a:t>tổng</a:t>
            </a:r>
            <a:r>
              <a:rPr dirty="0"/>
              <a:t> yêu </a:t>
            </a:r>
            <a:r>
              <a:rPr dirty="0" err="1"/>
              <a:t>cầu</a:t>
            </a:r>
            <a:r>
              <a:rPr dirty="0"/>
              <a:t> </a:t>
            </a:r>
            <a:r>
              <a:rPr dirty="0" err="1"/>
              <a:t>trong</a:t>
            </a:r>
            <a:r>
              <a:rPr dirty="0"/>
              <a:t> </a:t>
            </a:r>
            <a:r>
              <a:rPr dirty="0" err="1"/>
              <a:t>khoảng</a:t>
            </a:r>
            <a:r>
              <a:rPr dirty="0"/>
              <a:t> </a:t>
            </a:r>
            <a:r>
              <a:rPr dirty="0" err="1"/>
              <a:t>dự</a:t>
            </a:r>
            <a:r>
              <a:rPr dirty="0"/>
              <a:t> </a:t>
            </a:r>
            <a:r>
              <a:rPr dirty="0" err="1"/>
              <a:t>báo</a:t>
            </a:r>
            <a:r>
              <a:rPr dirty="0"/>
              <a:t>, </a:t>
            </a:r>
            <a:r>
              <a:rPr dirty="0" err="1"/>
              <a:t>không</a:t>
            </a:r>
            <a:r>
              <a:rPr dirty="0"/>
              <a:t> </a:t>
            </a:r>
            <a:r>
              <a:rPr dirty="0" err="1"/>
              <a:t>sử</a:t>
            </a:r>
            <a:r>
              <a:rPr dirty="0"/>
              <a:t> </a:t>
            </a:r>
            <a:r>
              <a:rPr dirty="0" err="1"/>
              <a:t>dụng</a:t>
            </a:r>
            <a:r>
              <a:rPr dirty="0"/>
              <a:t> </a:t>
            </a:r>
            <a:r>
              <a:rPr dirty="0" err="1"/>
              <a:t>kết</a:t>
            </a:r>
            <a:r>
              <a:rPr dirty="0"/>
              <a:t> </a:t>
            </a:r>
            <a:r>
              <a:rPr dirty="0" err="1"/>
              <a:t>quả</a:t>
            </a:r>
            <a:r>
              <a:rPr dirty="0"/>
              <a:t> H10 để </a:t>
            </a:r>
            <a:r>
              <a:rPr dirty="0" err="1"/>
              <a:t>suy</a:t>
            </a:r>
            <a:r>
              <a:rPr dirty="0"/>
              <a:t> </a:t>
            </a:r>
            <a:r>
              <a:rPr dirty="0" err="1"/>
              <a:t>tiếp</a:t>
            </a:r>
            <a:r>
              <a:rPr dirty="0"/>
              <a:t> H30 </a:t>
            </a:r>
            <a:r>
              <a:rPr dirty="0" err="1"/>
              <a:t>và</a:t>
            </a:r>
            <a:r>
              <a:rPr dirty="0"/>
              <a:t> H60.</a:t>
            </a:r>
          </a:p>
        </p:txBody>
      </p:sp>
      <p:pic>
        <p:nvPicPr>
          <p:cNvPr id="8" name="Picture 7" descr="report_09.png"/>
          <p:cNvPicPr>
            <a:picLocks noChangeAspect="1"/>
          </p:cNvPicPr>
          <p:nvPr/>
        </p:nvPicPr>
        <p:blipFill>
          <a:blip r:embed="rId2"/>
          <a:stretch>
            <a:fillRect/>
          </a:stretch>
        </p:blipFill>
        <p:spPr>
          <a:xfrm>
            <a:off x="1783683" y="2029968"/>
            <a:ext cx="8630728" cy="3182112"/>
          </a:xfrm>
          <a:prstGeom prst="rect">
            <a:avLst/>
          </a:prstGeom>
        </p:spPr>
      </p:pic>
      <p:sp>
        <p:nvSpPr>
          <p:cNvPr id="9" name="Rounded Rectangle 8"/>
          <p:cNvSpPr/>
          <p:nvPr/>
        </p:nvSpPr>
        <p:spPr>
          <a:xfrm>
            <a:off x="713232" y="5376672"/>
            <a:ext cx="10744200" cy="8138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5376672"/>
            <a:ext cx="64008" cy="813816"/>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5532120"/>
            <a:ext cx="10149840" cy="466344"/>
          </a:xfrm>
          <a:prstGeom prst="rect">
            <a:avLst/>
          </a:prstGeom>
          <a:noFill/>
        </p:spPr>
        <p:txBody>
          <a:bodyPr wrap="square" lIns="18288" tIns="18288" rIns="18288" bIns="0">
            <a:spAutoFit/>
          </a:bodyPr>
          <a:lstStyle/>
          <a:p>
            <a:pPr>
              <a:spcBef>
                <a:spcPts val="0"/>
              </a:spcBef>
              <a:spcAft>
                <a:spcPts val="0"/>
              </a:spcAft>
              <a:defRPr sz="1620" b="0">
                <a:solidFill>
                  <a:srgbClr val="102A39"/>
                </a:solidFill>
                <a:latin typeface="Arial"/>
              </a:defRPr>
            </a:pPr>
            <a:r>
              <a:t>Bảng cấu hình gốc thể hiện số đặc trưng, số cây, số lá và số mẫu huấn luyện tương ứng cho từng mô hình.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Kết quả TEST xác nhận mô hình đáp ứng mục tiêu WMAPE</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09</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Bảng gốc trong báo cáo đối chiếu kết quả của sáu mô hình trên tập TEST và giai đoạn HOLDOUT giả lập mới.</a:t>
            </a:r>
          </a:p>
        </p:txBody>
      </p:sp>
      <p:sp>
        <p:nvSpPr>
          <p:cNvPr id="9" name="Rounded Rectangle 8"/>
          <p:cNvSpPr/>
          <p:nvPr/>
        </p:nvSpPr>
        <p:spPr>
          <a:xfrm>
            <a:off x="713232" y="4544568"/>
            <a:ext cx="3465576"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4690872"/>
            <a:ext cx="3136392"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ĐÁNH GIÁ ĐỘC LẬP</a:t>
            </a:r>
          </a:p>
        </p:txBody>
      </p:sp>
      <p:sp>
        <p:nvSpPr>
          <p:cNvPr id="11" name="TextBox 10"/>
          <p:cNvSpPr txBox="1"/>
          <p:nvPr/>
        </p:nvSpPr>
        <p:spPr>
          <a:xfrm>
            <a:off x="886968" y="5020056"/>
            <a:ext cx="3136392" cy="960120"/>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t>TEST chỉ dùng để xác nhận chất lượng sau khi đã chốt thuật toán và đặc trưng.</a:t>
            </a:r>
          </a:p>
        </p:txBody>
      </p:sp>
      <p:sp>
        <p:nvSpPr>
          <p:cNvPr id="12" name="Rounded Rectangle 11"/>
          <p:cNvSpPr/>
          <p:nvPr/>
        </p:nvSpPr>
        <p:spPr>
          <a:xfrm>
            <a:off x="4361688" y="4544568"/>
            <a:ext cx="3465576"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5424" y="4690872"/>
            <a:ext cx="3136392" cy="265176"/>
          </a:xfrm>
          <a:prstGeom prst="rect">
            <a:avLst/>
          </a:prstGeom>
          <a:noFill/>
        </p:spPr>
        <p:txBody>
          <a:bodyPr wrap="square" lIns="18288" tIns="18288" rIns="18288" bIns="0">
            <a:spAutoFit/>
          </a:bodyPr>
          <a:lstStyle/>
          <a:p>
            <a:pPr>
              <a:spcBef>
                <a:spcPts val="0"/>
              </a:spcBef>
              <a:spcAft>
                <a:spcPts val="0"/>
              </a:spcAft>
              <a:defRPr sz="1200" b="1">
                <a:solidFill>
                  <a:srgbClr val="E2963A"/>
                </a:solidFill>
                <a:latin typeface="Arial"/>
              </a:defRPr>
            </a:pPr>
            <a:r>
              <a:t>KIỂM TRA BỔ SUNG</a:t>
            </a:r>
          </a:p>
        </p:txBody>
      </p:sp>
      <p:sp>
        <p:nvSpPr>
          <p:cNvPr id="14" name="TextBox 13"/>
          <p:cNvSpPr txBox="1"/>
          <p:nvPr/>
        </p:nvSpPr>
        <p:spPr>
          <a:xfrm>
            <a:off x="4535424" y="5020056"/>
            <a:ext cx="3136392" cy="674031"/>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rPr dirty="0"/>
              <a:t>HOLDOUT </a:t>
            </a:r>
            <a:r>
              <a:rPr dirty="0" err="1"/>
              <a:t>được</a:t>
            </a:r>
            <a:r>
              <a:rPr dirty="0"/>
              <a:t> </a:t>
            </a:r>
            <a:r>
              <a:rPr dirty="0" err="1"/>
              <a:t>tạo</a:t>
            </a:r>
            <a:r>
              <a:rPr dirty="0"/>
              <a:t> </a:t>
            </a:r>
            <a:r>
              <a:rPr dirty="0" err="1"/>
              <a:t>sau</a:t>
            </a:r>
            <a:r>
              <a:rPr dirty="0"/>
              <a:t> </a:t>
            </a:r>
            <a:r>
              <a:rPr dirty="0" err="1"/>
              <a:t>giai</a:t>
            </a:r>
            <a:r>
              <a:rPr dirty="0"/>
              <a:t> </a:t>
            </a:r>
            <a:r>
              <a:rPr dirty="0" err="1"/>
              <a:t>đoạn</a:t>
            </a:r>
            <a:r>
              <a:rPr dirty="0"/>
              <a:t> TEST</a:t>
            </a:r>
            <a:r>
              <a:rPr lang="en-US" dirty="0"/>
              <a:t> </a:t>
            </a:r>
            <a:r>
              <a:rPr lang="en-US" dirty="0" err="1"/>
              <a:t>dùng</a:t>
            </a:r>
            <a:r>
              <a:rPr lang="en-US" dirty="0"/>
              <a:t> để </a:t>
            </a:r>
            <a:r>
              <a:rPr lang="en-US" dirty="0" err="1"/>
              <a:t>kiểm</a:t>
            </a:r>
            <a:r>
              <a:rPr lang="en-US" dirty="0"/>
              <a:t> </a:t>
            </a:r>
            <a:r>
              <a:rPr lang="en-US" dirty="0" err="1"/>
              <a:t>tra</a:t>
            </a:r>
            <a:r>
              <a:rPr lang="en-US" dirty="0"/>
              <a:t> </a:t>
            </a:r>
            <a:r>
              <a:rPr lang="en-US" dirty="0" err="1"/>
              <a:t>bổ</a:t>
            </a:r>
            <a:r>
              <a:rPr lang="en-US" dirty="0"/>
              <a:t> sung </a:t>
            </a:r>
            <a:r>
              <a:rPr lang="en-US" dirty="0" err="1"/>
              <a:t>khả</a:t>
            </a:r>
            <a:r>
              <a:rPr lang="en-US" dirty="0"/>
              <a:t> </a:t>
            </a:r>
            <a:r>
              <a:rPr lang="en-US" dirty="0" err="1"/>
              <a:t>năng</a:t>
            </a:r>
            <a:r>
              <a:rPr lang="en-US" dirty="0"/>
              <a:t> </a:t>
            </a:r>
            <a:r>
              <a:rPr lang="en-US" dirty="0" err="1"/>
              <a:t>dự</a:t>
            </a:r>
            <a:r>
              <a:rPr lang="en-US" dirty="0"/>
              <a:t> </a:t>
            </a:r>
            <a:r>
              <a:rPr lang="en-US" dirty="0" err="1"/>
              <a:t>báo</a:t>
            </a:r>
            <a:r>
              <a:rPr lang="en-US" dirty="0"/>
              <a:t> ở </a:t>
            </a:r>
            <a:r>
              <a:rPr lang="en-US" dirty="0" err="1"/>
              <a:t>giai</a:t>
            </a:r>
            <a:r>
              <a:rPr lang="en-US" dirty="0"/>
              <a:t> </a:t>
            </a:r>
            <a:r>
              <a:rPr lang="en-US" dirty="0" err="1"/>
              <a:t>đoạn</a:t>
            </a:r>
            <a:r>
              <a:rPr lang="en-US" dirty="0"/>
              <a:t> </a:t>
            </a:r>
            <a:r>
              <a:rPr lang="en-US" dirty="0" err="1"/>
              <a:t>tiếp</a:t>
            </a:r>
            <a:r>
              <a:rPr lang="en-US" dirty="0"/>
              <a:t> </a:t>
            </a:r>
            <a:r>
              <a:rPr lang="en-US" dirty="0" err="1"/>
              <a:t>theo.</a:t>
            </a:r>
            <a:endParaRPr dirty="0"/>
          </a:p>
        </p:txBody>
      </p:sp>
      <p:sp>
        <p:nvSpPr>
          <p:cNvPr id="15" name="Rounded Rectangle 14"/>
          <p:cNvSpPr/>
          <p:nvPr/>
        </p:nvSpPr>
        <p:spPr>
          <a:xfrm>
            <a:off x="8001000" y="4544568"/>
            <a:ext cx="34747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4690872"/>
            <a:ext cx="3145536"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KẾT QUẢ</a:t>
            </a:r>
          </a:p>
        </p:txBody>
      </p:sp>
      <p:sp>
        <p:nvSpPr>
          <p:cNvPr id="17" name="TextBox 16"/>
          <p:cNvSpPr txBox="1"/>
          <p:nvPr/>
        </p:nvSpPr>
        <p:spPr>
          <a:xfrm>
            <a:off x="8174736" y="5020056"/>
            <a:ext cx="3145536" cy="674031"/>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rPr dirty="0" err="1"/>
              <a:t>Tất</a:t>
            </a:r>
            <a:r>
              <a:rPr dirty="0"/>
              <a:t> </a:t>
            </a:r>
            <a:r>
              <a:rPr dirty="0" err="1"/>
              <a:t>cả</a:t>
            </a:r>
            <a:r>
              <a:rPr dirty="0"/>
              <a:t> </a:t>
            </a:r>
            <a:r>
              <a:rPr dirty="0" err="1"/>
              <a:t>mô</a:t>
            </a:r>
            <a:r>
              <a:rPr dirty="0"/>
              <a:t> </a:t>
            </a:r>
            <a:r>
              <a:rPr dirty="0" err="1"/>
              <a:t>hình</a:t>
            </a:r>
            <a:r>
              <a:rPr dirty="0"/>
              <a:t> </a:t>
            </a:r>
            <a:r>
              <a:rPr dirty="0" err="1"/>
              <a:t>đạt</a:t>
            </a:r>
            <a:r>
              <a:rPr dirty="0"/>
              <a:t> </a:t>
            </a:r>
            <a:r>
              <a:rPr dirty="0" err="1"/>
              <a:t>ngưỡng</a:t>
            </a:r>
            <a:r>
              <a:rPr dirty="0"/>
              <a:t> WMAPE </a:t>
            </a:r>
            <a:r>
              <a:rPr dirty="0" err="1"/>
              <a:t>mục</a:t>
            </a:r>
            <a:r>
              <a:rPr dirty="0"/>
              <a:t> </a:t>
            </a:r>
            <a:r>
              <a:rPr dirty="0" err="1"/>
              <a:t>tiêu</a:t>
            </a:r>
            <a:r>
              <a:rPr lang="en-US" dirty="0"/>
              <a:t>,</a:t>
            </a:r>
            <a:r>
              <a:rPr dirty="0"/>
              <a:t> </a:t>
            </a:r>
            <a:r>
              <a:rPr dirty="0" err="1"/>
              <a:t>sai</a:t>
            </a:r>
            <a:r>
              <a:rPr dirty="0"/>
              <a:t> </a:t>
            </a:r>
            <a:r>
              <a:rPr dirty="0" err="1"/>
              <a:t>số</a:t>
            </a:r>
            <a:r>
              <a:rPr dirty="0"/>
              <a:t> </a:t>
            </a:r>
            <a:r>
              <a:rPr dirty="0" err="1"/>
              <a:t>trên</a:t>
            </a:r>
            <a:r>
              <a:rPr dirty="0"/>
              <a:t> HOLDOUT </a:t>
            </a:r>
            <a:r>
              <a:rPr dirty="0" err="1"/>
              <a:t>tăng</a:t>
            </a:r>
            <a:r>
              <a:rPr dirty="0"/>
              <a:t> </a:t>
            </a:r>
            <a:r>
              <a:rPr dirty="0" err="1"/>
              <a:t>nhẹ</a:t>
            </a:r>
            <a:r>
              <a:rPr dirty="0"/>
              <a:t>.</a:t>
            </a:r>
          </a:p>
        </p:txBody>
      </p:sp>
      <p:pic>
        <p:nvPicPr>
          <p:cNvPr id="21" name="Picture 20">
            <a:extLst>
              <a:ext uri="{FF2B5EF4-FFF2-40B4-BE49-F238E27FC236}">
                <a16:creationId xmlns:a16="http://schemas.microsoft.com/office/drawing/2014/main" id="{949F1A80-7102-A3CF-CC20-9EEA06993C49}"/>
              </a:ext>
            </a:extLst>
          </p:cNvPr>
          <p:cNvPicPr>
            <a:picLocks noChangeAspect="1"/>
          </p:cNvPicPr>
          <p:nvPr/>
        </p:nvPicPr>
        <p:blipFill>
          <a:blip r:embed="rId2"/>
          <a:stretch>
            <a:fillRect/>
          </a:stretch>
        </p:blipFill>
        <p:spPr>
          <a:xfrm>
            <a:off x="641257" y="1897969"/>
            <a:ext cx="10679015" cy="24768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Dự báo bám xu hướng nhu cầu, nhưng phản ứng chưa đủ khi nhu cầu tăng</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10</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Biểu đồ gốc đối chiếu tổng số yêu cầu thực tế và dự báo theo ngày trên TEST và HOLDOUT.</a:t>
            </a:r>
          </a:p>
        </p:txBody>
      </p:sp>
      <p:pic>
        <p:nvPicPr>
          <p:cNvPr id="8" name="Picture 7" descr="report_12.png"/>
          <p:cNvPicPr>
            <a:picLocks noChangeAspect="1"/>
          </p:cNvPicPr>
          <p:nvPr/>
        </p:nvPicPr>
        <p:blipFill>
          <a:blip r:embed="rId2"/>
          <a:stretch>
            <a:fillRect/>
          </a:stretch>
        </p:blipFill>
        <p:spPr>
          <a:xfrm>
            <a:off x="765965" y="1975104"/>
            <a:ext cx="7410901" cy="3730752"/>
          </a:xfrm>
          <a:prstGeom prst="rect">
            <a:avLst/>
          </a:prstGeom>
        </p:spPr>
      </p:pic>
      <p:sp>
        <p:nvSpPr>
          <p:cNvPr id="9" name="Rounded Rectangle 8"/>
          <p:cNvSpPr/>
          <p:nvPr/>
        </p:nvSpPr>
        <p:spPr>
          <a:xfrm>
            <a:off x="8549640" y="1975104"/>
            <a:ext cx="292608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23376" y="2121408"/>
            <a:ext cx="2596896"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DIỄN BIẾN CHUNG</a:t>
            </a:r>
          </a:p>
        </p:txBody>
      </p:sp>
      <p:sp>
        <p:nvSpPr>
          <p:cNvPr id="11" name="TextBox 10"/>
          <p:cNvSpPr txBox="1"/>
          <p:nvPr/>
        </p:nvSpPr>
        <p:spPr>
          <a:xfrm>
            <a:off x="8723376" y="2450592"/>
            <a:ext cx="2596896" cy="960120"/>
          </a:xfrm>
          <a:prstGeom prst="rect">
            <a:avLst/>
          </a:prstGeom>
          <a:noFill/>
        </p:spPr>
        <p:txBody>
          <a:bodyPr wrap="square" lIns="18288" tIns="18288" rIns="18288" bIns="0">
            <a:spAutoFit/>
          </a:bodyPr>
          <a:lstStyle/>
          <a:p>
            <a:pPr>
              <a:spcBef>
                <a:spcPts val="0"/>
              </a:spcBef>
              <a:spcAft>
                <a:spcPts val="0"/>
              </a:spcAft>
              <a:defRPr sz="1400" b="0">
                <a:solidFill>
                  <a:srgbClr val="102A39"/>
                </a:solidFill>
                <a:latin typeface="Arial"/>
              </a:defRPr>
            </a:pPr>
            <a:r>
              <a:t>Ở nhiều ngày, xu hướng tăng giảm của dự báo đi cùng chiều với nhu cầu quan sát.</a:t>
            </a:r>
          </a:p>
        </p:txBody>
      </p:sp>
      <p:sp>
        <p:nvSpPr>
          <p:cNvPr id="12" name="Rounded Rectangle 11"/>
          <p:cNvSpPr/>
          <p:nvPr/>
        </p:nvSpPr>
        <p:spPr>
          <a:xfrm>
            <a:off x="8549640" y="3630168"/>
            <a:ext cx="292608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23376" y="3776472"/>
            <a:ext cx="2596896" cy="265176"/>
          </a:xfrm>
          <a:prstGeom prst="rect">
            <a:avLst/>
          </a:prstGeom>
          <a:noFill/>
        </p:spPr>
        <p:txBody>
          <a:bodyPr wrap="square" lIns="18288" tIns="18288" rIns="18288" bIns="0">
            <a:spAutoFit/>
          </a:bodyPr>
          <a:lstStyle/>
          <a:p>
            <a:pPr>
              <a:spcBef>
                <a:spcPts val="0"/>
              </a:spcBef>
              <a:spcAft>
                <a:spcPts val="0"/>
              </a:spcAft>
              <a:defRPr sz="1200" b="1">
                <a:solidFill>
                  <a:srgbClr val="E2963A"/>
                </a:solidFill>
                <a:latin typeface="Arial"/>
              </a:defRPr>
            </a:pPr>
            <a:r>
              <a:t>ĐIỂM CÒN HẠN CHẾ</a:t>
            </a:r>
          </a:p>
        </p:txBody>
      </p:sp>
      <p:sp>
        <p:nvSpPr>
          <p:cNvPr id="14" name="TextBox 13"/>
          <p:cNvSpPr txBox="1"/>
          <p:nvPr/>
        </p:nvSpPr>
        <p:spPr>
          <a:xfrm>
            <a:off x="8723376" y="4105656"/>
            <a:ext cx="2596896" cy="960120"/>
          </a:xfrm>
          <a:prstGeom prst="rect">
            <a:avLst/>
          </a:prstGeom>
          <a:noFill/>
        </p:spPr>
        <p:txBody>
          <a:bodyPr wrap="square" lIns="18288" tIns="18288" rIns="18288" bIns="0">
            <a:spAutoFit/>
          </a:bodyPr>
          <a:lstStyle/>
          <a:p>
            <a:pPr>
              <a:spcBef>
                <a:spcPts val="0"/>
              </a:spcBef>
              <a:spcAft>
                <a:spcPts val="0"/>
              </a:spcAft>
              <a:defRPr sz="1400" b="0">
                <a:solidFill>
                  <a:srgbClr val="102A39"/>
                </a:solidFill>
                <a:latin typeface="Arial"/>
              </a:defRPr>
            </a:pPr>
            <a:r>
              <a:t>Khi nhu cầu tăng nhanh, mức tăng của dự báo thấp hơn mức tăng quan sát.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Sai số ở khu vực đông khách cần được xem xét riêng theo ô và theo ngày</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11</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Hai hình gốc phân tích các ô có nhu cầu thực tế cao ở khoảng dự báo H60 cho từng loại xe.</a:t>
            </a:r>
          </a:p>
        </p:txBody>
      </p:sp>
      <p:sp>
        <p:nvSpPr>
          <p:cNvPr id="8" name="Rounded Rectangle 7"/>
          <p:cNvSpPr/>
          <p:nvPr/>
        </p:nvSpPr>
        <p:spPr>
          <a:xfrm>
            <a:off x="594360" y="1984248"/>
            <a:ext cx="5513832" cy="2770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81344" y="1984248"/>
            <a:ext cx="5422392" cy="2770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093976"/>
            <a:ext cx="5212080" cy="28346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CAR · H60</a:t>
            </a:r>
          </a:p>
        </p:txBody>
      </p:sp>
      <p:sp>
        <p:nvSpPr>
          <p:cNvPr id="11" name="TextBox 10"/>
          <p:cNvSpPr txBox="1"/>
          <p:nvPr/>
        </p:nvSpPr>
        <p:spPr>
          <a:xfrm>
            <a:off x="6345936" y="2093976"/>
            <a:ext cx="5029200" cy="28346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MOTORCYCLE · H60</a:t>
            </a:r>
          </a:p>
        </p:txBody>
      </p:sp>
      <p:pic>
        <p:nvPicPr>
          <p:cNvPr id="12" name="Picture 11" descr="report_14.png"/>
          <p:cNvPicPr>
            <a:picLocks noChangeAspect="1"/>
          </p:cNvPicPr>
          <p:nvPr/>
        </p:nvPicPr>
        <p:blipFill>
          <a:blip r:embed="rId2"/>
          <a:stretch>
            <a:fillRect/>
          </a:stretch>
        </p:blipFill>
        <p:spPr>
          <a:xfrm>
            <a:off x="967412" y="2468880"/>
            <a:ext cx="4786015" cy="2112264"/>
          </a:xfrm>
          <a:prstGeom prst="rect">
            <a:avLst/>
          </a:prstGeom>
        </p:spPr>
      </p:pic>
      <p:pic>
        <p:nvPicPr>
          <p:cNvPr id="13" name="Picture 12" descr="report_15.png"/>
          <p:cNvPicPr>
            <a:picLocks noChangeAspect="1"/>
          </p:cNvPicPr>
          <p:nvPr/>
        </p:nvPicPr>
        <p:blipFill>
          <a:blip r:embed="rId3"/>
          <a:stretch>
            <a:fillRect/>
          </a:stretch>
        </p:blipFill>
        <p:spPr>
          <a:xfrm>
            <a:off x="6467528" y="2468880"/>
            <a:ext cx="4786015" cy="2112264"/>
          </a:xfrm>
          <a:prstGeom prst="rect">
            <a:avLst/>
          </a:prstGeom>
        </p:spPr>
      </p:pic>
      <p:sp>
        <p:nvSpPr>
          <p:cNvPr id="14" name="Rounded Rectangle 13"/>
          <p:cNvSpPr/>
          <p:nvPr/>
        </p:nvSpPr>
        <p:spPr>
          <a:xfrm>
            <a:off x="612648" y="4983480"/>
            <a:ext cx="10991088" cy="11247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 y="4983480"/>
            <a:ext cx="68580" cy="1124712"/>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5193792"/>
            <a:ext cx="10543032" cy="529376"/>
          </a:xfrm>
          <a:prstGeom prst="rect">
            <a:avLst/>
          </a:prstGeom>
          <a:noFill/>
        </p:spPr>
        <p:txBody>
          <a:bodyPr wrap="square" lIns="18288" tIns="18288" rIns="18288" bIns="0">
            <a:spAutoFit/>
          </a:bodyPr>
          <a:lstStyle/>
          <a:p>
            <a:pPr>
              <a:spcBef>
                <a:spcPts val="0"/>
              </a:spcBef>
              <a:spcAft>
                <a:spcPts val="0"/>
              </a:spcAft>
              <a:defRPr sz="1660" b="0">
                <a:solidFill>
                  <a:srgbClr val="102A39"/>
                </a:solidFill>
                <a:latin typeface="Arial"/>
              </a:defRPr>
            </a:pPr>
            <a:r>
              <a:rPr dirty="0" err="1"/>
              <a:t>Biểu</a:t>
            </a:r>
            <a:r>
              <a:rPr dirty="0"/>
              <a:t> </a:t>
            </a:r>
            <a:r>
              <a:rPr dirty="0" err="1"/>
              <a:t>đồ</a:t>
            </a:r>
            <a:r>
              <a:rPr dirty="0"/>
              <a:t> </a:t>
            </a:r>
            <a:r>
              <a:rPr dirty="0" err="1"/>
              <a:t>cho</a:t>
            </a:r>
            <a:r>
              <a:rPr dirty="0"/>
              <a:t> thấy </a:t>
            </a:r>
            <a:r>
              <a:rPr dirty="0" err="1"/>
              <a:t>sai</a:t>
            </a:r>
            <a:r>
              <a:rPr dirty="0"/>
              <a:t> </a:t>
            </a:r>
            <a:r>
              <a:rPr dirty="0" err="1"/>
              <a:t>lệch</a:t>
            </a:r>
            <a:r>
              <a:rPr dirty="0"/>
              <a:t> </a:t>
            </a:r>
            <a:r>
              <a:rPr dirty="0" err="1"/>
              <a:t>có</a:t>
            </a:r>
            <a:r>
              <a:rPr dirty="0"/>
              <a:t> </a:t>
            </a:r>
            <a:r>
              <a:rPr dirty="0" err="1"/>
              <a:t>thể</a:t>
            </a:r>
            <a:r>
              <a:rPr dirty="0"/>
              <a:t> </a:t>
            </a:r>
            <a:r>
              <a:rPr dirty="0" err="1"/>
              <a:t>đổi</a:t>
            </a:r>
            <a:r>
              <a:rPr dirty="0"/>
              <a:t> </a:t>
            </a:r>
            <a:r>
              <a:rPr dirty="0" err="1"/>
              <a:t>chiều</a:t>
            </a:r>
            <a:r>
              <a:rPr dirty="0"/>
              <a:t> </a:t>
            </a:r>
            <a:r>
              <a:rPr dirty="0" err="1"/>
              <a:t>giữa</a:t>
            </a:r>
            <a:r>
              <a:rPr dirty="0"/>
              <a:t> </a:t>
            </a:r>
            <a:r>
              <a:rPr dirty="0" err="1"/>
              <a:t>khu</a:t>
            </a:r>
            <a:r>
              <a:rPr dirty="0"/>
              <a:t> </a:t>
            </a:r>
            <a:r>
              <a:rPr dirty="0" err="1"/>
              <a:t>vực</a:t>
            </a:r>
            <a:r>
              <a:rPr dirty="0"/>
              <a:t> </a:t>
            </a:r>
            <a:r>
              <a:rPr dirty="0" err="1"/>
              <a:t>và</a:t>
            </a:r>
            <a:r>
              <a:rPr dirty="0"/>
              <a:t> </a:t>
            </a:r>
            <a:r>
              <a:rPr dirty="0" err="1"/>
              <a:t>ngày</a:t>
            </a:r>
            <a:r>
              <a:rPr dirty="0"/>
              <a:t>. </a:t>
            </a:r>
            <a:r>
              <a:rPr dirty="0" err="1"/>
              <a:t>Dự</a:t>
            </a:r>
            <a:r>
              <a:rPr dirty="0"/>
              <a:t> </a:t>
            </a:r>
            <a:r>
              <a:rPr dirty="0" err="1"/>
              <a:t>án</a:t>
            </a:r>
            <a:r>
              <a:rPr dirty="0"/>
              <a:t> </a:t>
            </a:r>
            <a:r>
              <a:rPr dirty="0" err="1"/>
              <a:t>không</a:t>
            </a:r>
            <a:r>
              <a:rPr dirty="0"/>
              <a:t> </a:t>
            </a:r>
            <a:r>
              <a:rPr dirty="0" err="1"/>
              <a:t>áp</a:t>
            </a:r>
            <a:r>
              <a:rPr dirty="0"/>
              <a:t> </a:t>
            </a:r>
            <a:r>
              <a:rPr dirty="0" err="1"/>
              <a:t>dụng</a:t>
            </a:r>
            <a:r>
              <a:rPr dirty="0"/>
              <a:t> </a:t>
            </a:r>
            <a:r>
              <a:rPr dirty="0" err="1"/>
              <a:t>hệ</a:t>
            </a:r>
            <a:r>
              <a:rPr dirty="0"/>
              <a:t> </a:t>
            </a:r>
            <a:r>
              <a:rPr dirty="0" err="1"/>
              <a:t>số</a:t>
            </a:r>
            <a:r>
              <a:rPr dirty="0"/>
              <a:t> </a:t>
            </a:r>
            <a:r>
              <a:rPr dirty="0" err="1"/>
              <a:t>cộng</a:t>
            </a:r>
            <a:r>
              <a:rPr dirty="0"/>
              <a:t> </a:t>
            </a:r>
            <a:r>
              <a:rPr dirty="0" err="1"/>
              <a:t>bù</a:t>
            </a:r>
            <a:r>
              <a:rPr dirty="0"/>
              <a:t> </a:t>
            </a:r>
            <a:r>
              <a:rPr dirty="0" err="1"/>
              <a:t>cố</a:t>
            </a:r>
            <a:r>
              <a:rPr dirty="0"/>
              <a:t> </a:t>
            </a:r>
            <a:r>
              <a:rPr dirty="0" err="1"/>
              <a:t>định</a:t>
            </a:r>
            <a:r>
              <a:rPr dirty="0"/>
              <a:t> </a:t>
            </a:r>
            <a:r>
              <a:rPr dirty="0" err="1"/>
              <a:t>cho</a:t>
            </a:r>
            <a:r>
              <a:rPr dirty="0"/>
              <a:t> </a:t>
            </a:r>
            <a:r>
              <a:rPr dirty="0" err="1"/>
              <a:t>tất</a:t>
            </a:r>
            <a:r>
              <a:rPr dirty="0"/>
              <a:t> </a:t>
            </a:r>
            <a:r>
              <a:rPr dirty="0" err="1"/>
              <a:t>cả</a:t>
            </a:r>
            <a:r>
              <a:rPr dirty="0"/>
              <a:t> </a:t>
            </a:r>
            <a:r>
              <a:rPr dirty="0" err="1"/>
              <a:t>kết</a:t>
            </a:r>
            <a:r>
              <a:rPr dirty="0"/>
              <a:t> </a:t>
            </a:r>
            <a:r>
              <a:rPr dirty="0" err="1"/>
              <a:t>quả</a:t>
            </a:r>
            <a:r>
              <a:rPr dirty="0"/>
              <a:t> </a:t>
            </a:r>
            <a:r>
              <a:rPr dirty="0" err="1"/>
              <a:t>dự</a:t>
            </a:r>
            <a:r>
              <a:rPr dirty="0"/>
              <a:t> </a:t>
            </a:r>
            <a:r>
              <a:rPr dirty="0" err="1"/>
              <a:t>báo</a:t>
            </a:r>
            <a:r>
              <a:rPr lang="en-US" dirty="0"/>
              <a:t> </a:t>
            </a:r>
            <a:r>
              <a:rPr lang="en-US" dirty="0" err="1"/>
              <a:t>vì</a:t>
            </a:r>
            <a:r>
              <a:rPr lang="en-US" dirty="0"/>
              <a:t> </a:t>
            </a:r>
            <a:r>
              <a:rPr lang="en-US" dirty="0" err="1"/>
              <a:t>nếu</a:t>
            </a:r>
            <a:r>
              <a:rPr lang="en-US" dirty="0"/>
              <a:t> </a:t>
            </a:r>
            <a:r>
              <a:rPr lang="en-US" dirty="0" err="1"/>
              <a:t>cộng</a:t>
            </a:r>
            <a:r>
              <a:rPr lang="en-US" dirty="0"/>
              <a:t> </a:t>
            </a:r>
            <a:r>
              <a:rPr lang="en-US" dirty="0" err="1"/>
              <a:t>trừ</a:t>
            </a:r>
            <a:r>
              <a:rPr lang="en-US" dirty="0"/>
              <a:t> </a:t>
            </a:r>
            <a:r>
              <a:rPr lang="en-US" dirty="0" err="1"/>
              <a:t>cố</a:t>
            </a:r>
            <a:r>
              <a:rPr lang="en-US" dirty="0"/>
              <a:t> </a:t>
            </a:r>
            <a:r>
              <a:rPr lang="en-US" dirty="0" err="1"/>
              <a:t>định</a:t>
            </a:r>
            <a:r>
              <a:rPr lang="en-US" dirty="0"/>
              <a:t> </a:t>
            </a:r>
            <a:r>
              <a:rPr lang="en-US" dirty="0" err="1"/>
              <a:t>có</a:t>
            </a:r>
            <a:r>
              <a:rPr lang="en-US" dirty="0"/>
              <a:t> </a:t>
            </a:r>
            <a:r>
              <a:rPr lang="en-US" dirty="0" err="1"/>
              <a:t>thể</a:t>
            </a:r>
            <a:r>
              <a:rPr lang="en-US" dirty="0"/>
              <a:t> </a:t>
            </a:r>
            <a:r>
              <a:rPr lang="en-US" dirty="0" err="1"/>
              <a:t>sẽ</a:t>
            </a:r>
            <a:r>
              <a:rPr lang="en-US" dirty="0"/>
              <a:t> </a:t>
            </a:r>
            <a:r>
              <a:rPr lang="en-US" dirty="0" err="1"/>
              <a:t>làm</a:t>
            </a:r>
            <a:r>
              <a:rPr lang="en-US" dirty="0"/>
              <a:t> </a:t>
            </a:r>
            <a:r>
              <a:rPr lang="en-US" dirty="0" err="1"/>
              <a:t>sai</a:t>
            </a:r>
            <a:r>
              <a:rPr lang="en-US" dirty="0"/>
              <a:t> </a:t>
            </a:r>
            <a:r>
              <a:rPr lang="en-US" dirty="0" err="1"/>
              <a:t>số</a:t>
            </a:r>
            <a:r>
              <a:rPr lang="en-US" dirty="0"/>
              <a:t> </a:t>
            </a:r>
            <a:r>
              <a:rPr lang="en-US" dirty="0" err="1"/>
              <a:t>trầm</a:t>
            </a:r>
            <a:r>
              <a:rPr lang="en-US" dirty="0"/>
              <a:t> </a:t>
            </a:r>
            <a:r>
              <a:rPr lang="en-US" dirty="0" err="1"/>
              <a:t>trọng</a:t>
            </a:r>
            <a:r>
              <a:rPr lang="en-US" dirty="0"/>
              <a:t> </a:t>
            </a:r>
            <a:r>
              <a:rPr lang="en-US" dirty="0" err="1"/>
              <a:t>hơn</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05 · HUẤN LUYỆN VÀ QUẢN LÝ MÔ HÌNH</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Airflow tự động hóa huấn luyện, đánh giá và quản lý phiên bản mô hình</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12</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Luồng huấn luyện được triển khai từ lịch sử PostgreSQL đến bước đánh giá và lưu mô hình.</a:t>
            </a:r>
          </a:p>
        </p:txBody>
      </p:sp>
      <p:pic>
        <p:nvPicPr>
          <p:cNvPr id="8" name="Picture 7" descr="report_16.png"/>
          <p:cNvPicPr>
            <a:picLocks noChangeAspect="1"/>
          </p:cNvPicPr>
          <p:nvPr/>
        </p:nvPicPr>
        <p:blipFill>
          <a:blip r:embed="rId2"/>
          <a:stretch>
            <a:fillRect/>
          </a:stretch>
        </p:blipFill>
        <p:spPr>
          <a:xfrm>
            <a:off x="937967" y="1847088"/>
            <a:ext cx="10313017" cy="2697480"/>
          </a:xfrm>
          <a:prstGeom prst="rect">
            <a:avLst/>
          </a:prstGeom>
        </p:spPr>
      </p:pic>
      <p:sp>
        <p:nvSpPr>
          <p:cNvPr id="9" name="Rounded Rectangle 8"/>
          <p:cNvSpPr/>
          <p:nvPr/>
        </p:nvSpPr>
        <p:spPr>
          <a:xfrm>
            <a:off x="649224" y="4645152"/>
            <a:ext cx="7178040" cy="1627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18.png"/>
          <p:cNvPicPr>
            <a:picLocks noChangeAspect="1"/>
          </p:cNvPicPr>
          <p:nvPr/>
        </p:nvPicPr>
        <p:blipFill>
          <a:blip r:embed="rId3"/>
          <a:stretch>
            <a:fillRect/>
          </a:stretch>
        </p:blipFill>
        <p:spPr>
          <a:xfrm>
            <a:off x="1541024" y="4791456"/>
            <a:ext cx="5412727" cy="1289304"/>
          </a:xfrm>
          <a:prstGeom prst="rect">
            <a:avLst/>
          </a:prstGeom>
        </p:spPr>
      </p:pic>
      <p:sp>
        <p:nvSpPr>
          <p:cNvPr id="11" name="Rounded Rectangle 10"/>
          <p:cNvSpPr/>
          <p:nvPr/>
        </p:nvSpPr>
        <p:spPr>
          <a:xfrm>
            <a:off x="8037575" y="4645152"/>
            <a:ext cx="3511296" cy="1627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37575" y="4645152"/>
            <a:ext cx="64008" cy="1627632"/>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4800600"/>
            <a:ext cx="3017520" cy="292608"/>
          </a:xfrm>
          <a:prstGeom prst="rect">
            <a:avLst/>
          </a:prstGeom>
          <a:noFill/>
        </p:spPr>
        <p:txBody>
          <a:bodyPr wrap="square" lIns="18288" tIns="18288" rIns="18288" bIns="0">
            <a:spAutoFit/>
          </a:bodyPr>
          <a:lstStyle/>
          <a:p>
            <a:pPr>
              <a:spcBef>
                <a:spcPts val="0"/>
              </a:spcBef>
              <a:spcAft>
                <a:spcPts val="0"/>
              </a:spcAft>
              <a:defRPr sz="1270" b="1">
                <a:solidFill>
                  <a:srgbClr val="E2963A"/>
                </a:solidFill>
                <a:latin typeface="Arial"/>
              </a:defRPr>
            </a:pPr>
            <a:r>
              <a:t>ĐIỀU KIỆN PHÁT HÀNH</a:t>
            </a:r>
          </a:p>
        </p:txBody>
      </p:sp>
      <p:sp>
        <p:nvSpPr>
          <p:cNvPr id="14" name="TextBox 13"/>
          <p:cNvSpPr txBox="1"/>
          <p:nvPr/>
        </p:nvSpPr>
        <p:spPr>
          <a:xfrm>
            <a:off x="8257031" y="5175504"/>
            <a:ext cx="2990088" cy="692497"/>
          </a:xfrm>
          <a:prstGeom prst="rect">
            <a:avLst/>
          </a:prstGeom>
          <a:noFill/>
        </p:spPr>
        <p:txBody>
          <a:bodyPr wrap="square" lIns="18288" tIns="18288" rIns="18288" bIns="0">
            <a:spAutoFit/>
          </a:bodyPr>
          <a:lstStyle/>
          <a:p>
            <a:pPr>
              <a:spcBef>
                <a:spcPts val="0"/>
              </a:spcBef>
              <a:spcAft>
                <a:spcPts val="0"/>
              </a:spcAft>
              <a:defRPr sz="1460" b="0">
                <a:solidFill>
                  <a:srgbClr val="102A39"/>
                </a:solidFill>
                <a:latin typeface="Arial"/>
              </a:defRPr>
            </a:pPr>
            <a:r>
              <a:rPr lang="en-US" dirty="0"/>
              <a:t>TEST WMAPE </a:t>
            </a:r>
            <a:r>
              <a:rPr lang="en-US" dirty="0" err="1"/>
              <a:t>phải</a:t>
            </a:r>
            <a:r>
              <a:rPr lang="en-US" dirty="0"/>
              <a:t> </a:t>
            </a:r>
            <a:r>
              <a:rPr lang="en-US" dirty="0" err="1"/>
              <a:t>dưới</a:t>
            </a:r>
            <a:r>
              <a:rPr lang="en-US" dirty="0"/>
              <a:t> 20% </a:t>
            </a:r>
            <a:r>
              <a:rPr lang="en-US" dirty="0" err="1"/>
              <a:t>thì</a:t>
            </a:r>
            <a:r>
              <a:rPr lang="en-US" dirty="0"/>
              <a:t> </a:t>
            </a:r>
            <a:r>
              <a:rPr lang="en-US" dirty="0" err="1"/>
              <a:t>mới</a:t>
            </a:r>
            <a:r>
              <a:rPr lang="en-US" dirty="0"/>
              <a:t> </a:t>
            </a:r>
            <a:r>
              <a:rPr lang="en-US" dirty="0" err="1"/>
              <a:t>đủ</a:t>
            </a:r>
            <a:r>
              <a:rPr lang="en-US" dirty="0"/>
              <a:t> </a:t>
            </a:r>
            <a:r>
              <a:rPr lang="en-US" dirty="0" err="1"/>
              <a:t>điều</a:t>
            </a:r>
            <a:r>
              <a:rPr lang="en-US" dirty="0"/>
              <a:t> </a:t>
            </a:r>
            <a:r>
              <a:rPr lang="en-US" dirty="0" err="1"/>
              <a:t>kiện</a:t>
            </a:r>
            <a:r>
              <a:rPr lang="en-US" dirty="0"/>
              <a:t> để </a:t>
            </a:r>
            <a:r>
              <a:rPr lang="en-US" dirty="0" err="1"/>
              <a:t>đi</a:t>
            </a:r>
            <a:r>
              <a:rPr lang="en-US" dirty="0"/>
              <a:t> </a:t>
            </a:r>
            <a:r>
              <a:rPr lang="en-US" dirty="0" err="1"/>
              <a:t>đến</a:t>
            </a:r>
            <a:r>
              <a:rPr lang="en-US" dirty="0"/>
              <a:t> </a:t>
            </a:r>
            <a:r>
              <a:rPr lang="en-US" dirty="0" err="1"/>
              <a:t>luồng</a:t>
            </a:r>
            <a:r>
              <a:rPr lang="en-US" dirty="0"/>
              <a:t> </a:t>
            </a:r>
            <a:r>
              <a:rPr lang="en-US" dirty="0" err="1"/>
              <a:t>triển</a:t>
            </a:r>
            <a:r>
              <a:rPr lang="en-US" dirty="0"/>
              <a:t> </a:t>
            </a:r>
            <a:r>
              <a:rPr lang="en-US" dirty="0" err="1"/>
              <a:t>khai</a:t>
            </a:r>
            <a:r>
              <a:rPr lang="en-US" dirty="0"/>
              <a:t> </a:t>
            </a:r>
            <a:r>
              <a:rPr lang="en-US" dirty="0" err="1"/>
              <a:t>dự</a:t>
            </a:r>
            <a:r>
              <a:rPr lang="en-US" dirty="0"/>
              <a:t> </a:t>
            </a:r>
            <a:r>
              <a:rPr lang="en-US" dirty="0" err="1"/>
              <a:t>báo</a:t>
            </a:r>
            <a:r>
              <a:rPr lang="en-US" dirty="0"/>
              <a:t>.</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06 · TRIỂN KHAI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Luồng dự báo định kỳ đưa kết quả mô hình lên bản đồ theo ô H3</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13</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Dịch vụ đọc các bucket đã đóng, tạo đặc trưng tương ứng, chạy mô hình rồi lưu kết quả vào PostgreSQL.</a:t>
            </a:r>
          </a:p>
        </p:txBody>
      </p:sp>
      <p:pic>
        <p:nvPicPr>
          <p:cNvPr id="8" name="Picture 7" descr="report_19.png"/>
          <p:cNvPicPr>
            <a:picLocks noChangeAspect="1"/>
          </p:cNvPicPr>
          <p:nvPr/>
        </p:nvPicPr>
        <p:blipFill>
          <a:blip r:embed="rId2"/>
          <a:stretch>
            <a:fillRect/>
          </a:stretch>
        </p:blipFill>
        <p:spPr>
          <a:xfrm>
            <a:off x="658368" y="1875456"/>
            <a:ext cx="10881360" cy="2274983"/>
          </a:xfrm>
          <a:prstGeom prst="rect">
            <a:avLst/>
          </a:prstGeom>
        </p:spPr>
      </p:pic>
      <p:sp>
        <p:nvSpPr>
          <p:cNvPr id="9" name="Rounded Rectangle 8"/>
          <p:cNvSpPr/>
          <p:nvPr/>
        </p:nvSpPr>
        <p:spPr>
          <a:xfrm>
            <a:off x="640080" y="4306824"/>
            <a:ext cx="4572000" cy="1847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21.png"/>
          <p:cNvPicPr>
            <a:picLocks noChangeAspect="1"/>
          </p:cNvPicPr>
          <p:nvPr/>
        </p:nvPicPr>
        <p:blipFill>
          <a:blip r:embed="rId3"/>
          <a:stretch>
            <a:fillRect/>
          </a:stretch>
        </p:blipFill>
        <p:spPr>
          <a:xfrm>
            <a:off x="1737744" y="4407408"/>
            <a:ext cx="2340094" cy="1618488"/>
          </a:xfrm>
          <a:prstGeom prst="rect">
            <a:avLst/>
          </a:prstGeom>
        </p:spPr>
      </p:pic>
      <p:sp>
        <p:nvSpPr>
          <p:cNvPr id="11" name="Rounded Rectangle 10"/>
          <p:cNvSpPr/>
          <p:nvPr/>
        </p:nvSpPr>
        <p:spPr>
          <a:xfrm>
            <a:off x="5431536" y="4306824"/>
            <a:ext cx="6108192" cy="1847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31536" y="4306824"/>
            <a:ext cx="64008" cy="1847088"/>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41848" y="4471416"/>
            <a:ext cx="5605272" cy="32918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KẾT QUẢ CÓ THỂ TRA CỨU</a:t>
            </a:r>
          </a:p>
        </p:txBody>
      </p:sp>
      <p:sp>
        <p:nvSpPr>
          <p:cNvPr id="14" name="TextBox 13"/>
          <p:cNvSpPr txBox="1"/>
          <p:nvPr/>
        </p:nvSpPr>
        <p:spPr>
          <a:xfrm>
            <a:off x="5641848" y="4892040"/>
            <a:ext cx="5559552" cy="1042415"/>
          </a:xfrm>
          <a:prstGeom prst="rect">
            <a:avLst/>
          </a:prstGeom>
          <a:noFill/>
        </p:spPr>
        <p:txBody>
          <a:bodyPr wrap="square" lIns="18288" tIns="18288" rIns="18288" bIns="0">
            <a:spAutoFit/>
          </a:bodyPr>
          <a:lstStyle/>
          <a:p>
            <a:pPr>
              <a:spcBef>
                <a:spcPts val="0"/>
              </a:spcBef>
              <a:spcAft>
                <a:spcPts val="0"/>
              </a:spcAft>
              <a:defRPr sz="1500" b="0">
                <a:solidFill>
                  <a:srgbClr val="102A39"/>
                </a:solidFill>
                <a:latin typeface="Arial"/>
              </a:defRPr>
            </a:pPr>
            <a:r>
              <a:t>Giao diện cho phép lựa chọn loại xe, khoảng dự báo và từng ô H3. Dự báo được lưu kèm thời điểm phát hành và phiên bản mô hình để đối chiếu lại.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07 · GIÁM SÁT VÀ CẢNH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Giám sát giúp phân biệt vấn đề dữ liệu, sai số và dịch chuyển phân phối</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14</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Ba màn hình hệ thống minh chứng việc kiểm tra dữ liệu đầu vào, độ phủ quan sát và phân phối dự báo.</a:t>
            </a:r>
          </a:p>
        </p:txBody>
      </p:sp>
      <p:sp>
        <p:nvSpPr>
          <p:cNvPr id="8" name="Rounded Rectangle 7"/>
          <p:cNvSpPr/>
          <p:nvPr/>
        </p:nvSpPr>
        <p:spPr>
          <a:xfrm>
            <a:off x="630936" y="1901952"/>
            <a:ext cx="5669280" cy="1965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02536"/>
            <a:ext cx="5394960" cy="274320"/>
          </a:xfrm>
          <a:prstGeom prst="rect">
            <a:avLst/>
          </a:prstGeom>
          <a:noFill/>
        </p:spPr>
        <p:txBody>
          <a:bodyPr wrap="square" lIns="18288" tIns="18288" rIns="18288" bIns="0">
            <a:spAutoFit/>
          </a:bodyPr>
          <a:lstStyle/>
          <a:p>
            <a:pPr>
              <a:spcBef>
                <a:spcPts val="0"/>
              </a:spcBef>
              <a:spcAft>
                <a:spcPts val="0"/>
              </a:spcAft>
              <a:defRPr sz="1290" b="1">
                <a:solidFill>
                  <a:srgbClr val="009587"/>
                </a:solidFill>
                <a:latin typeface="Arial"/>
              </a:defRPr>
            </a:pPr>
            <a:r>
              <a:t>DỮ LIỆU ĐẦU VÀO</a:t>
            </a:r>
          </a:p>
        </p:txBody>
      </p:sp>
      <p:pic>
        <p:nvPicPr>
          <p:cNvPr id="10" name="Picture 9" descr="report_23.png"/>
          <p:cNvPicPr>
            <a:picLocks noChangeAspect="1"/>
          </p:cNvPicPr>
          <p:nvPr/>
        </p:nvPicPr>
        <p:blipFill>
          <a:blip r:embed="rId2"/>
          <a:stretch>
            <a:fillRect/>
          </a:stretch>
        </p:blipFill>
        <p:spPr>
          <a:xfrm>
            <a:off x="1711064" y="2250177"/>
            <a:ext cx="3739825" cy="1498863"/>
          </a:xfrm>
          <a:prstGeom prst="rect">
            <a:avLst/>
          </a:prstGeom>
        </p:spPr>
      </p:pic>
      <p:sp>
        <p:nvSpPr>
          <p:cNvPr id="11" name="Rounded Rectangle 10"/>
          <p:cNvSpPr/>
          <p:nvPr/>
        </p:nvSpPr>
        <p:spPr>
          <a:xfrm>
            <a:off x="630936" y="4014215"/>
            <a:ext cx="5669280" cy="2057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105656"/>
            <a:ext cx="5394960" cy="320040"/>
          </a:xfrm>
          <a:prstGeom prst="rect">
            <a:avLst/>
          </a:prstGeom>
          <a:noFill/>
        </p:spPr>
        <p:txBody>
          <a:bodyPr wrap="square" lIns="18288" tIns="18288" rIns="18288" bIns="0">
            <a:spAutoFit/>
          </a:bodyPr>
          <a:lstStyle/>
          <a:p>
            <a:pPr>
              <a:spcBef>
                <a:spcPts val="0"/>
              </a:spcBef>
              <a:spcAft>
                <a:spcPts val="0"/>
              </a:spcAft>
              <a:defRPr sz="1290" b="1">
                <a:solidFill>
                  <a:srgbClr val="009587"/>
                </a:solidFill>
                <a:latin typeface="Arial"/>
              </a:defRPr>
            </a:pPr>
            <a:r>
              <a:t>SAI SỐ VÀ ĐỘ PHỦ QUAN SÁT</a:t>
            </a:r>
          </a:p>
        </p:txBody>
      </p:sp>
      <p:pic>
        <p:nvPicPr>
          <p:cNvPr id="13" name="Picture 12" descr="report_24.png"/>
          <p:cNvPicPr>
            <a:picLocks noChangeAspect="1"/>
          </p:cNvPicPr>
          <p:nvPr/>
        </p:nvPicPr>
        <p:blipFill>
          <a:blip r:embed="rId3"/>
          <a:stretch>
            <a:fillRect/>
          </a:stretch>
        </p:blipFill>
        <p:spPr>
          <a:xfrm>
            <a:off x="1624598" y="4498848"/>
            <a:ext cx="3672810" cy="1353312"/>
          </a:xfrm>
          <a:prstGeom prst="rect">
            <a:avLst/>
          </a:prstGeom>
        </p:spPr>
      </p:pic>
      <p:sp>
        <p:nvSpPr>
          <p:cNvPr id="14" name="Rounded Rectangle 13"/>
          <p:cNvSpPr/>
          <p:nvPr/>
        </p:nvSpPr>
        <p:spPr>
          <a:xfrm>
            <a:off x="6519672" y="1901952"/>
            <a:ext cx="5010912"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11696" y="2020824"/>
            <a:ext cx="4608576" cy="320040"/>
          </a:xfrm>
          <a:prstGeom prst="rect">
            <a:avLst/>
          </a:prstGeom>
          <a:noFill/>
        </p:spPr>
        <p:txBody>
          <a:bodyPr wrap="square" lIns="18288" tIns="18288" rIns="18288" bIns="0">
            <a:spAutoFit/>
          </a:bodyPr>
          <a:lstStyle/>
          <a:p>
            <a:pPr>
              <a:spcBef>
                <a:spcPts val="0"/>
              </a:spcBef>
              <a:spcAft>
                <a:spcPts val="0"/>
              </a:spcAft>
              <a:defRPr sz="1300" b="1">
                <a:solidFill>
                  <a:srgbClr val="009587"/>
                </a:solidFill>
                <a:latin typeface="Arial"/>
              </a:defRPr>
            </a:pPr>
            <a:r>
              <a:t>DỊCH PHÂN PHỐI DỰ BÁO</a:t>
            </a:r>
          </a:p>
        </p:txBody>
      </p:sp>
      <p:pic>
        <p:nvPicPr>
          <p:cNvPr id="16" name="Picture 15" descr="report_25.png"/>
          <p:cNvPicPr>
            <a:picLocks noChangeAspect="1"/>
          </p:cNvPicPr>
          <p:nvPr/>
        </p:nvPicPr>
        <p:blipFill>
          <a:blip r:embed="rId4"/>
          <a:stretch>
            <a:fillRect/>
          </a:stretch>
        </p:blipFill>
        <p:spPr>
          <a:xfrm>
            <a:off x="6693408" y="2515285"/>
            <a:ext cx="4663440" cy="2494940"/>
          </a:xfrm>
          <a:prstGeom prst="rect">
            <a:avLst/>
          </a:prstGeom>
        </p:spPr>
      </p:pic>
      <p:sp>
        <p:nvSpPr>
          <p:cNvPr id="17" name="TextBox 16"/>
          <p:cNvSpPr txBox="1"/>
          <p:nvPr/>
        </p:nvSpPr>
        <p:spPr>
          <a:xfrm>
            <a:off x="6748272" y="5056632"/>
            <a:ext cx="4572000" cy="822960"/>
          </a:xfrm>
          <a:prstGeom prst="rect">
            <a:avLst/>
          </a:prstGeom>
          <a:noFill/>
        </p:spPr>
        <p:txBody>
          <a:bodyPr wrap="square" lIns="18288" tIns="18288" rIns="18288" bIns="0">
            <a:spAutoFit/>
          </a:bodyPr>
          <a:lstStyle/>
          <a:p>
            <a:pPr>
              <a:spcBef>
                <a:spcPts val="0"/>
              </a:spcBef>
              <a:spcAft>
                <a:spcPts val="0"/>
              </a:spcAft>
              <a:defRPr sz="1430" b="0">
                <a:solidFill>
                  <a:srgbClr val="102A39"/>
                </a:solidFill>
                <a:latin typeface="Arial"/>
              </a:defRPr>
            </a:pPr>
            <a:r>
              <a:t>Ảnh giám sát cho thấy cảnh báo PSI tập trung ở Motorcycle. Cần kiểm tra dữ liệu quan sát trước khi quy lỗi cho mô hình.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07 · GIÁM SÁT VÀ CẢNH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Cảnh báo tự động giúp theo dõi các điều kiện vận hành</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15</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Các quy tắc giám sát dữ liệu đầu vào, sai số dự báo và thay đổi phân phối được tổng hợp trên bảng cảnh báo.</a:t>
            </a:r>
          </a:p>
        </p:txBody>
      </p:sp>
      <p:pic>
        <p:nvPicPr>
          <p:cNvPr id="8" name="Picture 7" descr="report_26.png"/>
          <p:cNvPicPr>
            <a:picLocks noChangeAspect="1"/>
          </p:cNvPicPr>
          <p:nvPr/>
        </p:nvPicPr>
        <p:blipFill>
          <a:blip r:embed="rId2"/>
          <a:stretch>
            <a:fillRect/>
          </a:stretch>
        </p:blipFill>
        <p:spPr>
          <a:xfrm>
            <a:off x="884542" y="1993392"/>
            <a:ext cx="10392435" cy="3575304"/>
          </a:xfrm>
          <a:prstGeom prst="rect">
            <a:avLst/>
          </a:prstGeom>
        </p:spPr>
      </p:pic>
      <p:sp>
        <p:nvSpPr>
          <p:cNvPr id="9" name="Rounded Rectangle 8"/>
          <p:cNvSpPr/>
          <p:nvPr/>
        </p:nvSpPr>
        <p:spPr>
          <a:xfrm>
            <a:off x="676656" y="5641848"/>
            <a:ext cx="10808208" cy="5852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6656" y="5641848"/>
            <a:ext cx="64008" cy="585216"/>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5733288"/>
            <a:ext cx="10396728" cy="411480"/>
          </a:xfrm>
          <a:prstGeom prst="rect">
            <a:avLst/>
          </a:prstGeom>
          <a:noFill/>
        </p:spPr>
        <p:txBody>
          <a:bodyPr wrap="square" lIns="18288" tIns="18288" rIns="18288" bIns="0">
            <a:spAutoFit/>
          </a:bodyPr>
          <a:lstStyle/>
          <a:p>
            <a:pPr>
              <a:spcBef>
                <a:spcPts val="0"/>
              </a:spcBef>
              <a:spcAft>
                <a:spcPts val="0"/>
              </a:spcAft>
              <a:defRPr sz="1520" b="0">
                <a:solidFill>
                  <a:srgbClr val="102A39"/>
                </a:solidFill>
                <a:latin typeface="Arial"/>
              </a:defRPr>
            </a:pPr>
            <a:r>
              <a:rPr dirty="0" err="1"/>
              <a:t>Bảng</a:t>
            </a:r>
            <a:r>
              <a:rPr dirty="0"/>
              <a:t> </a:t>
            </a:r>
            <a:r>
              <a:rPr dirty="0" err="1"/>
              <a:t>cảnh</a:t>
            </a:r>
            <a:r>
              <a:rPr dirty="0"/>
              <a:t> </a:t>
            </a:r>
            <a:r>
              <a:rPr dirty="0" err="1"/>
              <a:t>báo</a:t>
            </a:r>
            <a:r>
              <a:rPr dirty="0"/>
              <a:t> </a:t>
            </a:r>
            <a:r>
              <a:rPr dirty="0" err="1"/>
              <a:t>hiển</a:t>
            </a:r>
            <a:r>
              <a:rPr dirty="0"/>
              <a:t> </a:t>
            </a:r>
            <a:r>
              <a:rPr dirty="0" err="1"/>
              <a:t>thị</a:t>
            </a:r>
            <a:r>
              <a:rPr dirty="0"/>
              <a:t> </a:t>
            </a:r>
            <a:r>
              <a:rPr dirty="0" err="1"/>
              <a:t>trạng</a:t>
            </a:r>
            <a:r>
              <a:rPr dirty="0"/>
              <a:t> </a:t>
            </a:r>
            <a:r>
              <a:rPr dirty="0" err="1"/>
              <a:t>thái</a:t>
            </a:r>
            <a:r>
              <a:rPr dirty="0"/>
              <a:t> </a:t>
            </a:r>
            <a:r>
              <a:rPr dirty="0" err="1"/>
              <a:t>từng</a:t>
            </a:r>
            <a:r>
              <a:rPr dirty="0"/>
              <a:t> </a:t>
            </a:r>
            <a:r>
              <a:rPr dirty="0" err="1"/>
              <a:t>quy</a:t>
            </a:r>
            <a:r>
              <a:rPr dirty="0"/>
              <a:t> </a:t>
            </a:r>
            <a:r>
              <a:rPr dirty="0" err="1"/>
              <a:t>tắc</a:t>
            </a:r>
            <a:r>
              <a:rPr dirty="0"/>
              <a:t>, </a:t>
            </a:r>
            <a:r>
              <a:rPr dirty="0" err="1"/>
              <a:t>hỗ</a:t>
            </a:r>
            <a:r>
              <a:rPr dirty="0"/>
              <a:t> </a:t>
            </a:r>
            <a:r>
              <a:rPr dirty="0" err="1"/>
              <a:t>trợ</a:t>
            </a:r>
            <a:r>
              <a:rPr dirty="0"/>
              <a:t> </a:t>
            </a:r>
            <a:r>
              <a:rPr dirty="0" err="1"/>
              <a:t>theo</a:t>
            </a:r>
            <a:r>
              <a:rPr dirty="0"/>
              <a:t> </a:t>
            </a:r>
            <a:r>
              <a:rPr dirty="0" err="1"/>
              <a:t>dõi</a:t>
            </a:r>
            <a:r>
              <a:rPr dirty="0"/>
              <a:t> </a:t>
            </a:r>
            <a:r>
              <a:rPr dirty="0" err="1"/>
              <a:t>và</a:t>
            </a:r>
            <a:r>
              <a:rPr dirty="0"/>
              <a:t> </a:t>
            </a:r>
            <a:r>
              <a:rPr dirty="0" err="1"/>
              <a:t>kiểm</a:t>
            </a:r>
            <a:r>
              <a:rPr dirty="0"/>
              <a:t> </a:t>
            </a:r>
            <a:r>
              <a:rPr dirty="0" err="1"/>
              <a:t>tra</a:t>
            </a:r>
            <a:r>
              <a:rPr dirty="0"/>
              <a:t> </a:t>
            </a:r>
            <a:r>
              <a:rPr dirty="0" err="1"/>
              <a:t>hoạt</a:t>
            </a:r>
            <a:r>
              <a:rPr dirty="0"/>
              <a:t> </a:t>
            </a:r>
            <a:r>
              <a:rPr dirty="0" err="1"/>
              <a:t>động</a:t>
            </a:r>
            <a:r>
              <a:rPr dirty="0"/>
              <a:t> </a:t>
            </a:r>
            <a:r>
              <a:rPr dirty="0" err="1"/>
              <a:t>của</a:t>
            </a:r>
            <a:r>
              <a:rPr dirty="0"/>
              <a:t> </a:t>
            </a:r>
            <a:r>
              <a:rPr dirty="0" err="1"/>
              <a:t>hệ</a:t>
            </a:r>
            <a:r>
              <a:rPr dirty="0"/>
              <a:t> </a:t>
            </a:r>
            <a:r>
              <a:rPr dirty="0" err="1"/>
              <a:t>thống</a:t>
            </a:r>
            <a:r>
              <a:rPr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08 · KẾT LUẬN</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Hoàn thiện quy trình dự báo nhu cầu đặt xe theo khu vực</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16</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Trên dữ liệu mô phỏng, dự án đã xây dựng quy trình từ lựa chọn mô hình đến huấn luyện, cung cấp dự báo và giám sát.</a:t>
            </a:r>
          </a:p>
        </p:txBody>
      </p:sp>
      <p:sp>
        <p:nvSpPr>
          <p:cNvPr id="8" name="Rounded Rectangle 7"/>
          <p:cNvSpPr/>
          <p:nvPr/>
        </p:nvSpPr>
        <p:spPr>
          <a:xfrm>
            <a:off x="630936" y="2157984"/>
            <a:ext cx="3520440" cy="29169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 y="2157984"/>
            <a:ext cx="3520440" cy="86868"/>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7" y="2468880"/>
            <a:ext cx="128016" cy="128016"/>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0704" y="2395728"/>
            <a:ext cx="2825496" cy="411480"/>
          </a:xfrm>
          <a:prstGeom prst="rect">
            <a:avLst/>
          </a:prstGeom>
          <a:noFill/>
        </p:spPr>
        <p:txBody>
          <a:bodyPr wrap="square" lIns="9144" tIns="9144" rIns="9144" bIns="9144" anchor="t">
            <a:spAutoFit/>
          </a:bodyPr>
          <a:lstStyle/>
          <a:p>
            <a:pPr>
              <a:spcBef>
                <a:spcPts val="0"/>
              </a:spcBef>
              <a:spcAft>
                <a:spcPts val="0"/>
              </a:spcAft>
            </a:pPr>
            <a:r>
              <a:rPr sz="1440" b="1">
                <a:solidFill>
                  <a:srgbClr val="009587"/>
                </a:solidFill>
                <a:latin typeface="Arial"/>
              </a:rPr>
              <a:t>MÔ HÌNH DỰ BÁO</a:t>
            </a:r>
          </a:p>
        </p:txBody>
      </p:sp>
      <p:sp>
        <p:nvSpPr>
          <p:cNvPr id="12" name="Rectangle 11"/>
          <p:cNvSpPr/>
          <p:nvPr/>
        </p:nvSpPr>
        <p:spPr>
          <a:xfrm>
            <a:off x="841247" y="2953512"/>
            <a:ext cx="3072384" cy="12801"/>
          </a:xfrm>
          <a:prstGeom prst="rect">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 y="3182112"/>
            <a:ext cx="3044952" cy="1709928"/>
          </a:xfrm>
          <a:prstGeom prst="rect">
            <a:avLst/>
          </a:prstGeom>
          <a:noFill/>
        </p:spPr>
        <p:txBody>
          <a:bodyPr wrap="square" lIns="9144" tIns="9144" rIns="9144" bIns="9144" anchor="t">
            <a:spAutoFit/>
          </a:bodyPr>
          <a:lstStyle/>
          <a:p>
            <a:pPr>
              <a:spcBef>
                <a:spcPts val="0"/>
              </a:spcBef>
              <a:spcAft>
                <a:spcPts val="0"/>
              </a:spcAft>
            </a:pPr>
            <a:r>
              <a:rPr sz="1730" b="0">
                <a:solidFill>
                  <a:srgbClr val="0A2032"/>
                </a:solidFill>
                <a:latin typeface="Arial"/>
              </a:rPr>
              <a:t>Các mô hình LightGBM dự báo trực tiếp nhu cầu Car và Motorcycle tại H10, H30 và H60. Tất cả đáp ứng mục tiêu WMAPE trên tập TEST.</a:t>
            </a:r>
          </a:p>
        </p:txBody>
      </p:sp>
      <p:sp>
        <p:nvSpPr>
          <p:cNvPr id="14" name="Rounded Rectangle 13"/>
          <p:cNvSpPr/>
          <p:nvPr/>
        </p:nvSpPr>
        <p:spPr>
          <a:xfrm>
            <a:off x="4306823" y="2157984"/>
            <a:ext cx="3520440" cy="29169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06823" y="2157984"/>
            <a:ext cx="3520440" cy="86868"/>
          </a:xfrm>
          <a:prstGeom prst="rect">
            <a:avLst/>
          </a:prstGeom>
          <a:solidFill>
            <a:srgbClr val="427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17136" y="2468880"/>
            <a:ext cx="128016" cy="128016"/>
          </a:xfrm>
          <a:prstGeom prst="rect">
            <a:avLst/>
          </a:prstGeom>
          <a:solidFill>
            <a:srgbClr val="4279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36591" y="2395728"/>
            <a:ext cx="2825496" cy="411480"/>
          </a:xfrm>
          <a:prstGeom prst="rect">
            <a:avLst/>
          </a:prstGeom>
          <a:noFill/>
        </p:spPr>
        <p:txBody>
          <a:bodyPr wrap="square" lIns="9144" tIns="9144" rIns="9144" bIns="9144" anchor="t">
            <a:spAutoFit/>
          </a:bodyPr>
          <a:lstStyle/>
          <a:p>
            <a:pPr>
              <a:spcBef>
                <a:spcPts val="0"/>
              </a:spcBef>
              <a:spcAft>
                <a:spcPts val="0"/>
              </a:spcAft>
            </a:pPr>
            <a:r>
              <a:rPr sz="1440" b="1">
                <a:solidFill>
                  <a:srgbClr val="4279B7"/>
                </a:solidFill>
                <a:latin typeface="Arial"/>
              </a:rPr>
              <a:t>TRIỂN KHAI TỰ ĐỘNG</a:t>
            </a:r>
          </a:p>
        </p:txBody>
      </p:sp>
      <p:sp>
        <p:nvSpPr>
          <p:cNvPr id="18" name="Rectangle 17"/>
          <p:cNvSpPr/>
          <p:nvPr/>
        </p:nvSpPr>
        <p:spPr>
          <a:xfrm>
            <a:off x="4517136" y="2953512"/>
            <a:ext cx="3072384" cy="12801"/>
          </a:xfrm>
          <a:prstGeom prst="rect">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79" y="3182112"/>
            <a:ext cx="3044952" cy="1709928"/>
          </a:xfrm>
          <a:prstGeom prst="rect">
            <a:avLst/>
          </a:prstGeom>
          <a:noFill/>
        </p:spPr>
        <p:txBody>
          <a:bodyPr wrap="square" lIns="9144" tIns="9144" rIns="9144" bIns="9144" anchor="t">
            <a:spAutoFit/>
          </a:bodyPr>
          <a:lstStyle/>
          <a:p>
            <a:pPr>
              <a:spcBef>
                <a:spcPts val="0"/>
              </a:spcBef>
              <a:spcAft>
                <a:spcPts val="0"/>
              </a:spcAft>
            </a:pPr>
            <a:r>
              <a:rPr sz="1730" b="0">
                <a:solidFill>
                  <a:srgbClr val="0A2032"/>
                </a:solidFill>
                <a:latin typeface="Arial"/>
              </a:rPr>
              <a:t>Airflow điều phối huấn luyện và tạo dự báo theo lịch. Kết quả được lưu trong PostgreSQL, cung cấp qua FastAPI và hiển thị trên bản đồ H3.</a:t>
            </a:r>
          </a:p>
        </p:txBody>
      </p:sp>
      <p:sp>
        <p:nvSpPr>
          <p:cNvPr id="20" name="Rounded Rectangle 19"/>
          <p:cNvSpPr/>
          <p:nvPr/>
        </p:nvSpPr>
        <p:spPr>
          <a:xfrm>
            <a:off x="7982711" y="2157984"/>
            <a:ext cx="3520440" cy="29169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82711" y="2157984"/>
            <a:ext cx="3520440" cy="86868"/>
          </a:xfrm>
          <a:prstGeom prst="rect">
            <a:avLst/>
          </a:prstGeom>
          <a:solidFill>
            <a:srgbClr val="D9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93023" y="2468880"/>
            <a:ext cx="128016" cy="128016"/>
          </a:xfrm>
          <a:prstGeom prst="rect">
            <a:avLst/>
          </a:prstGeom>
          <a:solidFill>
            <a:srgbClr val="D99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2395728"/>
            <a:ext cx="2825496" cy="411480"/>
          </a:xfrm>
          <a:prstGeom prst="rect">
            <a:avLst/>
          </a:prstGeom>
          <a:noFill/>
        </p:spPr>
        <p:txBody>
          <a:bodyPr wrap="square" lIns="9144" tIns="9144" rIns="9144" bIns="9144" anchor="t">
            <a:spAutoFit/>
          </a:bodyPr>
          <a:lstStyle/>
          <a:p>
            <a:pPr>
              <a:spcBef>
                <a:spcPts val="0"/>
              </a:spcBef>
              <a:spcAft>
                <a:spcPts val="0"/>
              </a:spcAft>
            </a:pPr>
            <a:r>
              <a:rPr sz="1440" b="1">
                <a:solidFill>
                  <a:srgbClr val="D99939"/>
                </a:solidFill>
                <a:latin typeface="Arial"/>
              </a:rPr>
              <a:t>GIÁM SÁT HỆ THỐNG</a:t>
            </a:r>
          </a:p>
        </p:txBody>
      </p:sp>
      <p:sp>
        <p:nvSpPr>
          <p:cNvPr id="24" name="Rectangle 23"/>
          <p:cNvSpPr/>
          <p:nvPr/>
        </p:nvSpPr>
        <p:spPr>
          <a:xfrm>
            <a:off x="8193023" y="2953512"/>
            <a:ext cx="3072384" cy="12801"/>
          </a:xfrm>
          <a:prstGeom prst="rect">
            <a:avLst/>
          </a:prstGeom>
          <a:solidFill>
            <a:srgbClr val="E8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7" y="3182112"/>
            <a:ext cx="3044952" cy="1709928"/>
          </a:xfrm>
          <a:prstGeom prst="rect">
            <a:avLst/>
          </a:prstGeom>
          <a:noFill/>
        </p:spPr>
        <p:txBody>
          <a:bodyPr wrap="square" lIns="9144" tIns="9144" rIns="9144" bIns="9144" anchor="t">
            <a:spAutoFit/>
          </a:bodyPr>
          <a:lstStyle/>
          <a:p>
            <a:pPr>
              <a:spcBef>
                <a:spcPts val="0"/>
              </a:spcBef>
              <a:spcAft>
                <a:spcPts val="0"/>
              </a:spcAft>
            </a:pPr>
            <a:r>
              <a:rPr sz="1730" b="0">
                <a:solidFill>
                  <a:srgbClr val="0A2032"/>
                </a:solidFill>
                <a:latin typeface="Arial"/>
              </a:rPr>
              <a:t>Luồng monitoring theo dõi dữ liệu đầu vào, sai số khi có nhu cầu quan sát và thay đổi phân phối; các quy tắc cảnh báo hỗ trợ kiểm tra vận hành.</a:t>
            </a:r>
          </a:p>
        </p:txBody>
      </p:sp>
      <p:sp>
        <p:nvSpPr>
          <p:cNvPr id="26" name="Rounded Rectangle 25"/>
          <p:cNvSpPr/>
          <p:nvPr/>
        </p:nvSpPr>
        <p:spPr>
          <a:xfrm>
            <a:off x="667512" y="5394960"/>
            <a:ext cx="10853928"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7512" y="5394960"/>
            <a:ext cx="64008" cy="8686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5527548"/>
            <a:ext cx="10250424" cy="548640"/>
          </a:xfrm>
          <a:prstGeom prst="rect">
            <a:avLst/>
          </a:prstGeom>
          <a:noFill/>
        </p:spPr>
        <p:txBody>
          <a:bodyPr wrap="square" lIns="9144" tIns="9144" rIns="9144" bIns="9144" anchor="t">
            <a:spAutoFit/>
          </a:bodyPr>
          <a:lstStyle/>
          <a:p>
            <a:pPr>
              <a:spcBef>
                <a:spcPts val="0"/>
              </a:spcBef>
              <a:spcAft>
                <a:spcPts val="0"/>
              </a:spcAft>
            </a:pPr>
            <a:r>
              <a:rPr sz="1800" b="0" dirty="0" err="1">
                <a:solidFill>
                  <a:srgbClr val="0A2032"/>
                </a:solidFill>
                <a:latin typeface="Arial"/>
              </a:rPr>
              <a:t>Kết</a:t>
            </a:r>
            <a:r>
              <a:rPr sz="1800" b="0" dirty="0">
                <a:solidFill>
                  <a:srgbClr val="0A2032"/>
                </a:solidFill>
                <a:latin typeface="Arial"/>
              </a:rPr>
              <a:t> </a:t>
            </a:r>
            <a:r>
              <a:rPr sz="1800" b="0" dirty="0" err="1">
                <a:solidFill>
                  <a:srgbClr val="0A2032"/>
                </a:solidFill>
                <a:latin typeface="Arial"/>
              </a:rPr>
              <a:t>quả</a:t>
            </a:r>
            <a:r>
              <a:rPr sz="1800" b="0" dirty="0">
                <a:solidFill>
                  <a:srgbClr val="0A2032"/>
                </a:solidFill>
                <a:latin typeface="Arial"/>
              </a:rPr>
              <a:t> </a:t>
            </a:r>
            <a:r>
              <a:rPr sz="1800" b="0" dirty="0" err="1">
                <a:solidFill>
                  <a:srgbClr val="0A2032"/>
                </a:solidFill>
                <a:latin typeface="Arial"/>
              </a:rPr>
              <a:t>dự</a:t>
            </a:r>
            <a:r>
              <a:rPr sz="1800" b="0" dirty="0">
                <a:solidFill>
                  <a:srgbClr val="0A2032"/>
                </a:solidFill>
                <a:latin typeface="Arial"/>
              </a:rPr>
              <a:t> </a:t>
            </a:r>
            <a:r>
              <a:rPr sz="1800" b="0" dirty="0" err="1">
                <a:solidFill>
                  <a:srgbClr val="0A2032"/>
                </a:solidFill>
                <a:latin typeface="Arial"/>
              </a:rPr>
              <a:t>án</a:t>
            </a:r>
            <a:r>
              <a:rPr sz="1800" b="0" dirty="0">
                <a:solidFill>
                  <a:srgbClr val="0A2032"/>
                </a:solidFill>
                <a:latin typeface="Arial"/>
              </a:rPr>
              <a:t> </a:t>
            </a:r>
            <a:r>
              <a:rPr sz="1800" b="0" dirty="0" err="1">
                <a:solidFill>
                  <a:srgbClr val="0A2032"/>
                </a:solidFill>
                <a:latin typeface="Arial"/>
              </a:rPr>
              <a:t>tạo</a:t>
            </a:r>
            <a:r>
              <a:rPr sz="1800" b="0" dirty="0">
                <a:solidFill>
                  <a:srgbClr val="0A2032"/>
                </a:solidFill>
                <a:latin typeface="Arial"/>
              </a:rPr>
              <a:t> </a:t>
            </a:r>
            <a:r>
              <a:rPr sz="1800" b="0" dirty="0" err="1">
                <a:solidFill>
                  <a:srgbClr val="0A2032"/>
                </a:solidFill>
                <a:latin typeface="Arial"/>
              </a:rPr>
              <a:t>cơ</a:t>
            </a:r>
            <a:r>
              <a:rPr sz="1800" b="0" dirty="0">
                <a:solidFill>
                  <a:srgbClr val="0A2032"/>
                </a:solidFill>
                <a:latin typeface="Arial"/>
              </a:rPr>
              <a:t> </a:t>
            </a:r>
            <a:r>
              <a:rPr sz="1800" b="0" dirty="0" err="1">
                <a:solidFill>
                  <a:srgbClr val="0A2032"/>
                </a:solidFill>
                <a:latin typeface="Arial"/>
              </a:rPr>
              <a:t>sở</a:t>
            </a:r>
            <a:r>
              <a:rPr sz="1800" b="0" dirty="0">
                <a:solidFill>
                  <a:srgbClr val="0A2032"/>
                </a:solidFill>
                <a:latin typeface="Arial"/>
              </a:rPr>
              <a:t> </a:t>
            </a:r>
            <a:r>
              <a:rPr sz="1800" b="0" dirty="0" err="1">
                <a:solidFill>
                  <a:srgbClr val="0A2032"/>
                </a:solidFill>
                <a:latin typeface="Arial"/>
              </a:rPr>
              <a:t>theo</a:t>
            </a:r>
            <a:r>
              <a:rPr sz="1800" b="0" dirty="0">
                <a:solidFill>
                  <a:srgbClr val="0A2032"/>
                </a:solidFill>
                <a:latin typeface="Arial"/>
              </a:rPr>
              <a:t> </a:t>
            </a:r>
            <a:r>
              <a:rPr sz="1800" b="0" dirty="0" err="1">
                <a:solidFill>
                  <a:srgbClr val="0A2032"/>
                </a:solidFill>
                <a:latin typeface="Arial"/>
              </a:rPr>
              <a:t>dõi</a:t>
            </a:r>
            <a:r>
              <a:rPr sz="1800" b="0" dirty="0">
                <a:solidFill>
                  <a:srgbClr val="0A2032"/>
                </a:solidFill>
                <a:latin typeface="Arial"/>
              </a:rPr>
              <a:t> </a:t>
            </a:r>
            <a:r>
              <a:rPr sz="1800" b="0" dirty="0" err="1">
                <a:solidFill>
                  <a:srgbClr val="0A2032"/>
                </a:solidFill>
                <a:latin typeface="Arial"/>
              </a:rPr>
              <a:t>nhu</a:t>
            </a:r>
            <a:r>
              <a:rPr sz="1800" b="0" dirty="0">
                <a:solidFill>
                  <a:srgbClr val="0A2032"/>
                </a:solidFill>
                <a:latin typeface="Arial"/>
              </a:rPr>
              <a:t> </a:t>
            </a:r>
            <a:r>
              <a:rPr sz="1800" b="0" dirty="0" err="1">
                <a:solidFill>
                  <a:srgbClr val="0A2032"/>
                </a:solidFill>
                <a:latin typeface="Arial"/>
              </a:rPr>
              <a:t>cầu</a:t>
            </a:r>
            <a:r>
              <a:rPr sz="1800" b="0" dirty="0">
                <a:solidFill>
                  <a:srgbClr val="0A2032"/>
                </a:solidFill>
                <a:latin typeface="Arial"/>
              </a:rPr>
              <a:t> </a:t>
            </a:r>
            <a:r>
              <a:rPr sz="1800" b="0" dirty="0" err="1">
                <a:solidFill>
                  <a:srgbClr val="0A2032"/>
                </a:solidFill>
                <a:latin typeface="Arial"/>
              </a:rPr>
              <a:t>theo</a:t>
            </a:r>
            <a:r>
              <a:rPr sz="1800" b="0" dirty="0">
                <a:solidFill>
                  <a:srgbClr val="0A2032"/>
                </a:solidFill>
                <a:latin typeface="Arial"/>
              </a:rPr>
              <a:t> </a:t>
            </a:r>
            <a:r>
              <a:rPr sz="1800" b="0" dirty="0" err="1">
                <a:solidFill>
                  <a:srgbClr val="0A2032"/>
                </a:solidFill>
                <a:latin typeface="Arial"/>
              </a:rPr>
              <a:t>khu</a:t>
            </a:r>
            <a:r>
              <a:rPr sz="1800" b="0" dirty="0">
                <a:solidFill>
                  <a:srgbClr val="0A2032"/>
                </a:solidFill>
                <a:latin typeface="Arial"/>
              </a:rPr>
              <a:t> </a:t>
            </a:r>
            <a:r>
              <a:rPr sz="1800" b="0" dirty="0" err="1">
                <a:solidFill>
                  <a:srgbClr val="0A2032"/>
                </a:solidFill>
                <a:latin typeface="Arial"/>
              </a:rPr>
              <a:t>vực</a:t>
            </a:r>
            <a:r>
              <a:rPr sz="1800" b="0" dirty="0">
                <a:solidFill>
                  <a:srgbClr val="0A2032"/>
                </a:solidFill>
                <a:latin typeface="Arial"/>
              </a:rPr>
              <a:t> </a:t>
            </a:r>
            <a:r>
              <a:rPr sz="1800" b="0" dirty="0" err="1">
                <a:solidFill>
                  <a:srgbClr val="0A2032"/>
                </a:solidFill>
                <a:latin typeface="Arial"/>
              </a:rPr>
              <a:t>và</a:t>
            </a:r>
            <a:r>
              <a:rPr sz="1800" b="0" dirty="0">
                <a:solidFill>
                  <a:srgbClr val="0A2032"/>
                </a:solidFill>
                <a:latin typeface="Arial"/>
              </a:rPr>
              <a:t> </a:t>
            </a:r>
            <a:r>
              <a:rPr sz="1800" b="0" dirty="0" err="1">
                <a:solidFill>
                  <a:srgbClr val="0A2032"/>
                </a:solidFill>
                <a:latin typeface="Arial"/>
              </a:rPr>
              <a:t>thời</a:t>
            </a:r>
            <a:r>
              <a:rPr sz="1800" b="0" dirty="0">
                <a:solidFill>
                  <a:srgbClr val="0A2032"/>
                </a:solidFill>
                <a:latin typeface="Arial"/>
              </a:rPr>
              <a:t> </a:t>
            </a:r>
            <a:r>
              <a:rPr sz="1800" b="0" dirty="0" err="1">
                <a:solidFill>
                  <a:srgbClr val="0A2032"/>
                </a:solidFill>
                <a:latin typeface="Arial"/>
              </a:rPr>
              <a:t>điểm</a:t>
            </a:r>
            <a:r>
              <a:rPr sz="1800" b="0" dirty="0">
                <a:solidFill>
                  <a:srgbClr val="0A2032"/>
                </a:solidFill>
                <a:latin typeface="Arial"/>
              </a:rPr>
              <a:t>, </a:t>
            </a:r>
            <a:r>
              <a:rPr sz="1800" b="0" dirty="0" err="1">
                <a:solidFill>
                  <a:srgbClr val="0A2032"/>
                </a:solidFill>
                <a:latin typeface="Arial"/>
              </a:rPr>
              <a:t>hỗ</a:t>
            </a:r>
            <a:r>
              <a:rPr sz="1800" b="0" dirty="0">
                <a:solidFill>
                  <a:srgbClr val="0A2032"/>
                </a:solidFill>
                <a:latin typeface="Arial"/>
              </a:rPr>
              <a:t> </a:t>
            </a:r>
            <a:r>
              <a:rPr sz="1800" b="0" dirty="0" err="1">
                <a:solidFill>
                  <a:srgbClr val="0A2032"/>
                </a:solidFill>
                <a:latin typeface="Arial"/>
              </a:rPr>
              <a:t>trợ</a:t>
            </a:r>
            <a:r>
              <a:rPr sz="1800" b="0" dirty="0">
                <a:solidFill>
                  <a:srgbClr val="0A2032"/>
                </a:solidFill>
                <a:latin typeface="Arial"/>
              </a:rPr>
              <a:t> </a:t>
            </a:r>
            <a:r>
              <a:rPr sz="1800" b="0" dirty="0" err="1">
                <a:solidFill>
                  <a:srgbClr val="0A2032"/>
                </a:solidFill>
                <a:latin typeface="Arial"/>
              </a:rPr>
              <a:t>chủ</a:t>
            </a:r>
            <a:r>
              <a:rPr sz="1800" b="0" dirty="0">
                <a:solidFill>
                  <a:srgbClr val="0A2032"/>
                </a:solidFill>
                <a:latin typeface="Arial"/>
              </a:rPr>
              <a:t> </a:t>
            </a:r>
            <a:r>
              <a:rPr sz="1800" b="0" dirty="0" err="1">
                <a:solidFill>
                  <a:srgbClr val="0A2032"/>
                </a:solidFill>
                <a:latin typeface="Arial"/>
              </a:rPr>
              <a:t>động</a:t>
            </a:r>
            <a:r>
              <a:rPr sz="1800" b="0" dirty="0">
                <a:solidFill>
                  <a:srgbClr val="0A2032"/>
                </a:solidFill>
                <a:latin typeface="Arial"/>
              </a:rPr>
              <a:t> </a:t>
            </a:r>
            <a:r>
              <a:rPr sz="1800" b="0" dirty="0" err="1">
                <a:solidFill>
                  <a:srgbClr val="0A2032"/>
                </a:solidFill>
                <a:latin typeface="Arial"/>
              </a:rPr>
              <a:t>chuẩn</a:t>
            </a:r>
            <a:r>
              <a:rPr sz="1800" b="0" dirty="0">
                <a:solidFill>
                  <a:srgbClr val="0A2032"/>
                </a:solidFill>
                <a:latin typeface="Arial"/>
              </a:rPr>
              <a:t> </a:t>
            </a:r>
            <a:r>
              <a:rPr sz="1800" b="0" dirty="0" err="1">
                <a:solidFill>
                  <a:srgbClr val="0A2032"/>
                </a:solidFill>
                <a:latin typeface="Arial"/>
              </a:rPr>
              <a:t>bị</a:t>
            </a:r>
            <a:r>
              <a:rPr sz="1800" b="0" dirty="0">
                <a:solidFill>
                  <a:srgbClr val="0A2032"/>
                </a:solidFill>
                <a:latin typeface="Arial"/>
              </a:rPr>
              <a:t> </a:t>
            </a:r>
            <a:r>
              <a:rPr sz="1800" b="0" dirty="0" err="1">
                <a:solidFill>
                  <a:srgbClr val="0A2032"/>
                </a:solidFill>
                <a:latin typeface="Arial"/>
              </a:rPr>
              <a:t>nguồn</a:t>
            </a:r>
            <a:r>
              <a:rPr sz="1800" b="0" dirty="0">
                <a:solidFill>
                  <a:srgbClr val="0A2032"/>
                </a:solidFill>
                <a:latin typeface="Arial"/>
              </a:rPr>
              <a:t> </a:t>
            </a:r>
            <a:r>
              <a:rPr sz="1800" b="0" dirty="0" err="1">
                <a:solidFill>
                  <a:srgbClr val="0A2032"/>
                </a:solidFill>
                <a:latin typeface="Arial"/>
              </a:rPr>
              <a:t>xe</a:t>
            </a:r>
            <a:r>
              <a:rPr sz="1800" b="0" dirty="0">
                <a:solidFill>
                  <a:srgbClr val="0A2032"/>
                </a:solidFill>
                <a:latin typeface="Aria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1474</Words>
  <Application>Microsoft Office PowerPoint</Application>
  <PresentationFormat>Widescreen</PresentationFormat>
  <Paragraphs>152</Paragraphs>
  <Slides>16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Inter</vt:lpstr>
      <vt:lpstr>Inter Display</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đoán nhu cầu đặt xe tại TP.HCM — báo cáo MLE</dc:title>
  <dc:subject>Dự báo nhu cầu đặt xe tại TP.HCM</dc:subject>
  <dc:creator>OpenAI</dc:creator>
  <cp:lastModifiedBy>Trường an Nguyễn</cp:lastModifiedBy>
  <cp:revision>7</cp:revision>
  <dcterms:created xsi:type="dcterms:W3CDTF">2026-10-15T07:41:17Z</dcterms:created>
  <dcterms:modified xsi:type="dcterms:W3CDTF">2026-10-15T09:41:34Z</dcterms:modified>
</cp:coreProperties>
</file>