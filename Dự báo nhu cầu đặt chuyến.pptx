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ontserrat Bold" charset="1" panose="00000800000000000000"/>
      <p:regular r:id="rId18"/>
    </p:embeddedFont>
    <p:embeddedFont>
      <p:font typeface="Open Sans" charset="1" panose="00000000000000000000"/>
      <p:regular r:id="rId19"/>
    </p:embeddedFont>
    <p:embeddedFont>
      <p:font typeface="Open Sans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Chi tiết TEST WMAPE pipeline: Car H10 11,49%; H30 11,10%; H60 13,98%. Motorcycle H10 11,40%; H30 10,90%; H60 13,76%.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1B2B">
                    <a:alpha val="98000"/>
                  </a:srgbClr>
                </a:gs>
                <a:gs pos="58000">
                  <a:srgbClr val="071B2B">
                    <a:alpha val="82000"/>
                  </a:srgbClr>
                </a:gs>
                <a:gs pos="100000">
                  <a:srgbClr val="071B2B">
                    <a:alpha val="180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1943100"/>
            <a:ext cx="10668000" cy="206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6"/>
              </a:lnSpc>
            </a:pPr>
            <a:r>
              <a:rPr lang="en-US" sz="7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DỰ BÁO NHU CẦU</a:t>
            </a:r>
          </a:p>
          <a:p>
            <a:pPr algn="l">
              <a:lnSpc>
                <a:spcPts val="7956"/>
              </a:lnSpc>
            </a:pPr>
            <a:r>
              <a:rPr lang="en-US" sz="7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ĐẶT CHUYẾN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4381500"/>
            <a:ext cx="7810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F5F1E8"/>
                </a:solidFill>
                <a:latin typeface="Open Sans"/>
                <a:ea typeface="Open Sans"/>
                <a:cs typeface="Open Sans"/>
                <a:sym typeface="Open Sans"/>
              </a:rPr>
              <a:t>Báo cáo sản phẩm và kết quả dự án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6191250"/>
            <a:ext cx="1047750" cy="76200"/>
            <a:chOff x="0" y="0"/>
            <a:chExt cx="1397000" cy="101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97000" cy="101600"/>
            </a:xfrm>
            <a:custGeom>
              <a:avLst/>
              <a:gdLst/>
              <a:ahLst/>
              <a:cxnLst/>
              <a:rect r="r" b="b" t="t" l="l"/>
              <a:pathLst>
                <a:path h="1016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8B7A0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97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6619875"/>
            <a:ext cx="476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Nguyễn Trường 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720090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Train  •  Serving  •  Monitoring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933450"/>
            <a:ext cx="8572500" cy="1411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8"/>
              </a:lnSpc>
              <a:spcBef>
                <a:spcPct val="0"/>
              </a:spcBef>
            </a:pPr>
            <a:r>
              <a:rPr lang="en-US" b="true" sz="5100" strike="noStrike" u="non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Sản phẩm dự báo</a:t>
            </a:r>
          </a:p>
          <a:p>
            <a:pPr algn="l" marL="0" indent="0" lvl="0">
              <a:lnSpc>
                <a:spcPts val="5508"/>
              </a:lnSpc>
              <a:spcBef>
                <a:spcPct val="0"/>
              </a:spcBef>
            </a:pPr>
            <a:r>
              <a:rPr lang="en-US" b="true" sz="5100" strike="noStrike" u="non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nhu cầu theo vùng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3114675"/>
            <a:ext cx="72390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02A3A"/>
                </a:solidFill>
                <a:latin typeface="Open Sans"/>
                <a:ea typeface="Open Sans"/>
                <a:cs typeface="Open Sans"/>
                <a:sym typeface="Open Sans"/>
              </a:rPr>
              <a:t>Dự báo số yêu cầu đặt chuyến trên 217 ô H3 mức 7 tại TP.HCM, cập nhật mỗi 10 phút từ dữ liệu giả lập.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10750" y="1247775"/>
            <a:ext cx="285750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700" b="true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217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10750" y="196215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Ô H3 mức 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11250" y="1247775"/>
            <a:ext cx="209550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700" b="true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11250" y="1962150"/>
            <a:ext cx="3143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 + Motorcycle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10750" y="4200525"/>
            <a:ext cx="590550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700" b="true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 / 30 / 60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10750" y="4914900"/>
            <a:ext cx="3429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PHÚT DỰ BÁO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34500" y="6762750"/>
            <a:ext cx="7810500" cy="1619250"/>
            <a:chOff x="0" y="0"/>
            <a:chExt cx="10414000" cy="215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1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D9EEE8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41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810750" y="7172325"/>
            <a:ext cx="6667500" cy="58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  +  Bản đồ nhu cầu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7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914400"/>
            <a:ext cx="9525000" cy="1411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8"/>
              </a:lnSpc>
              <a:spcBef>
                <a:spcPct val="0"/>
              </a:spcBef>
            </a:pPr>
            <a:r>
              <a:rPr lang="en-US" b="true" sz="5100" strike="noStrike" u="none">
                <a:solidFill>
                  <a:srgbClr val="F5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Người dùng</a:t>
            </a:r>
          </a:p>
          <a:p>
            <a:pPr algn="l" marL="0" indent="0" lvl="0">
              <a:lnSpc>
                <a:spcPts val="5508"/>
              </a:lnSpc>
              <a:spcBef>
                <a:spcPct val="0"/>
              </a:spcBef>
            </a:pPr>
            <a:r>
              <a:rPr lang="en-US" b="true" sz="5100" strike="noStrike" u="none">
                <a:solidFill>
                  <a:srgbClr val="F5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và giá trị sử dụng</a:t>
            </a:r>
          </a:p>
        </p:txBody>
      </p:sp>
      <p:sp>
        <p:nvSpPr>
          <p:cNvPr name="AutoShape 3" id="3"/>
          <p:cNvSpPr/>
          <p:nvPr/>
        </p:nvSpPr>
        <p:spPr>
          <a:xfrm>
            <a:off x="1047750" y="4476750"/>
            <a:ext cx="16192500" cy="0"/>
          </a:xfrm>
          <a:prstGeom prst="line">
            <a:avLst/>
          </a:prstGeom>
          <a:ln cap="flat" w="19050">
            <a:solidFill>
              <a:srgbClr val="18B7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47750" y="4914900"/>
            <a:ext cx="4095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ĐỘI ĐIỀU PHỐI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7750" y="5448300"/>
            <a:ext cx="40957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5F1E8"/>
                </a:solidFill>
                <a:latin typeface="Open Sans"/>
                <a:ea typeface="Open Sans"/>
                <a:cs typeface="Open Sans"/>
                <a:sym typeface="Open Sans"/>
              </a:rPr>
              <a:t>Theo dõi vùng nhu cầu cao để chuẩn bị phân bổ tài xế.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96125" y="4914900"/>
            <a:ext cx="4095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KỸ THUẬT / ML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96125" y="5448300"/>
            <a:ext cx="40957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5F1E8"/>
                </a:solidFill>
                <a:latin typeface="Open Sans"/>
                <a:ea typeface="Open Sans"/>
                <a:cs typeface="Open Sans"/>
                <a:sym typeface="Open Sans"/>
              </a:rPr>
              <a:t>Giám sát chất lượng dữ liệu, sai số và phiên bản model.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44500" y="4914900"/>
            <a:ext cx="3333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TÀI XẾ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44500" y="5448300"/>
            <a:ext cx="37147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5F1E8"/>
                </a:solidFill>
                <a:latin typeface="Open Sans"/>
                <a:ea typeface="Open Sans"/>
                <a:cs typeface="Open Sans"/>
                <a:sym typeface="Open Sans"/>
              </a:rPr>
              <a:t>Hưởng lợi gián tiếp qua quyết định điều phối.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8201025"/>
            <a:ext cx="15240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5F1E8"/>
                </a:solidFill>
                <a:latin typeface="Open Sans"/>
                <a:ea typeface="Open Sans"/>
                <a:cs typeface="Open Sans"/>
                <a:sym typeface="Open Sans"/>
              </a:rPr>
              <a:t>Kỳ vọng: chuẩn bị nguồn cung sớm — chưa đo tác động kinh doanh thực tế.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85800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84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Kiến trúc Train, Serving và Monitoring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57250" y="2524125"/>
            <a:ext cx="3333750" cy="1952625"/>
            <a:chOff x="0" y="0"/>
            <a:chExt cx="4445000" cy="2603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D9EEE8"/>
            </a:solidFill>
            <a:ln w="19050" cap="sq">
              <a:solidFill>
                <a:srgbClr val="AAC4C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45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57750" y="2524125"/>
            <a:ext cx="3333750" cy="1952625"/>
            <a:chOff x="0" y="0"/>
            <a:chExt cx="4445000" cy="2603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AC4C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445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58250" y="2524125"/>
            <a:ext cx="3333750" cy="1952625"/>
            <a:chOff x="0" y="0"/>
            <a:chExt cx="4445000" cy="2603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D9EEE8"/>
            </a:solidFill>
            <a:ln w="19050" cap="sq">
              <a:solidFill>
                <a:srgbClr val="18B7A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445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858750" y="2524125"/>
            <a:ext cx="4095750" cy="1952625"/>
            <a:chOff x="0" y="0"/>
            <a:chExt cx="5461000" cy="2603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61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461000">
                  <a:moveTo>
                    <a:pt x="0" y="0"/>
                  </a:moveTo>
                  <a:lnTo>
                    <a:pt x="5461000" y="0"/>
                  </a:lnTo>
                  <a:lnTo>
                    <a:pt x="5461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AC4C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61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4191000" y="3495675"/>
            <a:ext cx="571500" cy="0"/>
          </a:xfrm>
          <a:prstGeom prst="line">
            <a:avLst/>
          </a:prstGeom>
          <a:ln cap="flat" w="38100">
            <a:solidFill>
              <a:srgbClr val="18B7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8191500" y="3495675"/>
            <a:ext cx="571500" cy="0"/>
          </a:xfrm>
          <a:prstGeom prst="line">
            <a:avLst/>
          </a:prstGeom>
          <a:ln cap="flat" w="38100">
            <a:solidFill>
              <a:srgbClr val="18B7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2192000" y="3495675"/>
            <a:ext cx="571500" cy="0"/>
          </a:xfrm>
          <a:prstGeom prst="line">
            <a:avLst/>
          </a:prstGeom>
          <a:ln cap="flat" w="38100">
            <a:solidFill>
              <a:srgbClr val="18B7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095375" y="2914650"/>
            <a:ext cx="28575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102A3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PostgreSQL</a:t>
            </a:r>
          </a:p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102A3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History • Feature T • Actual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95875" y="2914650"/>
            <a:ext cx="28575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102A3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TRAIN</a:t>
            </a:r>
          </a:p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102A3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 model • schema • version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96375" y="2924175"/>
            <a:ext cx="28575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</a:pPr>
            <a:r>
              <a:rPr lang="en-US" sz="1725" b="true">
                <a:solidFill>
                  <a:srgbClr val="102A3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SERVING</a:t>
            </a:r>
          </a:p>
          <a:p>
            <a:pPr algn="ctr">
              <a:lnSpc>
                <a:spcPts val="2415"/>
              </a:lnSpc>
            </a:pPr>
            <a:r>
              <a:rPr lang="en-US" sz="1725" b="true">
                <a:solidFill>
                  <a:srgbClr val="102A3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Active model → API + map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96875" y="2914650"/>
            <a:ext cx="333375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102A3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MONITORING</a:t>
            </a:r>
          </a:p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102A3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Prediction ↔ actual window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81250" y="9201150"/>
            <a:ext cx="13525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6B7D83"/>
                </a:solidFill>
                <a:latin typeface="Open Sans"/>
                <a:ea typeface="Open Sans"/>
                <a:cs typeface="Open Sans"/>
                <a:sym typeface="Open Sans"/>
              </a:rPr>
              <a:t>Airflow điều phối  •  Docker đóng gói  •  Prediction và version được lưu cùng nhau</a:t>
            </a:r>
          </a:p>
        </p:txBody>
      </p:sp>
      <p:sp>
        <p:nvSpPr>
          <p:cNvPr name="Freeform 23" id="23" descr="Sơ đồ ba luồng Train Serving Monitoring của dự án"/>
          <p:cNvSpPr/>
          <p:nvPr/>
        </p:nvSpPr>
        <p:spPr>
          <a:xfrm flipH="false" flipV="false" rot="0">
            <a:off x="762000" y="2143125"/>
            <a:ext cx="16764000" cy="6429375"/>
          </a:xfrm>
          <a:custGeom>
            <a:avLst/>
            <a:gdLst/>
            <a:ahLst/>
            <a:cxnLst/>
            <a:rect r="r" b="b" t="t" l="l"/>
            <a:pathLst>
              <a:path h="6429375" w="16764000">
                <a:moveTo>
                  <a:pt x="0" y="0"/>
                </a:moveTo>
                <a:lnTo>
                  <a:pt x="16764000" y="0"/>
                </a:lnTo>
                <a:lnTo>
                  <a:pt x="16764000" y="6429375"/>
                </a:lnTo>
                <a:lnTo>
                  <a:pt x="0" y="64293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3" t="0" r="-133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7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914400"/>
            <a:ext cx="8572500" cy="1411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8"/>
              </a:lnSpc>
              <a:spcBef>
                <a:spcPct val="0"/>
              </a:spcBef>
            </a:pPr>
            <a:r>
              <a:rPr lang="en-US" b="true" sz="5100" strike="noStrike" u="none">
                <a:solidFill>
                  <a:srgbClr val="F5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Dữ liệu giả lập</a:t>
            </a:r>
          </a:p>
          <a:p>
            <a:pPr algn="l" marL="0" indent="0" lvl="0">
              <a:lnSpc>
                <a:spcPts val="5508"/>
              </a:lnSpc>
              <a:spcBef>
                <a:spcPct val="0"/>
              </a:spcBef>
            </a:pPr>
            <a:r>
              <a:rPr lang="en-US" b="true" sz="5100" strike="noStrike" u="none">
                <a:solidFill>
                  <a:srgbClr val="F5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và mô hình đã chọn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0" y="790575"/>
            <a:ext cx="6667500" cy="136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30"/>
              </a:lnSpc>
            </a:pPr>
            <a:r>
              <a:rPr lang="en-US" sz="7950" b="true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5,40 triệu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82250" y="215265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DÒNG DỮ LIỆU GIẢ LẬP  •  01/05–10/09/2026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7750" y="5534025"/>
            <a:ext cx="342900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700" b="true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14 ngày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6305550"/>
            <a:ext cx="4095750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5F1E8"/>
                </a:solidFill>
                <a:latin typeface="Open Sans"/>
                <a:ea typeface="Open Sans"/>
                <a:cs typeface="Open Sans"/>
                <a:sym typeface="Open Sans"/>
              </a:rPr>
              <a:t>Kiểm chứng sau khi khóa cấu hình</a:t>
            </a:r>
          </a:p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5F1E8"/>
                </a:solidFill>
                <a:latin typeface="Open Sans"/>
                <a:ea typeface="Open Sans"/>
                <a:cs typeface="Open Sans"/>
                <a:sym typeface="Open Sans"/>
              </a:rPr>
              <a:t>HOLDOUT 11–24/09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72250" y="5534025"/>
            <a:ext cx="342900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700" b="true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72250" y="6305550"/>
            <a:ext cx="40957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5F1E8"/>
                </a:solidFill>
                <a:latin typeface="Open Sans"/>
                <a:ea typeface="Open Sans"/>
                <a:cs typeface="Open Sans"/>
                <a:sym typeface="Open Sans"/>
              </a:rPr>
              <a:t>LightGBM direct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5F1E8"/>
                </a:solidFill>
                <a:latin typeface="Open Sans"/>
                <a:ea typeface="Open Sans"/>
                <a:cs typeface="Open Sans"/>
                <a:sym typeface="Open Sans"/>
              </a:rPr>
              <a:t>phương tiện × horizon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96750" y="5534025"/>
            <a:ext cx="400050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700" b="true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25 / 33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96750" y="6305550"/>
            <a:ext cx="40957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5F1E8"/>
                </a:solidFill>
                <a:latin typeface="Open Sans"/>
                <a:ea typeface="Open Sans"/>
                <a:cs typeface="Open Sans"/>
                <a:sym typeface="Open Sans"/>
              </a:rPr>
              <a:t>feature H10 / H30–H60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5F1E8"/>
                </a:solidFill>
                <a:latin typeface="Open Sans"/>
                <a:ea typeface="Open Sans"/>
                <a:cs typeface="Open Sans"/>
                <a:sym typeface="Open Sans"/>
              </a:rPr>
              <a:t>có lag 10/20 phút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91250" y="0"/>
            <a:ext cx="12096750" cy="10287000"/>
            <a:chOff x="0" y="0"/>
            <a:chExt cx="16129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29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129000">
                  <a:moveTo>
                    <a:pt x="0" y="0"/>
                  </a:moveTo>
                  <a:lnTo>
                    <a:pt x="16129000" y="0"/>
                  </a:lnTo>
                  <a:lnTo>
                    <a:pt x="16129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2A3A"/>
            </a:solidFill>
            <a:ln w="19050" cap="sq">
              <a:solidFill>
                <a:srgbClr val="18B7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129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6191250" cy="10287000"/>
            <a:chOff x="0" y="0"/>
            <a:chExt cx="8255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55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255000">
                  <a:moveTo>
                    <a:pt x="0" y="0"/>
                  </a:moveTo>
                  <a:lnTo>
                    <a:pt x="8255000" y="0"/>
                  </a:lnTo>
                  <a:lnTo>
                    <a:pt x="8255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1E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255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6750" y="819150"/>
            <a:ext cx="4953000" cy="1004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75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</a:t>
            </a:r>
          </a:p>
          <a:p>
            <a:pPr algn="l">
              <a:lnSpc>
                <a:spcPts val="3937"/>
              </a:lnSpc>
            </a:pPr>
            <a:r>
              <a:rPr lang="en-US" sz="375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đã chạy đủ 6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3533775"/>
            <a:ext cx="5048250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10,90–13,98%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4375" y="4391025"/>
            <a:ext cx="4476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 WMAPE • PIPELINE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4375" y="5562600"/>
            <a:ext cx="44767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54 phút 56 giây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4375" y="6819900"/>
            <a:ext cx="476250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sz="1875" strike="noStrike" u="none">
                <a:solidFill>
                  <a:srgbClr val="6B7D83"/>
                </a:solidFill>
                <a:latin typeface="Open Sans"/>
                <a:ea typeface="Open Sans"/>
                <a:cs typeface="Open Sans"/>
                <a:sym typeface="Open Sans"/>
              </a:rPr>
              <a:t>Lượt train ngày 13/10: hoàn tất 6 model.</a:t>
            </a:r>
          </a:p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sz="1875" strike="noStrike" u="none">
                <a:solidFill>
                  <a:srgbClr val="6B7D83"/>
                </a:solidFill>
                <a:latin typeface="Open Sans"/>
                <a:ea typeface="Open Sans"/>
                <a:cs typeface="Open Sans"/>
                <a:sym typeface="Open Sans"/>
              </a:rPr>
              <a:t>Theo dõi riêng phiên bản đang phục vụ.</a:t>
            </a:r>
          </a:p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sz="1875" strike="noStrike" u="none">
                <a:solidFill>
                  <a:srgbClr val="6B7D83"/>
                </a:solidFill>
                <a:latin typeface="Open Sans"/>
                <a:ea typeface="Open Sans"/>
                <a:cs typeface="Open Sans"/>
                <a:sym typeface="Open Sans"/>
              </a:rPr>
              <a:t>Nguồn: log Airflow của dự án.</a:t>
            </a:r>
          </a:p>
        </p:txBody>
      </p:sp>
      <p:sp>
        <p:nvSpPr>
          <p:cNvPr name="Freeform 13" id="13" descr="Ảnh thật Airflow train_models thành công, 6 model"/>
          <p:cNvSpPr/>
          <p:nvPr/>
        </p:nvSpPr>
        <p:spPr>
          <a:xfrm flipH="false" flipV="false" rot="0">
            <a:off x="6477000" y="2333625"/>
            <a:ext cx="11525250" cy="5219700"/>
          </a:xfrm>
          <a:custGeom>
            <a:avLst/>
            <a:gdLst/>
            <a:ahLst/>
            <a:cxnLst/>
            <a:rect r="r" b="b" t="t" l="l"/>
            <a:pathLst>
              <a:path h="5219700" w="11525250">
                <a:moveTo>
                  <a:pt x="0" y="0"/>
                </a:moveTo>
                <a:lnTo>
                  <a:pt x="11525250" y="0"/>
                </a:lnTo>
                <a:lnTo>
                  <a:pt x="11525250" y="5219700"/>
                </a:lnTo>
                <a:lnTo>
                  <a:pt x="0" y="5219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" t="0" r="-43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28650"/>
            <a:ext cx="10477500" cy="7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8"/>
              </a:lnSpc>
              <a:spcBef>
                <a:spcPct val="0"/>
              </a:spcBef>
            </a:pPr>
            <a:r>
              <a:rPr lang="en-US" b="true" sz="5100" strike="noStrike" u="non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Kết quả mô hình trên TEST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239500" y="771525"/>
            <a:ext cx="600075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9"/>
              </a:lnSpc>
              <a:spcBef>
                <a:spcPct val="0"/>
              </a:spcBef>
            </a:pPr>
            <a:r>
              <a:rPr lang="en-US" b="true" sz="3150" strike="noStrike" u="none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WMAPE 10,612–14,220%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673607" y="472627"/>
            <a:ext cx="19635214" cy="9913247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914400" y="9353550"/>
            <a:ext cx="1619250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1725" strike="noStrike" u="none">
                <a:solidFill>
                  <a:srgbClr val="6B7D83"/>
                </a:solidFill>
                <a:latin typeface="Open Sans"/>
                <a:ea typeface="Open Sans"/>
                <a:cs typeface="Open Sans"/>
                <a:sym typeface="Open Sans"/>
              </a:rPr>
              <a:t>Notebook, dữ liệu giả lập. Kiểm tra thêm 14 ngày mới: WMAPE tăng 0,034–0,218 điểm %.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723900"/>
            <a:ext cx="8572500" cy="1411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100" b="true">
                <a:solidFill>
                  <a:srgbClr val="F5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Đúng chiều tăng,</a:t>
            </a:r>
          </a:p>
          <a:p>
            <a:pPr algn="l">
              <a:lnSpc>
                <a:spcPts val="5508"/>
              </a:lnSpc>
            </a:pPr>
            <a:r>
              <a:rPr lang="en-US" sz="5100" b="true">
                <a:solidFill>
                  <a:srgbClr val="F5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chưa đủ biên độ.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3019425"/>
            <a:ext cx="68580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5F1E8"/>
                </a:solidFill>
                <a:latin typeface="Open Sans"/>
                <a:ea typeface="Open Sans"/>
                <a:cs typeface="Open Sans"/>
                <a:sym typeface="Open Sans"/>
              </a:rPr>
              <a:t>H60 chưa theo đủ mức tăng.</a:t>
            </a:r>
          </a:p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5F1E8"/>
                </a:solidFill>
                <a:latin typeface="Open Sans"/>
                <a:ea typeface="Open Sans"/>
                <a:cs typeface="Open Sans"/>
                <a:sym typeface="Open Sans"/>
              </a:rPr>
              <a:t>Độ lớn bias toàn tập dưới 1%, nhưng vẫn có lỗi cục bộ.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7229475"/>
            <a:ext cx="6191250" cy="793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50" b="true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GIỮ DỰ BÁO GỐC</a:t>
            </a:r>
          </a:p>
          <a:p>
            <a:pPr algn="l">
              <a:lnSpc>
                <a:spcPts val="3187"/>
              </a:lnSpc>
            </a:pPr>
            <a:r>
              <a:rPr lang="en-US" sz="2550" b="true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Chỉ chặn âm và làm tròn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141246" y="807783"/>
            <a:ext cx="9530258" cy="8099934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668000" y="9010650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5F1E8"/>
                </a:solidFill>
                <a:latin typeface="Open Sans"/>
                <a:ea typeface="Open Sans"/>
                <a:cs typeface="Open Sans"/>
                <a:sym typeface="Open Sans"/>
              </a:rPr>
              <a:t>Số liệu notebook • dữ liệu giả lập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3716000" cy="10287000"/>
            <a:chOff x="0" y="0"/>
            <a:chExt cx="18288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EEE8"/>
            </a:solidFill>
            <a:ln w="19050" cap="sq">
              <a:solidFill>
                <a:srgbClr val="18B7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16000" y="0"/>
            <a:ext cx="4572000" cy="10287000"/>
            <a:chOff x="0" y="0"/>
            <a:chExt cx="6096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9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1E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096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192250" y="704850"/>
            <a:ext cx="3524250" cy="907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30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SERVING</a:t>
            </a:r>
          </a:p>
          <a:p>
            <a:pPr algn="l">
              <a:lnSpc>
                <a:spcPts val="3564"/>
              </a:lnSpc>
            </a:pPr>
            <a:r>
              <a:rPr lang="en-US" sz="330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Bản đồ nhu cầu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192250" y="3648075"/>
            <a:ext cx="31432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750" b="true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217 hex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92250" y="5238750"/>
            <a:ext cx="333375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1.833 yêu cầu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20:20–20:30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92250" y="7200900"/>
            <a:ext cx="33337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02A3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Đỉnh: 86 yêu cầu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92250" y="8820150"/>
            <a:ext cx="3333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 • H10 • 13/10 20:20</a:t>
            </a:r>
          </a:p>
        </p:txBody>
      </p:sp>
      <p:sp>
        <p:nvSpPr>
          <p:cNvPr name="Freeform 13" id="13" descr="Ảnh thật bản đồ dự báo 217 hex, Car H10"/>
          <p:cNvSpPr/>
          <p:nvPr/>
        </p:nvSpPr>
        <p:spPr>
          <a:xfrm flipH="false" flipV="false" rot="0">
            <a:off x="333375" y="1095375"/>
            <a:ext cx="13049250" cy="8067675"/>
          </a:xfrm>
          <a:custGeom>
            <a:avLst/>
            <a:gdLst/>
            <a:ahLst/>
            <a:cxnLst/>
            <a:rect r="r" b="b" t="t" l="l"/>
            <a:pathLst>
              <a:path h="8067675" w="13049250">
                <a:moveTo>
                  <a:pt x="0" y="0"/>
                </a:moveTo>
                <a:lnTo>
                  <a:pt x="13049250" y="0"/>
                </a:lnTo>
                <a:lnTo>
                  <a:pt x="13049250" y="8067675"/>
                </a:lnTo>
                <a:lnTo>
                  <a:pt x="0" y="8067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t="0" r="-6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0250" y="1619250"/>
            <a:ext cx="12477750" cy="7810500"/>
            <a:chOff x="0" y="0"/>
            <a:chExt cx="16637000" cy="1041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37000" cy="10414000"/>
            </a:xfrm>
            <a:custGeom>
              <a:avLst/>
              <a:gdLst/>
              <a:ahLst/>
              <a:cxnLst/>
              <a:rect r="r" b="b" t="t" l="l"/>
              <a:pathLst>
                <a:path h="10414000" w="16637000">
                  <a:moveTo>
                    <a:pt x="0" y="0"/>
                  </a:moveTo>
                  <a:lnTo>
                    <a:pt x="16637000" y="0"/>
                  </a:lnTo>
                  <a:lnTo>
                    <a:pt x="16637000" y="10414000"/>
                  </a:lnTo>
                  <a:lnTo>
                    <a:pt x="0" y="10414000"/>
                  </a:lnTo>
                  <a:close/>
                </a:path>
              </a:pathLst>
            </a:custGeom>
            <a:solidFill>
              <a:srgbClr val="102A3A"/>
            </a:solidFill>
            <a:ln w="19050" cap="sq">
              <a:solidFill>
                <a:srgbClr val="18B7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637000" cy="1045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704850"/>
            <a:ext cx="4953000" cy="92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3375" b="true">
                <a:solidFill>
                  <a:srgbClr val="F5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Nhịp vận hành</a:t>
            </a:r>
          </a:p>
          <a:p>
            <a:pPr algn="l">
              <a:lnSpc>
                <a:spcPts val="3645"/>
              </a:lnSpc>
            </a:pPr>
            <a:r>
              <a:rPr lang="en-US" sz="3375" b="true">
                <a:solidFill>
                  <a:srgbClr val="F5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được định lịch rõ ràng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2000" y="3495675"/>
            <a:ext cx="4476750" cy="325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 b="true">
                <a:solidFill>
                  <a:srgbClr val="F5F1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 phút</a:t>
            </a:r>
          </a:p>
          <a:p>
            <a:pPr algn="l">
              <a:lnSpc>
                <a:spcPts val="3240"/>
              </a:lnSpc>
            </a:pPr>
            <a:r>
              <a:rPr lang="en-US" sz="2400" b="true">
                <a:solidFill>
                  <a:srgbClr val="F5F1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Serving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400" b="true">
                <a:solidFill>
                  <a:srgbClr val="F5F1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giờ</a:t>
            </a:r>
          </a:p>
          <a:p>
            <a:pPr algn="l">
              <a:lnSpc>
                <a:spcPts val="3240"/>
              </a:lnSpc>
            </a:pPr>
            <a:r>
              <a:rPr lang="en-US" sz="2400" b="true">
                <a:solidFill>
                  <a:srgbClr val="F5F1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Monitoring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400" b="true">
                <a:solidFill>
                  <a:srgbClr val="F5F1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02:00 thứ Hai</a:t>
            </a:r>
          </a:p>
          <a:p>
            <a:pPr algn="l">
              <a:lnSpc>
                <a:spcPts val="3240"/>
              </a:lnSpc>
            </a:pPr>
            <a:r>
              <a:rPr lang="en-US" sz="2400" b="true">
                <a:solidFill>
                  <a:srgbClr val="F5F1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Retrain • giờ Việt Nam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91250" y="390525"/>
            <a:ext cx="1114425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F5F1E8"/>
                </a:solidFill>
                <a:latin typeface="Open Sans"/>
                <a:ea typeface="Open Sans"/>
                <a:cs typeface="Open Sans"/>
                <a:sym typeface="Open Sans"/>
              </a:rPr>
              <a:t>Artifact có schema + version. Active model được theo dõi riêng; retrain không đồng nghĩa tự động deploy.</a:t>
            </a:r>
          </a:p>
        </p:txBody>
      </p:sp>
      <p:sp>
        <p:nvSpPr>
          <p:cNvPr name="Freeform 8" id="8" descr="Ảnh thật lịch tác vụ Airflow"/>
          <p:cNvSpPr/>
          <p:nvPr/>
        </p:nvSpPr>
        <p:spPr>
          <a:xfrm flipH="false" flipV="false" rot="0">
            <a:off x="6000750" y="3333750"/>
            <a:ext cx="12001500" cy="3409950"/>
          </a:xfrm>
          <a:custGeom>
            <a:avLst/>
            <a:gdLst/>
            <a:ahLst/>
            <a:cxnLst/>
            <a:rect r="r" b="b" t="t" l="l"/>
            <a:pathLst>
              <a:path h="3409950" w="12001500">
                <a:moveTo>
                  <a:pt x="0" y="0"/>
                </a:moveTo>
                <a:lnTo>
                  <a:pt x="12001500" y="0"/>
                </a:lnTo>
                <a:lnTo>
                  <a:pt x="12001500" y="3409950"/>
                </a:lnTo>
                <a:lnTo>
                  <a:pt x="0" y="3409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" t="0" r="-66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92000" cy="7239000"/>
            <a:chOff x="0" y="0"/>
            <a:chExt cx="16256000" cy="965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9652000"/>
            </a:xfrm>
            <a:custGeom>
              <a:avLst/>
              <a:gdLst/>
              <a:ahLst/>
              <a:cxnLst/>
              <a:rect r="r" b="b" t="t" l="l"/>
              <a:pathLst>
                <a:path h="9652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652000"/>
                  </a:lnTo>
                  <a:lnTo>
                    <a:pt x="0" y="9652000"/>
                  </a:lnTo>
                  <a:close/>
                </a:path>
              </a:pathLst>
            </a:custGeom>
            <a:solidFill>
              <a:srgbClr val="D9EEE8"/>
            </a:solidFill>
            <a:ln w="19050" cap="sq">
              <a:solidFill>
                <a:srgbClr val="18B7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256000" cy="969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7239000"/>
            <a:ext cx="6667500" cy="3048000"/>
            <a:chOff x="0" y="0"/>
            <a:chExt cx="8890000" cy="406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90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102A3A"/>
            </a:solidFill>
            <a:ln w="19050" cap="sq">
              <a:solidFill>
                <a:srgbClr val="18B7A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890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668250" y="609600"/>
            <a:ext cx="4762500" cy="78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8"/>
              </a:lnSpc>
            </a:pPr>
            <a:r>
              <a:rPr lang="en-US" sz="285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MONITOR</a:t>
            </a:r>
          </a:p>
          <a:p>
            <a:pPr algn="l">
              <a:lnSpc>
                <a:spcPts val="3078"/>
              </a:lnSpc>
            </a:pPr>
            <a:r>
              <a:rPr lang="en-US" sz="2850" b="tru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đúng cửa sổ, đúng độ trễ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68250" y="3057525"/>
            <a:ext cx="4762500" cy="171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100">
                <a:solidFill>
                  <a:srgbClr val="102A3A"/>
                </a:solidFill>
                <a:latin typeface="Open Sans"/>
                <a:ea typeface="Open Sans"/>
                <a:cs typeface="Open Sans"/>
                <a:sym typeface="Open Sans"/>
              </a:rPr>
              <a:t>Missing / late feature</a:t>
            </a:r>
          </a:p>
          <a:p>
            <a:pPr algn="l">
              <a:lnSpc>
                <a:spcPts val="3465"/>
              </a:lnSpc>
            </a:pPr>
            <a:r>
              <a:rPr lang="en-US" sz="2100">
                <a:solidFill>
                  <a:srgbClr val="102A3A"/>
                </a:solidFill>
                <a:latin typeface="Open Sans"/>
                <a:ea typeface="Open Sans"/>
                <a:cs typeface="Open Sans"/>
                <a:sym typeface="Open Sans"/>
              </a:rPr>
              <a:t>WMAPE + bias khi có actual</a:t>
            </a:r>
          </a:p>
          <a:p>
            <a:pPr algn="l">
              <a:lnSpc>
                <a:spcPts val="3465"/>
              </a:lnSpc>
            </a:pPr>
            <a:r>
              <a:rPr lang="en-US" sz="2100">
                <a:solidFill>
                  <a:srgbClr val="102A3A"/>
                </a:solidFill>
                <a:latin typeface="Open Sans"/>
                <a:ea typeface="Open Sans"/>
                <a:cs typeface="Open Sans"/>
                <a:sym typeface="Open Sans"/>
              </a:rPr>
              <a:t>Prediction distribution / PSI</a:t>
            </a:r>
          </a:p>
          <a:p>
            <a:pPr algn="l">
              <a:lnSpc>
                <a:spcPts val="3465"/>
              </a:lnSpc>
            </a:pPr>
            <a:r>
              <a:rPr lang="en-US" sz="2100">
                <a:solidFill>
                  <a:srgbClr val="102A3A"/>
                </a:solidFill>
                <a:latin typeface="Open Sans"/>
                <a:ea typeface="Open Sans"/>
                <a:cs typeface="Open Sans"/>
                <a:sym typeface="Open Sans"/>
              </a:rPr>
              <a:t>Trạng thái pipeline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39000" y="7858125"/>
            <a:ext cx="981075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6B7D83"/>
                </a:solidFill>
                <a:latin typeface="Open Sans"/>
                <a:ea typeface="Open Sans"/>
                <a:cs typeface="Open Sans"/>
                <a:sym typeface="Open Sans"/>
              </a:rPr>
              <a:t>Đã phát hiện dữ liệu cũ và thiếu lịch sử.</a:t>
            </a:r>
          </a:p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6B7D83"/>
                </a:solidFill>
                <a:latin typeface="Open Sans"/>
                <a:ea typeface="Open Sans"/>
                <a:cs typeface="Open Sans"/>
                <a:sym typeface="Open Sans"/>
              </a:rPr>
              <a:t>Chấm sai số cùng coverage và phiên bản model.</a:t>
            </a:r>
          </a:p>
        </p:txBody>
      </p:sp>
      <p:sp>
        <p:nvSpPr>
          <p:cNvPr name="Freeform 11" id="11" descr="Ảnh thật dashboard Grafana"/>
          <p:cNvSpPr/>
          <p:nvPr/>
        </p:nvSpPr>
        <p:spPr>
          <a:xfrm flipH="false" flipV="false" rot="0">
            <a:off x="285750" y="1000125"/>
            <a:ext cx="11620500" cy="4724400"/>
          </a:xfrm>
          <a:custGeom>
            <a:avLst/>
            <a:gdLst/>
            <a:ahLst/>
            <a:cxnLst/>
            <a:rect r="r" b="b" t="t" l="l"/>
            <a:pathLst>
              <a:path h="4724400" w="11620500">
                <a:moveTo>
                  <a:pt x="0" y="0"/>
                </a:moveTo>
                <a:lnTo>
                  <a:pt x="11620500" y="0"/>
                </a:lnTo>
                <a:lnTo>
                  <a:pt x="116205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t="0" r="-37" b="0"/>
            </a:stretch>
          </a:blipFill>
        </p:spPr>
      </p:sp>
      <p:sp>
        <p:nvSpPr>
          <p:cNvPr name="Freeform 12" id="12" descr="Ảnh thật cảnh báo feature"/>
          <p:cNvSpPr/>
          <p:nvPr/>
        </p:nvSpPr>
        <p:spPr>
          <a:xfrm flipH="false" flipV="false" rot="0">
            <a:off x="238125" y="7334250"/>
            <a:ext cx="6286500" cy="2409825"/>
          </a:xfrm>
          <a:custGeom>
            <a:avLst/>
            <a:gdLst/>
            <a:ahLst/>
            <a:cxnLst/>
            <a:rect r="r" b="b" t="t" l="l"/>
            <a:pathLst>
              <a:path h="2409825" w="6286500">
                <a:moveTo>
                  <a:pt x="0" y="0"/>
                </a:moveTo>
                <a:lnTo>
                  <a:pt x="6286500" y="0"/>
                </a:lnTo>
                <a:lnTo>
                  <a:pt x="6286500" y="2409825"/>
                </a:lnTo>
                <a:lnTo>
                  <a:pt x="0" y="2409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8" t="0" r="-108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7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66775"/>
            <a:ext cx="9334500" cy="1411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100" b="true">
                <a:solidFill>
                  <a:srgbClr val="F5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Hệ thống chạy thử</a:t>
            </a:r>
          </a:p>
          <a:p>
            <a:pPr algn="l">
              <a:lnSpc>
                <a:spcPts val="5508"/>
              </a:lnSpc>
            </a:pPr>
            <a:r>
              <a:rPr lang="en-US" sz="5100" b="true">
                <a:solidFill>
                  <a:srgbClr val="F5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đã hoàn chỉnh.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001250" y="1028700"/>
            <a:ext cx="7239000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69"/>
              </a:lnSpc>
              <a:spcBef>
                <a:spcPct val="0"/>
              </a:spcBef>
            </a:pPr>
            <a:r>
              <a:rPr lang="en-US" b="true" sz="5550" strike="noStrike" u="none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10,612–14,220%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96500" y="2057400"/>
            <a:ext cx="4286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pc="132" strike="noStrike" u="none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 WMAPE · NOTEBOOK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3857625"/>
            <a:ext cx="16459200" cy="28575"/>
            <a:chOff x="0" y="0"/>
            <a:chExt cx="21945600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8B7A0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4448175"/>
            <a:ext cx="8572500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5F1E8"/>
                </a:solidFill>
                <a:latin typeface="Open Sans"/>
                <a:ea typeface="Open Sans"/>
                <a:cs typeface="Open Sans"/>
                <a:sym typeface="Open Sans"/>
              </a:rPr>
              <a:t>Đã triển khai Train, Serving và Monitoring.</a:t>
            </a:r>
          </a:p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5F1E8"/>
                </a:solidFill>
                <a:latin typeface="Open Sans"/>
                <a:ea typeface="Open Sans"/>
                <a:cs typeface="Open Sans"/>
                <a:sym typeface="Open Sans"/>
              </a:rPr>
              <a:t>Giữ 6 model direct, không hiệu chỉnh sau dự báo.</a:t>
            </a:r>
          </a:p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5F1E8"/>
                </a:solidFill>
                <a:latin typeface="Open Sans"/>
                <a:ea typeface="Open Sans"/>
                <a:cs typeface="Open Sans"/>
                <a:sym typeface="Open Sans"/>
              </a:rPr>
              <a:t>H60 còn phản ứng thiếu khi nhu cầu tăng.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01250" y="4762500"/>
            <a:ext cx="6667500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3150" strike="noStrike" u="none">
                <a:solidFill>
                  <a:srgbClr val="F5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Hệ thống đã chạy thử trên dữ liệu giả lập.</a:t>
            </a: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3150" strike="noStrike" u="none">
                <a:solidFill>
                  <a:srgbClr val="F5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Chưa đánh giá trên dữ liệu đặt chuyến thật.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9163050"/>
            <a:ext cx="1428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AAC4C1"/>
                </a:solidFill>
                <a:latin typeface="Open Sans"/>
                <a:ea typeface="Open Sans"/>
                <a:cs typeface="Open Sans"/>
                <a:sym typeface="Open Sans"/>
              </a:rPr>
              <a:t>Nguồn: Bao_cao_du_an_du_bao_nhu_cau_hoan_thien.docx • 13/10/2026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DAHX9YuG5L0</dc:identifier>
  <dcterms:modified xsi:type="dcterms:W3CDTF">2011-08-01T06:04:30Z</dcterms:modified>
  <cp:revision>1</cp:revision>
  <dc:title>Dự báo nhu cầu đặt chuyến</dc:title>
</cp:coreProperties>
</file>