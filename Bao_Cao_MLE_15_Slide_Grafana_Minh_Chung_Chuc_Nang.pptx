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18"/>
  </p:notesMasterIdLst>
  <p:sldIdLst>
    <p:sldId id="272" r:id="rId3"/>
    <p:sldId id="257" r:id="rId4"/>
    <p:sldId id="258" r:id="rId5"/>
    <p:sldId id="259" r:id="rId6"/>
    <p:sldId id="260" r:id="rId7"/>
    <p:sldId id="273" r:id="rId8"/>
    <p:sldId id="274" r:id="rId9"/>
    <p:sldId id="275" r:id="rId10"/>
    <p:sldId id="276" r:id="rId11"/>
    <p:sldId id="277" r:id="rId12"/>
    <p:sldId id="278" r:id="rId13"/>
    <p:sldId id="279" r:id="rId14"/>
    <p:sldId id="280" r:id="rId15"/>
    <p:sldId id="281" r:id="rId16"/>
    <p:sldId id="282"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53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4851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24F55-38A8-912F-A9A8-0E8CD9E09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8BE48-E48F-8162-1344-01677EF04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33D093-8E16-8325-2408-F166C1BC36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7B2BFE-5EE0-F14D-46C2-43DAD13D249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5022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23629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5434477"/>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2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A29"/>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04D0B3"/>
          </a:solidFill>
          <a:ln w="12700">
            <a:solidFill>
              <a:srgbClr val="04D0B3"/>
            </a:solidFill>
            <a:prstDash val="solid"/>
          </a:ln>
        </p:spPr>
        <p:txBody>
          <a:bodyPr/>
          <a:lstStyle/>
          <a:p>
            <a:endParaRPr/>
          </a:p>
        </p:txBody>
      </p:sp>
      <p:sp>
        <p:nvSpPr>
          <p:cNvPr id="4" name="Text 2"/>
          <p:cNvSpPr/>
          <p:nvPr/>
        </p:nvSpPr>
        <p:spPr>
          <a:xfrm>
            <a:off x="445304" y="758952"/>
            <a:ext cx="6565392" cy="245059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Inter Display" pitchFamily="34" charset="0"/>
                <a:ea typeface="Inter Display" pitchFamily="34" charset="-122"/>
                <a:cs typeface="Inter Display" pitchFamily="34" charset="-120"/>
              </a:rPr>
              <a:t>DỰ ĐOÁN NHU CẦU</a:t>
            </a:r>
            <a:endParaRPr kumimoji="0" lang="en-US" sz="3600" b="0" i="0" u="none" strike="noStrike" kern="1200" cap="none" spc="0" normalizeH="0" baseline="0" noProof="0" dirty="0">
              <a:ln>
                <a:noFill/>
              </a:ln>
              <a:solidFill>
                <a:prstClr val="black"/>
              </a:solidFill>
              <a:effectLst/>
              <a:uLnTx/>
              <a:uFillTx/>
              <a:latin typeface="Inter"/>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Inter Display" pitchFamily="34" charset="0"/>
                <a:ea typeface="Inter Display" pitchFamily="34" charset="-122"/>
                <a:cs typeface="Inter Display" pitchFamily="34" charset="-120"/>
              </a:rPr>
              <a:t>ĐẶT XE TẠI THÀNH PHỐ</a:t>
            </a:r>
            <a:endParaRPr kumimoji="0" lang="en-US" sz="3600" b="0" i="0" u="none" strike="noStrike" kern="1200" cap="none" spc="0" normalizeH="0" baseline="0" noProof="0" dirty="0">
              <a:ln>
                <a:noFill/>
              </a:ln>
              <a:solidFill>
                <a:prstClr val="black"/>
              </a:solidFill>
              <a:effectLst/>
              <a:uLnTx/>
              <a:uFillTx/>
              <a:latin typeface="Inter"/>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Inter Display" pitchFamily="34" charset="0"/>
                <a:ea typeface="Inter Display" pitchFamily="34" charset="-122"/>
                <a:cs typeface="Inter Display" pitchFamily="34" charset="-120"/>
              </a:rPr>
              <a:t>HỒ CHÍ MINH</a:t>
            </a:r>
            <a:endParaRPr kumimoji="0" lang="en-US" sz="3600" b="0" i="0" u="none" strike="noStrike" kern="1200" cap="none" spc="0" normalizeH="0" baseline="0" noProof="0" dirty="0">
              <a:ln>
                <a:noFill/>
              </a:ln>
              <a:solidFill>
                <a:prstClr val="black"/>
              </a:solidFill>
              <a:effectLst/>
              <a:uLnTx/>
              <a:uFillTx/>
              <a:latin typeface="Inter"/>
              <a:ea typeface="+mn-ea"/>
              <a:cs typeface="+mn-cs"/>
            </a:endParaRPr>
          </a:p>
        </p:txBody>
      </p:sp>
      <p:sp>
        <p:nvSpPr>
          <p:cNvPr id="5" name="Text 3"/>
          <p:cNvSpPr/>
          <p:nvPr/>
        </p:nvSpPr>
        <p:spPr>
          <a:xfrm>
            <a:off x="445304" y="3516800"/>
            <a:ext cx="4944655" cy="941832"/>
          </a:xfrm>
          <a:prstGeom prst="rect">
            <a:avLst/>
          </a:prstGeom>
          <a:noFill/>
          <a:ln/>
        </p:spPr>
        <p:txBody>
          <a:bodyPr wrap="square" lIns="0" tIns="0" rIns="0" bIns="0" rtlCol="0" anchor="t">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20" b="0" i="0" u="none" strike="noStrike" kern="1200" cap="none" spc="0" normalizeH="0" baseline="0" noProof="0" dirty="0">
                <a:ln>
                  <a:noFill/>
                </a:ln>
                <a:solidFill>
                  <a:srgbClr val="C8D8DF"/>
                </a:solidFill>
                <a:effectLst/>
                <a:uLnTx/>
                <a:uFillTx/>
                <a:latin typeface="Inter" pitchFamily="34" charset="0"/>
                <a:ea typeface="Inter" pitchFamily="34" charset="-122"/>
                <a:cs typeface="Inter" pitchFamily="34" charset="-120"/>
              </a:rPr>
              <a:t>Xây dựng và lựa chọn mô hình, đánh giá sai số, tự động huấn luyện, triển khai dự báo và giám sát vận hành.</a:t>
            </a:r>
            <a:endParaRPr kumimoji="0" lang="en-US" sz="1720" b="0" i="0" u="none" strike="noStrike" kern="1200" cap="none" spc="0" normalizeH="0" baseline="0" noProof="0" dirty="0">
              <a:ln>
                <a:noFill/>
              </a:ln>
              <a:solidFill>
                <a:prstClr val="black"/>
              </a:solidFill>
              <a:effectLst/>
              <a:uLnTx/>
              <a:uFillTx/>
              <a:ea typeface="+mn-ea"/>
              <a:cs typeface="+mn-cs"/>
            </a:endParaRPr>
          </a:p>
        </p:txBody>
      </p:sp>
      <p:sp>
        <p:nvSpPr>
          <p:cNvPr id="12" name="Shape 10"/>
          <p:cNvSpPr/>
          <p:nvPr/>
        </p:nvSpPr>
        <p:spPr>
          <a:xfrm>
            <a:off x="5459766" y="758952"/>
            <a:ext cx="6560021" cy="5340096"/>
          </a:xfrm>
          <a:prstGeom prst="roundRect">
            <a:avLst>
              <a:gd name="adj" fmla="val 2685"/>
            </a:avLst>
          </a:prstGeom>
          <a:solidFill>
            <a:srgbClr val="0D283C"/>
          </a:solidFill>
          <a:ln w="12700">
            <a:solidFill>
              <a:srgbClr val="2D5262"/>
            </a:solidFill>
            <a:prstDash val="solid"/>
          </a:ln>
        </p:spPr>
        <p:txBody>
          <a:bodyPr/>
          <a:lstStyle/>
          <a:p>
            <a:endParaRPr/>
          </a:p>
        </p:txBody>
      </p:sp>
      <p:sp>
        <p:nvSpPr>
          <p:cNvPr id="14" name="Text 11"/>
          <p:cNvSpPr/>
          <p:nvPr/>
        </p:nvSpPr>
        <p:spPr>
          <a:xfrm>
            <a:off x="348715" y="5941314"/>
            <a:ext cx="10058400" cy="210312"/>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30" b="0" i="0" u="none" strike="noStrike" kern="1200" cap="none" spc="0" normalizeH="0" baseline="0" noProof="0" dirty="0">
                <a:ln>
                  <a:noFill/>
                </a:ln>
                <a:solidFill>
                  <a:srgbClr val="A3B8C4"/>
                </a:solidFill>
                <a:effectLst/>
                <a:uLnTx/>
                <a:uFillTx/>
                <a:latin typeface="Inter" pitchFamily="34" charset="0"/>
                <a:ea typeface="Inter" pitchFamily="34" charset="-122"/>
                <a:cs typeface="Inter" pitchFamily="34" charset="-120"/>
              </a:rPr>
              <a:t>Mentor: Nguyễn Hoài Đăng, Nguyễn </a:t>
            </a:r>
            <a:r>
              <a:rPr kumimoji="0" lang="en-US" sz="1030" b="0" i="0" u="none" strike="noStrike" kern="1200" cap="none" spc="0" normalizeH="0" baseline="0" noProof="0" dirty="0" err="1">
                <a:ln>
                  <a:noFill/>
                </a:ln>
                <a:solidFill>
                  <a:srgbClr val="A3B8C4"/>
                </a:solidFill>
                <a:effectLst/>
                <a:uLnTx/>
                <a:uFillTx/>
                <a:latin typeface="Inter" pitchFamily="34" charset="0"/>
                <a:ea typeface="Inter" pitchFamily="34" charset="-122"/>
                <a:cs typeface="Inter" pitchFamily="34" charset="-120"/>
              </a:rPr>
              <a:t>Khả</a:t>
            </a:r>
            <a:r>
              <a:rPr kumimoji="0" lang="en-US" sz="1030" b="0" i="0" u="none" strike="noStrike" kern="1200" cap="none" spc="0" normalizeH="0" baseline="0" noProof="0" dirty="0">
                <a:ln>
                  <a:noFill/>
                </a:ln>
                <a:solidFill>
                  <a:srgbClr val="A3B8C4"/>
                </a:solidFill>
                <a:effectLst/>
                <a:uLnTx/>
                <a:uFillTx/>
                <a:latin typeface="Inter" pitchFamily="34" charset="0"/>
                <a:ea typeface="Inter" pitchFamily="34" charset="-122"/>
                <a:cs typeface="Inter" pitchFamily="34" charset="-120"/>
              </a:rPr>
              <a:t> Tiến • </a:t>
            </a:r>
            <a:r>
              <a:rPr kumimoji="0" lang="en-US" sz="1030" b="0" i="0" u="none" strike="noStrike" kern="1200" cap="none" spc="0" normalizeH="0" baseline="0" noProof="0" dirty="0" err="1">
                <a:ln>
                  <a:noFill/>
                </a:ln>
                <a:solidFill>
                  <a:srgbClr val="A3B8C4"/>
                </a:solidFill>
                <a:effectLst/>
                <a:uLnTx/>
                <a:uFillTx/>
                <a:latin typeface="Inter" pitchFamily="34" charset="0"/>
                <a:ea typeface="Inter" pitchFamily="34" charset="-122"/>
                <a:cs typeface="Inter" pitchFamily="34" charset="-120"/>
              </a:rPr>
              <a:t>Người</a:t>
            </a:r>
            <a:r>
              <a:rPr kumimoji="0" lang="en-US" sz="1030" b="0" i="0" u="none" strike="noStrike" kern="1200" cap="none" spc="0" normalizeH="0" baseline="0" noProof="0" dirty="0">
                <a:ln>
                  <a:noFill/>
                </a:ln>
                <a:solidFill>
                  <a:srgbClr val="A3B8C4"/>
                </a:solidFill>
                <a:effectLst/>
                <a:uLnTx/>
                <a:uFillTx/>
                <a:latin typeface="Inter" pitchFamily="34" charset="0"/>
                <a:ea typeface="Inter" pitchFamily="34" charset="-122"/>
                <a:cs typeface="Inter" pitchFamily="34" charset="-120"/>
              </a:rPr>
              <a:t> </a:t>
            </a:r>
            <a:r>
              <a:rPr kumimoji="0" lang="en-US" sz="1030" b="0" i="0" u="none" strike="noStrike" kern="1200" cap="none" spc="0" normalizeH="0" baseline="0" noProof="0" dirty="0" err="1">
                <a:ln>
                  <a:noFill/>
                </a:ln>
                <a:solidFill>
                  <a:srgbClr val="A3B8C4"/>
                </a:solidFill>
                <a:effectLst/>
                <a:uLnTx/>
                <a:uFillTx/>
                <a:latin typeface="Inter" pitchFamily="34" charset="0"/>
                <a:ea typeface="Inter" pitchFamily="34" charset="-122"/>
                <a:cs typeface="Inter" pitchFamily="34" charset="-120"/>
              </a:rPr>
              <a:t>thực</a:t>
            </a:r>
            <a:r>
              <a:rPr kumimoji="0" lang="en-US" sz="1030" b="0" i="0" u="none" strike="noStrike" kern="1200" cap="none" spc="0" normalizeH="0" baseline="0" noProof="0" dirty="0">
                <a:ln>
                  <a:noFill/>
                </a:ln>
                <a:solidFill>
                  <a:srgbClr val="A3B8C4"/>
                </a:solidFill>
                <a:effectLst/>
                <a:uLnTx/>
                <a:uFillTx/>
                <a:latin typeface="Inter" pitchFamily="34" charset="0"/>
                <a:ea typeface="Inter" pitchFamily="34" charset="-122"/>
                <a:cs typeface="Inter" pitchFamily="34" charset="-120"/>
              </a:rPr>
              <a:t> </a:t>
            </a:r>
            <a:r>
              <a:rPr kumimoji="0" lang="en-US" sz="1030" b="0" i="0" u="none" strike="noStrike" kern="1200" cap="none" spc="0" normalizeH="0" baseline="0" noProof="0" dirty="0" err="1">
                <a:ln>
                  <a:noFill/>
                </a:ln>
                <a:solidFill>
                  <a:srgbClr val="A3B8C4"/>
                </a:solidFill>
                <a:effectLst/>
                <a:uLnTx/>
                <a:uFillTx/>
                <a:latin typeface="Inter" pitchFamily="34" charset="0"/>
                <a:ea typeface="Inter" pitchFamily="34" charset="-122"/>
                <a:cs typeface="Inter" pitchFamily="34" charset="-120"/>
              </a:rPr>
              <a:t>hiện</a:t>
            </a:r>
            <a:r>
              <a:rPr kumimoji="0" lang="en-US" sz="1030" b="0" i="0" u="none" strike="noStrike" kern="1200" cap="none" spc="0" normalizeH="0" baseline="0" noProof="0" dirty="0">
                <a:ln>
                  <a:noFill/>
                </a:ln>
                <a:solidFill>
                  <a:srgbClr val="A3B8C4"/>
                </a:solidFill>
                <a:effectLst/>
                <a:uLnTx/>
                <a:uFillTx/>
                <a:latin typeface="Inter" pitchFamily="34" charset="0"/>
                <a:ea typeface="Inter" pitchFamily="34" charset="-122"/>
                <a:cs typeface="Inter" pitchFamily="34" charset="-120"/>
              </a:rPr>
              <a:t>: Nguyễn Trường An   </a:t>
            </a:r>
            <a:endParaRPr kumimoji="0" lang="en-US" sz="1030" b="0" i="0" u="none" strike="noStrike" kern="1200" cap="none" spc="0" normalizeH="0" baseline="0" noProof="0" dirty="0">
              <a:ln>
                <a:noFill/>
              </a:ln>
              <a:solidFill>
                <a:prstClr val="black"/>
              </a:solidFill>
              <a:effectLst/>
              <a:uLnTx/>
              <a:uFillTx/>
              <a:latin typeface="Inter"/>
              <a:ea typeface="+mn-ea"/>
              <a:cs typeface="+mn-cs"/>
            </a:endParaRPr>
          </a:p>
        </p:txBody>
      </p:sp>
      <p:pic>
        <p:nvPicPr>
          <p:cNvPr id="16" name="Picture 15">
            <a:extLst>
              <a:ext uri="{FF2B5EF4-FFF2-40B4-BE49-F238E27FC236}">
                <a16:creationId xmlns:a16="http://schemas.microsoft.com/office/drawing/2014/main" id="{F64B1A2D-5289-4687-59C6-F2517C3B940A}"/>
              </a:ext>
            </a:extLst>
          </p:cNvPr>
          <p:cNvPicPr>
            <a:picLocks noChangeAspect="1"/>
          </p:cNvPicPr>
          <p:nvPr/>
        </p:nvPicPr>
        <p:blipFill>
          <a:blip r:embed="rId3"/>
          <a:stretch>
            <a:fillRect/>
          </a:stretch>
        </p:blipFill>
        <p:spPr>
          <a:xfrm>
            <a:off x="5541663" y="1072447"/>
            <a:ext cx="6396227" cy="513175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D928B"/>
          </a:solidFill>
          <a:ln w="12700">
            <a:solidFill>
              <a:srgbClr val="0D928B">
                <a:alpha val="0"/>
              </a:srgbClr>
            </a:solidFill>
            <a:prstDash val="solid"/>
          </a:ln>
        </p:spPr>
        <p:txBody>
          <a:bodyPr/>
          <a:lstStyle/>
          <a:p>
            <a:endParaRPr/>
          </a:p>
        </p:txBody>
      </p:sp>
      <p:sp>
        <p:nvSpPr>
          <p:cNvPr id="3" name="Text 1"/>
          <p:cNvSpPr/>
          <p:nvPr/>
        </p:nvSpPr>
        <p:spPr>
          <a:xfrm>
            <a:off x="512064" y="320040"/>
            <a:ext cx="10058400" cy="192024"/>
          </a:xfrm>
          <a:prstGeom prst="rect">
            <a:avLst/>
          </a:prstGeom>
          <a:noFill/>
          <a:ln/>
        </p:spPr>
        <p:txBody>
          <a:bodyPr wrap="square" lIns="0" tIns="0" rIns="0" bIns="0" rtlCol="0" anchor="ctr">
            <a:normAutofit/>
          </a:bodyPr>
          <a:lstStyle/>
          <a:p>
            <a:pPr marL="0" indent="0" algn="l">
              <a:buNone/>
            </a:pPr>
            <a:r>
              <a:rPr lang="en-US" sz="1020" b="1" kern="0" spc="150" dirty="0">
                <a:solidFill>
                  <a:srgbClr val="08756F"/>
                </a:solidFill>
                <a:latin typeface="Arial" pitchFamily="34" charset="0"/>
                <a:ea typeface="Arial" pitchFamily="34" charset="-122"/>
                <a:cs typeface="Arial" pitchFamily="34" charset="-120"/>
              </a:rPr>
              <a:t>01 · BÀI TOÁN VÀ MỤC TIÊU</a:t>
            </a:r>
            <a:endParaRPr lang="en-US" sz="1020" dirty="0"/>
          </a:p>
        </p:txBody>
      </p:sp>
      <p:sp>
        <p:nvSpPr>
          <p:cNvPr id="4" name="Text 2"/>
          <p:cNvSpPr/>
          <p:nvPr/>
        </p:nvSpPr>
        <p:spPr>
          <a:xfrm>
            <a:off x="512064" y="658368"/>
            <a:ext cx="11137392" cy="722376"/>
          </a:xfrm>
          <a:prstGeom prst="rect">
            <a:avLst/>
          </a:prstGeom>
          <a:noFill/>
          <a:ln/>
        </p:spPr>
        <p:txBody>
          <a:bodyPr wrap="square" lIns="0" tIns="0" rIns="0" bIns="0" rtlCol="0" anchor="t">
            <a:normAutofit fontScale="92500" lnSpcReduction="10000"/>
          </a:bodyPr>
          <a:lstStyle/>
          <a:p>
            <a:pPr marL="0" indent="0" algn="l">
              <a:buNone/>
            </a:pPr>
            <a:r>
              <a:rPr lang="en-US" sz="2650" b="1" dirty="0">
                <a:solidFill>
                  <a:srgbClr val="102639"/>
                </a:solidFill>
                <a:latin typeface="Arial" pitchFamily="34" charset="0"/>
                <a:ea typeface="Arial" pitchFamily="34" charset="-122"/>
                <a:cs typeface="Arial" pitchFamily="34" charset="-120"/>
              </a:rPr>
              <a:t>Dự báo theo ô H3 giúp biết nơi cần chuẩn bị tài xế trước khi nhu cầu tăng.</a:t>
            </a:r>
            <a:endParaRPr lang="en-US" sz="2650" dirty="0"/>
          </a:p>
        </p:txBody>
      </p:sp>
      <p:sp>
        <p:nvSpPr>
          <p:cNvPr id="5" name="Shape 3"/>
          <p:cNvSpPr/>
          <p:nvPr/>
        </p:nvSpPr>
        <p:spPr>
          <a:xfrm>
            <a:off x="512064" y="6528816"/>
            <a:ext cx="11173968" cy="0"/>
          </a:xfrm>
          <a:prstGeom prst="line">
            <a:avLst/>
          </a:prstGeom>
          <a:noFill/>
          <a:ln w="7620">
            <a:solidFill>
              <a:srgbClr val="D9E1E8"/>
            </a:solidFill>
            <a:prstDash val="solid"/>
          </a:ln>
        </p:spPr>
        <p:txBody>
          <a:bodyPr/>
          <a:lstStyle/>
          <a:p>
            <a:endParaRPr/>
          </a:p>
        </p:txBody>
      </p:sp>
      <p:sp>
        <p:nvSpPr>
          <p:cNvPr id="7" name="Text 5"/>
          <p:cNvSpPr/>
          <p:nvPr/>
        </p:nvSpPr>
        <p:spPr>
          <a:xfrm>
            <a:off x="11292840" y="6556248"/>
            <a:ext cx="384048" cy="210312"/>
          </a:xfrm>
          <a:prstGeom prst="rect">
            <a:avLst/>
          </a:prstGeom>
          <a:noFill/>
          <a:ln/>
        </p:spPr>
        <p:txBody>
          <a:bodyPr wrap="square" lIns="0" tIns="0" rIns="0" bIns="0" rtlCol="0" anchor="ctr">
            <a:normAutofit/>
          </a:bodyPr>
          <a:lstStyle/>
          <a:p>
            <a:pPr marL="0" indent="0" algn="r">
              <a:buNone/>
            </a:pPr>
            <a:r>
              <a:rPr lang="en-US" sz="1100" b="1" dirty="0">
                <a:solidFill>
                  <a:srgbClr val="587083"/>
                </a:solidFill>
                <a:latin typeface="Arial" pitchFamily="34" charset="0"/>
                <a:ea typeface="Arial" pitchFamily="34" charset="-122"/>
                <a:cs typeface="Arial" pitchFamily="34" charset="-120"/>
              </a:rPr>
              <a:t>02</a:t>
            </a:r>
            <a:endParaRPr lang="en-US" sz="1100" dirty="0"/>
          </a:p>
        </p:txBody>
      </p:sp>
      <p:sp>
        <p:nvSpPr>
          <p:cNvPr id="8" name="Text 6"/>
          <p:cNvSpPr/>
          <p:nvPr/>
        </p:nvSpPr>
        <p:spPr>
          <a:xfrm>
            <a:off x="585216" y="1536192"/>
            <a:ext cx="10972800" cy="630936"/>
          </a:xfrm>
          <a:prstGeom prst="rect">
            <a:avLst/>
          </a:prstGeom>
          <a:noFill/>
          <a:ln/>
        </p:spPr>
        <p:txBody>
          <a:bodyPr wrap="square" lIns="0" tIns="0" rIns="0" bIns="0" rtlCol="0" anchor="t">
            <a:normAutofit/>
          </a:bodyPr>
          <a:lstStyle/>
          <a:p>
            <a:pPr marL="0" indent="0" algn="l">
              <a:buNone/>
            </a:pPr>
            <a:r>
              <a:rPr lang="en-US" sz="1700" dirty="0">
                <a:solidFill>
                  <a:srgbClr val="587083"/>
                </a:solidFill>
                <a:latin typeface="Arial" pitchFamily="34" charset="0"/>
                <a:ea typeface="Arial" pitchFamily="34" charset="-122"/>
                <a:cs typeface="Arial" pitchFamily="34" charset="-120"/>
              </a:rPr>
              <a:t>Nhu cầu đặt xe thay đổi theo giờ và không phân bố đều giữa các khu vực. Chỉ dự báo tổng nhu cầu toàn thành phố sẽ không cho biết nơi nào đang thiếu hoặc dư nguồn xe.</a:t>
            </a:r>
            <a:endParaRPr lang="en-US" sz="1700" dirty="0"/>
          </a:p>
        </p:txBody>
      </p:sp>
      <p:sp>
        <p:nvSpPr>
          <p:cNvPr id="9" name="Shape 7"/>
          <p:cNvSpPr/>
          <p:nvPr/>
        </p:nvSpPr>
        <p:spPr>
          <a:xfrm>
            <a:off x="612648" y="2478024"/>
            <a:ext cx="3703320" cy="1508760"/>
          </a:xfrm>
          <a:prstGeom prst="roundRect">
            <a:avLst>
              <a:gd name="adj" fmla="val 9091"/>
            </a:avLst>
          </a:prstGeom>
          <a:solidFill>
            <a:srgbClr val="FFFFFF"/>
          </a:solidFill>
          <a:ln w="12700">
            <a:solidFill>
              <a:srgbClr val="FFFFFF">
                <a:alpha val="0"/>
              </a:srgbClr>
            </a:solidFill>
            <a:prstDash val="solid"/>
          </a:ln>
        </p:spPr>
        <p:txBody>
          <a:bodyPr/>
          <a:lstStyle/>
          <a:p>
            <a:endParaRPr/>
          </a:p>
        </p:txBody>
      </p:sp>
      <p:sp>
        <p:nvSpPr>
          <p:cNvPr id="10" name="Text 8"/>
          <p:cNvSpPr/>
          <p:nvPr/>
        </p:nvSpPr>
        <p:spPr>
          <a:xfrm>
            <a:off x="786384" y="2606040"/>
            <a:ext cx="3355848" cy="237744"/>
          </a:xfrm>
          <a:prstGeom prst="rect">
            <a:avLst/>
          </a:prstGeom>
          <a:noFill/>
          <a:ln/>
        </p:spPr>
        <p:txBody>
          <a:bodyPr wrap="square" lIns="0" tIns="0" rIns="0" bIns="0" rtlCol="0" anchor="ctr">
            <a:normAutofit/>
          </a:bodyPr>
          <a:lstStyle/>
          <a:p>
            <a:pPr marL="0" indent="0" algn="l">
              <a:buNone/>
            </a:pPr>
            <a:r>
              <a:rPr lang="en-US" sz="1220" b="1" dirty="0">
                <a:solidFill>
                  <a:srgbClr val="08756F"/>
                </a:solidFill>
                <a:latin typeface="Arial" pitchFamily="34" charset="0"/>
                <a:ea typeface="Arial" pitchFamily="34" charset="-122"/>
                <a:cs typeface="Arial" pitchFamily="34" charset="-120"/>
              </a:rPr>
              <a:t>KHÁCH HÀNG</a:t>
            </a:r>
            <a:endParaRPr lang="en-US" sz="1220" dirty="0"/>
          </a:p>
        </p:txBody>
      </p:sp>
      <p:sp>
        <p:nvSpPr>
          <p:cNvPr id="11" name="Text 9"/>
          <p:cNvSpPr/>
          <p:nvPr/>
        </p:nvSpPr>
        <p:spPr>
          <a:xfrm>
            <a:off x="786384" y="2916936"/>
            <a:ext cx="3355848" cy="1005840"/>
          </a:xfrm>
          <a:prstGeom prst="rect">
            <a:avLst/>
          </a:prstGeom>
          <a:noFill/>
          <a:ln/>
        </p:spPr>
        <p:txBody>
          <a:bodyPr wrap="square" lIns="0" tIns="0" rIns="0" bIns="0" rtlCol="0" anchor="t">
            <a:normAutofit/>
          </a:bodyPr>
          <a:lstStyle/>
          <a:p>
            <a:pPr marL="0" indent="0" algn="l">
              <a:buNone/>
            </a:pPr>
            <a:r>
              <a:rPr lang="en-US" sz="1640" dirty="0">
                <a:solidFill>
                  <a:srgbClr val="102639"/>
                </a:solidFill>
                <a:latin typeface="Arial" pitchFamily="34" charset="0"/>
                <a:ea typeface="Arial" pitchFamily="34" charset="-122"/>
                <a:cs typeface="Arial" pitchFamily="34" charset="-120"/>
              </a:rPr>
              <a:t>Hạn chế thời gian chờ khi </a:t>
            </a:r>
            <a:r>
              <a:rPr lang="en-US" sz="1640" dirty="0" err="1">
                <a:solidFill>
                  <a:srgbClr val="102639"/>
                </a:solidFill>
                <a:latin typeface="Arial" pitchFamily="34" charset="0"/>
                <a:ea typeface="Arial" pitchFamily="34" charset="-122"/>
                <a:cs typeface="Arial" pitchFamily="34" charset="-120"/>
              </a:rPr>
              <a:t>nhu</a:t>
            </a:r>
            <a:r>
              <a:rPr lang="en-US" sz="1640" dirty="0">
                <a:solidFill>
                  <a:srgbClr val="102639"/>
                </a:solidFill>
                <a:latin typeface="Arial" pitchFamily="34" charset="0"/>
                <a:ea typeface="Arial" pitchFamily="34" charset="-122"/>
                <a:cs typeface="Arial" pitchFamily="34" charset="-120"/>
              </a:rPr>
              <a:t> </a:t>
            </a:r>
            <a:r>
              <a:rPr lang="en-US" sz="1640" dirty="0" err="1">
                <a:solidFill>
                  <a:srgbClr val="102639"/>
                </a:solidFill>
                <a:latin typeface="Arial" pitchFamily="34" charset="0"/>
                <a:ea typeface="Arial" pitchFamily="34" charset="-122"/>
                <a:cs typeface="Arial" pitchFamily="34" charset="-120"/>
              </a:rPr>
              <a:t>cầu</a:t>
            </a:r>
            <a:r>
              <a:rPr lang="en-US" sz="1640" dirty="0">
                <a:solidFill>
                  <a:srgbClr val="102639"/>
                </a:solidFill>
                <a:latin typeface="Arial" pitchFamily="34" charset="0"/>
                <a:ea typeface="Arial" pitchFamily="34" charset="-122"/>
                <a:cs typeface="Arial" pitchFamily="34" charset="-120"/>
              </a:rPr>
              <a:t> </a:t>
            </a:r>
            <a:r>
              <a:rPr lang="en-US" sz="1640" dirty="0" err="1">
                <a:solidFill>
                  <a:srgbClr val="102639"/>
                </a:solidFill>
                <a:latin typeface="Arial" pitchFamily="34" charset="0"/>
                <a:ea typeface="Arial" pitchFamily="34" charset="-122"/>
                <a:cs typeface="Arial" pitchFamily="34" charset="-120"/>
              </a:rPr>
              <a:t>đặt</a:t>
            </a:r>
            <a:r>
              <a:rPr lang="en-US" sz="1640" dirty="0">
                <a:solidFill>
                  <a:srgbClr val="102639"/>
                </a:solidFill>
                <a:latin typeface="Arial" pitchFamily="34" charset="0"/>
                <a:ea typeface="Arial" pitchFamily="34" charset="-122"/>
                <a:cs typeface="Arial" pitchFamily="34" charset="-120"/>
              </a:rPr>
              <a:t> </a:t>
            </a:r>
            <a:r>
              <a:rPr lang="en-US" sz="1640" dirty="0" err="1">
                <a:solidFill>
                  <a:srgbClr val="102639"/>
                </a:solidFill>
                <a:latin typeface="Arial" pitchFamily="34" charset="0"/>
                <a:ea typeface="Arial" pitchFamily="34" charset="-122"/>
                <a:cs typeface="Arial" pitchFamily="34" charset="-120"/>
              </a:rPr>
              <a:t>xe</a:t>
            </a:r>
            <a:r>
              <a:rPr lang="en-US" sz="1640" dirty="0">
                <a:solidFill>
                  <a:srgbClr val="102639"/>
                </a:solidFill>
                <a:latin typeface="Arial" pitchFamily="34" charset="0"/>
                <a:ea typeface="Arial" pitchFamily="34" charset="-122"/>
                <a:cs typeface="Arial" pitchFamily="34" charset="-120"/>
              </a:rPr>
              <a:t> tăng tại một khu vực.</a:t>
            </a:r>
            <a:endParaRPr lang="en-US" sz="1640" dirty="0"/>
          </a:p>
        </p:txBody>
      </p:sp>
      <p:sp>
        <p:nvSpPr>
          <p:cNvPr id="12" name="Shape 10"/>
          <p:cNvSpPr/>
          <p:nvPr/>
        </p:nvSpPr>
        <p:spPr>
          <a:xfrm>
            <a:off x="4517136" y="2478024"/>
            <a:ext cx="3703320" cy="1508760"/>
          </a:xfrm>
          <a:prstGeom prst="roundRect">
            <a:avLst>
              <a:gd name="adj" fmla="val 9091"/>
            </a:avLst>
          </a:prstGeom>
          <a:solidFill>
            <a:srgbClr val="FFFFFF"/>
          </a:solidFill>
          <a:ln w="12700">
            <a:solidFill>
              <a:srgbClr val="FFFFFF">
                <a:alpha val="0"/>
              </a:srgbClr>
            </a:solidFill>
            <a:prstDash val="solid"/>
          </a:ln>
        </p:spPr>
        <p:txBody>
          <a:bodyPr/>
          <a:lstStyle/>
          <a:p>
            <a:endParaRPr/>
          </a:p>
        </p:txBody>
      </p:sp>
      <p:sp>
        <p:nvSpPr>
          <p:cNvPr id="13" name="Text 11"/>
          <p:cNvSpPr/>
          <p:nvPr/>
        </p:nvSpPr>
        <p:spPr>
          <a:xfrm>
            <a:off x="4690872" y="2606040"/>
            <a:ext cx="3355848" cy="237744"/>
          </a:xfrm>
          <a:prstGeom prst="rect">
            <a:avLst/>
          </a:prstGeom>
          <a:noFill/>
          <a:ln/>
        </p:spPr>
        <p:txBody>
          <a:bodyPr wrap="square" lIns="0" tIns="0" rIns="0" bIns="0" rtlCol="0" anchor="ctr">
            <a:normAutofit/>
          </a:bodyPr>
          <a:lstStyle/>
          <a:p>
            <a:pPr marL="0" indent="0" algn="l">
              <a:buNone/>
            </a:pPr>
            <a:r>
              <a:rPr lang="en-US" sz="1220" b="1" dirty="0">
                <a:solidFill>
                  <a:srgbClr val="08756F"/>
                </a:solidFill>
                <a:latin typeface="Arial" pitchFamily="34" charset="0"/>
                <a:ea typeface="Arial" pitchFamily="34" charset="-122"/>
                <a:cs typeface="Arial" pitchFamily="34" charset="-120"/>
              </a:rPr>
              <a:t>TÀI XẾ</a:t>
            </a:r>
            <a:endParaRPr lang="en-US" sz="1220" dirty="0"/>
          </a:p>
        </p:txBody>
      </p:sp>
      <p:sp>
        <p:nvSpPr>
          <p:cNvPr id="14" name="Text 12"/>
          <p:cNvSpPr/>
          <p:nvPr/>
        </p:nvSpPr>
        <p:spPr>
          <a:xfrm>
            <a:off x="4690872" y="2916936"/>
            <a:ext cx="3355848" cy="1005840"/>
          </a:xfrm>
          <a:prstGeom prst="rect">
            <a:avLst/>
          </a:prstGeom>
          <a:noFill/>
          <a:ln/>
        </p:spPr>
        <p:txBody>
          <a:bodyPr wrap="square" lIns="0" tIns="0" rIns="0" bIns="0" rtlCol="0" anchor="t">
            <a:normAutofit/>
          </a:bodyPr>
          <a:lstStyle/>
          <a:p>
            <a:pPr marL="0" indent="0" algn="l">
              <a:buNone/>
            </a:pPr>
            <a:r>
              <a:rPr lang="en-US" sz="1640" dirty="0">
                <a:solidFill>
                  <a:srgbClr val="102639"/>
                </a:solidFill>
                <a:latin typeface="Arial" pitchFamily="34" charset="0"/>
                <a:ea typeface="Arial" pitchFamily="34" charset="-122"/>
                <a:cs typeface="Arial" pitchFamily="34" charset="-120"/>
              </a:rPr>
              <a:t>Giảm thời gian chờ chuyến tại những nơi ít yêu </a:t>
            </a:r>
            <a:r>
              <a:rPr lang="en-US" sz="1640" dirty="0" err="1">
                <a:solidFill>
                  <a:srgbClr val="102639"/>
                </a:solidFill>
                <a:latin typeface="Arial" pitchFamily="34" charset="0"/>
                <a:ea typeface="Arial" pitchFamily="34" charset="-122"/>
                <a:cs typeface="Arial" pitchFamily="34" charset="-120"/>
              </a:rPr>
              <a:t>cầu</a:t>
            </a:r>
            <a:r>
              <a:rPr lang="en-US" sz="1640" dirty="0">
                <a:solidFill>
                  <a:srgbClr val="102639"/>
                </a:solidFill>
                <a:latin typeface="Arial" pitchFamily="34" charset="0"/>
                <a:ea typeface="Arial" pitchFamily="34" charset="-122"/>
                <a:cs typeface="Arial" pitchFamily="34" charset="-120"/>
              </a:rPr>
              <a:t> </a:t>
            </a:r>
            <a:r>
              <a:rPr lang="en-US" sz="1640" dirty="0" err="1">
                <a:solidFill>
                  <a:srgbClr val="102639"/>
                </a:solidFill>
                <a:latin typeface="Arial" pitchFamily="34" charset="0"/>
                <a:ea typeface="Arial" pitchFamily="34" charset="-122"/>
                <a:cs typeface="Arial" pitchFamily="34" charset="-120"/>
              </a:rPr>
              <a:t>đặt</a:t>
            </a:r>
            <a:r>
              <a:rPr lang="en-US" sz="1640" dirty="0">
                <a:solidFill>
                  <a:srgbClr val="102639"/>
                </a:solidFill>
                <a:latin typeface="Arial" pitchFamily="34" charset="0"/>
                <a:ea typeface="Arial" pitchFamily="34" charset="-122"/>
                <a:cs typeface="Arial" pitchFamily="34" charset="-120"/>
              </a:rPr>
              <a:t> </a:t>
            </a:r>
            <a:r>
              <a:rPr lang="en-US" sz="1640" dirty="0" err="1">
                <a:solidFill>
                  <a:srgbClr val="102639"/>
                </a:solidFill>
                <a:latin typeface="Arial" pitchFamily="34" charset="0"/>
                <a:ea typeface="Arial" pitchFamily="34" charset="-122"/>
                <a:cs typeface="Arial" pitchFamily="34" charset="-120"/>
              </a:rPr>
              <a:t>xe</a:t>
            </a:r>
            <a:r>
              <a:rPr lang="en-US" sz="1640" dirty="0">
                <a:solidFill>
                  <a:srgbClr val="102639"/>
                </a:solidFill>
                <a:latin typeface="Arial" pitchFamily="34" charset="0"/>
                <a:ea typeface="Arial" pitchFamily="34" charset="-122"/>
                <a:cs typeface="Arial" pitchFamily="34" charset="-120"/>
              </a:rPr>
              <a:t>.</a:t>
            </a:r>
            <a:endParaRPr lang="en-US" sz="1640" dirty="0"/>
          </a:p>
        </p:txBody>
      </p:sp>
      <p:sp>
        <p:nvSpPr>
          <p:cNvPr id="15" name="Shape 13"/>
          <p:cNvSpPr/>
          <p:nvPr/>
        </p:nvSpPr>
        <p:spPr>
          <a:xfrm>
            <a:off x="8421624" y="2478024"/>
            <a:ext cx="3703320" cy="1508760"/>
          </a:xfrm>
          <a:prstGeom prst="roundRect">
            <a:avLst>
              <a:gd name="adj" fmla="val 9091"/>
            </a:avLst>
          </a:prstGeom>
          <a:solidFill>
            <a:srgbClr val="FFFFFF"/>
          </a:solidFill>
          <a:ln w="12700">
            <a:solidFill>
              <a:srgbClr val="FFFFFF">
                <a:alpha val="0"/>
              </a:srgbClr>
            </a:solidFill>
            <a:prstDash val="solid"/>
          </a:ln>
        </p:spPr>
        <p:txBody>
          <a:bodyPr/>
          <a:lstStyle/>
          <a:p>
            <a:endParaRPr/>
          </a:p>
        </p:txBody>
      </p:sp>
      <p:sp>
        <p:nvSpPr>
          <p:cNvPr id="16" name="Text 14"/>
          <p:cNvSpPr/>
          <p:nvPr/>
        </p:nvSpPr>
        <p:spPr>
          <a:xfrm>
            <a:off x="8595360" y="2606040"/>
            <a:ext cx="3355848" cy="237744"/>
          </a:xfrm>
          <a:prstGeom prst="rect">
            <a:avLst/>
          </a:prstGeom>
          <a:noFill/>
          <a:ln/>
        </p:spPr>
        <p:txBody>
          <a:bodyPr wrap="square" lIns="0" tIns="0" rIns="0" bIns="0" rtlCol="0" anchor="ctr">
            <a:normAutofit/>
          </a:bodyPr>
          <a:lstStyle/>
          <a:p>
            <a:pPr marL="0" indent="0" algn="l">
              <a:buNone/>
            </a:pPr>
            <a:r>
              <a:rPr lang="en-US" sz="1220" b="1" dirty="0">
                <a:solidFill>
                  <a:srgbClr val="08756F"/>
                </a:solidFill>
                <a:latin typeface="Arial" pitchFamily="34" charset="0"/>
                <a:ea typeface="Arial" pitchFamily="34" charset="-122"/>
                <a:cs typeface="Arial" pitchFamily="34" charset="-120"/>
              </a:rPr>
              <a:t>DOANH NGHIỆP</a:t>
            </a:r>
            <a:endParaRPr lang="en-US" sz="1220" dirty="0"/>
          </a:p>
        </p:txBody>
      </p:sp>
      <p:sp>
        <p:nvSpPr>
          <p:cNvPr id="17" name="Text 15"/>
          <p:cNvSpPr/>
          <p:nvPr/>
        </p:nvSpPr>
        <p:spPr>
          <a:xfrm>
            <a:off x="8595360" y="2916936"/>
            <a:ext cx="3355848" cy="1005840"/>
          </a:xfrm>
          <a:prstGeom prst="rect">
            <a:avLst/>
          </a:prstGeom>
          <a:noFill/>
          <a:ln/>
        </p:spPr>
        <p:txBody>
          <a:bodyPr wrap="square" lIns="0" tIns="0" rIns="0" bIns="0" rtlCol="0" anchor="t">
            <a:normAutofit/>
          </a:bodyPr>
          <a:lstStyle/>
          <a:p>
            <a:pPr marL="0" indent="0" algn="l">
              <a:buNone/>
            </a:pPr>
            <a:r>
              <a:rPr lang="en-US" sz="1640" dirty="0">
                <a:solidFill>
                  <a:srgbClr val="102639"/>
                </a:solidFill>
                <a:latin typeface="Arial" pitchFamily="34" charset="0"/>
                <a:ea typeface="Arial" pitchFamily="34" charset="-122"/>
                <a:cs typeface="Arial" pitchFamily="34" charset="-120"/>
              </a:rPr>
              <a:t>Có cơ sở theo dõi và chuẩn bị phân bổ nguồn xe.</a:t>
            </a:r>
            <a:endParaRPr lang="en-US" sz="1640" dirty="0"/>
          </a:p>
        </p:txBody>
      </p:sp>
      <p:sp>
        <p:nvSpPr>
          <p:cNvPr id="18" name="Shape 16"/>
          <p:cNvSpPr/>
          <p:nvPr/>
        </p:nvSpPr>
        <p:spPr>
          <a:xfrm>
            <a:off x="621526" y="4352278"/>
            <a:ext cx="10972800" cy="1472184"/>
          </a:xfrm>
          <a:prstGeom prst="roundRect">
            <a:avLst>
              <a:gd name="adj" fmla="val 9317"/>
            </a:avLst>
          </a:prstGeom>
          <a:solidFill>
            <a:srgbClr val="132B43"/>
          </a:solidFill>
          <a:ln w="12700">
            <a:solidFill>
              <a:srgbClr val="132B43">
                <a:alpha val="0"/>
              </a:srgbClr>
            </a:solidFill>
            <a:prstDash val="solid"/>
          </a:ln>
        </p:spPr>
        <p:txBody>
          <a:bodyPr/>
          <a:lstStyle/>
          <a:p>
            <a:endParaRPr/>
          </a:p>
        </p:txBody>
      </p:sp>
      <p:sp>
        <p:nvSpPr>
          <p:cNvPr id="19" name="Text 17"/>
          <p:cNvSpPr/>
          <p:nvPr/>
        </p:nvSpPr>
        <p:spPr>
          <a:xfrm>
            <a:off x="841248" y="4553712"/>
            <a:ext cx="2971800" cy="283464"/>
          </a:xfrm>
          <a:prstGeom prst="rect">
            <a:avLst/>
          </a:prstGeom>
          <a:noFill/>
          <a:ln/>
        </p:spPr>
        <p:txBody>
          <a:bodyPr wrap="square" lIns="0" tIns="0" rIns="0" bIns="0" rtlCol="0" anchor="ctr">
            <a:normAutofit/>
          </a:bodyPr>
          <a:lstStyle/>
          <a:p>
            <a:pPr marL="0" indent="0" algn="l">
              <a:buNone/>
            </a:pPr>
            <a:r>
              <a:rPr lang="en-US" sz="1300" b="1" dirty="0">
                <a:solidFill>
                  <a:srgbClr val="9AD3CE"/>
                </a:solidFill>
                <a:latin typeface="Arial" pitchFamily="34" charset="0"/>
                <a:ea typeface="Arial" pitchFamily="34" charset="-122"/>
                <a:cs typeface="Arial" pitchFamily="34" charset="-120"/>
              </a:rPr>
              <a:t>THIẾT KẾ BÀI TOÁN</a:t>
            </a:r>
            <a:endParaRPr lang="en-US" sz="1300" dirty="0"/>
          </a:p>
        </p:txBody>
      </p:sp>
      <p:sp>
        <p:nvSpPr>
          <p:cNvPr id="20" name="Text 18"/>
          <p:cNvSpPr/>
          <p:nvPr/>
        </p:nvSpPr>
        <p:spPr>
          <a:xfrm>
            <a:off x="896112" y="4882896"/>
            <a:ext cx="2578608" cy="475488"/>
          </a:xfrm>
          <a:prstGeom prst="rect">
            <a:avLst/>
          </a:prstGeom>
          <a:noFill/>
          <a:ln/>
        </p:spPr>
        <p:txBody>
          <a:bodyPr wrap="square" lIns="0" tIns="0" rIns="0" bIns="0" rtlCol="0" anchor="ctr">
            <a:normAutofit/>
          </a:bodyPr>
          <a:lstStyle/>
          <a:p>
            <a:pPr marL="0" indent="0" algn="l">
              <a:buNone/>
            </a:pPr>
            <a:r>
              <a:rPr lang="en-US" sz="2800" b="1" dirty="0">
                <a:solidFill>
                  <a:srgbClr val="FFFFFF"/>
                </a:solidFill>
                <a:latin typeface="Arial" pitchFamily="34" charset="0"/>
                <a:ea typeface="Arial" pitchFamily="34" charset="-122"/>
                <a:cs typeface="Arial" pitchFamily="34" charset="-120"/>
              </a:rPr>
              <a:t>217</a:t>
            </a:r>
            <a:endParaRPr lang="en-US" sz="2800" dirty="0"/>
          </a:p>
        </p:txBody>
      </p:sp>
      <p:sp>
        <p:nvSpPr>
          <p:cNvPr id="21" name="Text 19"/>
          <p:cNvSpPr/>
          <p:nvPr/>
        </p:nvSpPr>
        <p:spPr>
          <a:xfrm>
            <a:off x="896112" y="5413248"/>
            <a:ext cx="2578608" cy="274320"/>
          </a:xfrm>
          <a:prstGeom prst="rect">
            <a:avLst/>
          </a:prstGeom>
          <a:noFill/>
          <a:ln/>
        </p:spPr>
        <p:txBody>
          <a:bodyPr wrap="square" lIns="0" tIns="0" rIns="0" bIns="0" rtlCol="0" anchor="ctr">
            <a:normAutofit/>
          </a:bodyPr>
          <a:lstStyle/>
          <a:p>
            <a:pPr marL="0" indent="0" algn="l">
              <a:buNone/>
            </a:pPr>
            <a:r>
              <a:rPr lang="en-US" sz="1150" dirty="0">
                <a:solidFill>
                  <a:srgbClr val="C5D6E2"/>
                </a:solidFill>
                <a:latin typeface="Arial" pitchFamily="34" charset="0"/>
                <a:ea typeface="Arial" pitchFamily="34" charset="-122"/>
                <a:cs typeface="Arial" pitchFamily="34" charset="-120"/>
              </a:rPr>
              <a:t>ô lục giác H3</a:t>
            </a:r>
            <a:endParaRPr lang="en-US" sz="1150" dirty="0"/>
          </a:p>
        </p:txBody>
      </p:sp>
      <p:sp>
        <p:nvSpPr>
          <p:cNvPr id="22" name="Text 20"/>
          <p:cNvSpPr/>
          <p:nvPr/>
        </p:nvSpPr>
        <p:spPr>
          <a:xfrm>
            <a:off x="3621024" y="4882896"/>
            <a:ext cx="2578608" cy="475488"/>
          </a:xfrm>
          <a:prstGeom prst="rect">
            <a:avLst/>
          </a:prstGeom>
          <a:noFill/>
          <a:ln/>
        </p:spPr>
        <p:txBody>
          <a:bodyPr wrap="square" lIns="0" tIns="0" rIns="0" bIns="0" rtlCol="0" anchor="ctr">
            <a:normAutofit/>
          </a:bodyPr>
          <a:lstStyle/>
          <a:p>
            <a:pPr marL="0" indent="0" algn="l">
              <a:buNone/>
            </a:pPr>
            <a:r>
              <a:rPr lang="en-US" sz="2800" b="1" dirty="0">
                <a:solidFill>
                  <a:srgbClr val="FFFFFF"/>
                </a:solidFill>
                <a:latin typeface="Arial" pitchFamily="34" charset="0"/>
                <a:ea typeface="Arial" pitchFamily="34" charset="-122"/>
                <a:cs typeface="Arial" pitchFamily="34" charset="-120"/>
              </a:rPr>
              <a:t>02</a:t>
            </a:r>
            <a:endParaRPr lang="en-US" sz="2800" dirty="0"/>
          </a:p>
        </p:txBody>
      </p:sp>
      <p:sp>
        <p:nvSpPr>
          <p:cNvPr id="23" name="Text 21"/>
          <p:cNvSpPr/>
          <p:nvPr/>
        </p:nvSpPr>
        <p:spPr>
          <a:xfrm>
            <a:off x="3621024" y="5413248"/>
            <a:ext cx="2578608" cy="274320"/>
          </a:xfrm>
          <a:prstGeom prst="rect">
            <a:avLst/>
          </a:prstGeom>
          <a:noFill/>
          <a:ln/>
        </p:spPr>
        <p:txBody>
          <a:bodyPr wrap="square" lIns="0" tIns="0" rIns="0" bIns="0" rtlCol="0" anchor="ctr">
            <a:normAutofit/>
          </a:bodyPr>
          <a:lstStyle/>
          <a:p>
            <a:pPr marL="0" indent="0" algn="l">
              <a:buNone/>
            </a:pPr>
            <a:r>
              <a:rPr lang="en-US" sz="1150" dirty="0">
                <a:solidFill>
                  <a:srgbClr val="C5D6E2"/>
                </a:solidFill>
                <a:latin typeface="Arial" pitchFamily="34" charset="0"/>
                <a:ea typeface="Arial" pitchFamily="34" charset="-122"/>
                <a:cs typeface="Arial" pitchFamily="34" charset="-120"/>
              </a:rPr>
              <a:t>loại xe: Car/Motorcycle</a:t>
            </a:r>
            <a:endParaRPr lang="en-US" sz="1150" dirty="0"/>
          </a:p>
        </p:txBody>
      </p:sp>
      <p:sp>
        <p:nvSpPr>
          <p:cNvPr id="24" name="Text 22"/>
          <p:cNvSpPr/>
          <p:nvPr/>
        </p:nvSpPr>
        <p:spPr>
          <a:xfrm>
            <a:off x="6345936" y="4882896"/>
            <a:ext cx="2578608" cy="475488"/>
          </a:xfrm>
          <a:prstGeom prst="rect">
            <a:avLst/>
          </a:prstGeom>
          <a:noFill/>
          <a:ln/>
        </p:spPr>
        <p:txBody>
          <a:bodyPr wrap="square" lIns="0" tIns="0" rIns="0" bIns="0" rtlCol="0" anchor="ctr">
            <a:normAutofit/>
          </a:bodyPr>
          <a:lstStyle/>
          <a:p>
            <a:pPr marL="0" indent="0" algn="l">
              <a:buNone/>
            </a:pPr>
            <a:r>
              <a:rPr lang="en-US" sz="2800" b="1" dirty="0">
                <a:solidFill>
                  <a:srgbClr val="FFFFFF"/>
                </a:solidFill>
                <a:latin typeface="Arial" pitchFamily="34" charset="0"/>
                <a:ea typeface="Arial" pitchFamily="34" charset="-122"/>
                <a:cs typeface="Arial" pitchFamily="34" charset="-120"/>
              </a:rPr>
              <a:t>03</a:t>
            </a:r>
            <a:endParaRPr lang="en-US" sz="2800" dirty="0"/>
          </a:p>
        </p:txBody>
      </p:sp>
      <p:sp>
        <p:nvSpPr>
          <p:cNvPr id="25" name="Text 23"/>
          <p:cNvSpPr/>
          <p:nvPr/>
        </p:nvSpPr>
        <p:spPr>
          <a:xfrm>
            <a:off x="6345936" y="5413248"/>
            <a:ext cx="2578608" cy="274320"/>
          </a:xfrm>
          <a:prstGeom prst="rect">
            <a:avLst/>
          </a:prstGeom>
          <a:noFill/>
          <a:ln/>
        </p:spPr>
        <p:txBody>
          <a:bodyPr wrap="square" lIns="0" tIns="0" rIns="0" bIns="0" rtlCol="0" anchor="ctr">
            <a:normAutofit/>
          </a:bodyPr>
          <a:lstStyle/>
          <a:p>
            <a:pPr marL="0" indent="0" algn="l">
              <a:buNone/>
            </a:pPr>
            <a:r>
              <a:rPr lang="en-US" sz="1150" dirty="0">
                <a:solidFill>
                  <a:srgbClr val="C5D6E2"/>
                </a:solidFill>
                <a:latin typeface="Arial" pitchFamily="34" charset="0"/>
                <a:ea typeface="Arial" pitchFamily="34" charset="-122"/>
                <a:cs typeface="Arial" pitchFamily="34" charset="-120"/>
              </a:rPr>
              <a:t>khoảng H10/H30/H60</a:t>
            </a:r>
            <a:endParaRPr lang="en-US" sz="1150" dirty="0"/>
          </a:p>
        </p:txBody>
      </p:sp>
      <p:sp>
        <p:nvSpPr>
          <p:cNvPr id="26" name="Text 24"/>
          <p:cNvSpPr/>
          <p:nvPr/>
        </p:nvSpPr>
        <p:spPr>
          <a:xfrm>
            <a:off x="9070848" y="4882896"/>
            <a:ext cx="2578608" cy="475488"/>
          </a:xfrm>
          <a:prstGeom prst="rect">
            <a:avLst/>
          </a:prstGeom>
          <a:noFill/>
          <a:ln/>
        </p:spPr>
        <p:txBody>
          <a:bodyPr wrap="square" lIns="0" tIns="0" rIns="0" bIns="0" rtlCol="0" anchor="ctr">
            <a:normAutofit/>
          </a:bodyPr>
          <a:lstStyle/>
          <a:p>
            <a:pPr marL="0" indent="0" algn="l">
              <a:buNone/>
            </a:pPr>
            <a:r>
              <a:rPr lang="en-US" sz="2800" b="1" dirty="0">
                <a:solidFill>
                  <a:srgbClr val="FFFFFF"/>
                </a:solidFill>
                <a:latin typeface="Arial" pitchFamily="34" charset="0"/>
                <a:ea typeface="Arial" pitchFamily="34" charset="-122"/>
                <a:cs typeface="Arial" pitchFamily="34" charset="-120"/>
              </a:rPr>
              <a:t>&lt;15%</a:t>
            </a:r>
            <a:endParaRPr lang="en-US" sz="2800" dirty="0"/>
          </a:p>
        </p:txBody>
      </p:sp>
      <p:sp>
        <p:nvSpPr>
          <p:cNvPr id="27" name="Text 25"/>
          <p:cNvSpPr/>
          <p:nvPr/>
        </p:nvSpPr>
        <p:spPr>
          <a:xfrm>
            <a:off x="9070848" y="5413248"/>
            <a:ext cx="2578608" cy="274320"/>
          </a:xfrm>
          <a:prstGeom prst="rect">
            <a:avLst/>
          </a:prstGeom>
          <a:noFill/>
          <a:ln/>
        </p:spPr>
        <p:txBody>
          <a:bodyPr wrap="square" lIns="0" tIns="0" rIns="0" bIns="0" rtlCol="0" anchor="ctr">
            <a:normAutofit/>
          </a:bodyPr>
          <a:lstStyle/>
          <a:p>
            <a:pPr marL="0" indent="0" algn="l">
              <a:buNone/>
            </a:pPr>
            <a:r>
              <a:rPr lang="en-US" sz="1150" dirty="0">
                <a:solidFill>
                  <a:srgbClr val="C5D6E2"/>
                </a:solidFill>
                <a:latin typeface="Arial" pitchFamily="34" charset="0"/>
                <a:ea typeface="Arial" pitchFamily="34" charset="-122"/>
                <a:cs typeface="Arial" pitchFamily="34" charset="-120"/>
              </a:rPr>
              <a:t>WMAPE mục tiêu trên TEST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D928B"/>
          </a:solidFill>
          <a:ln w="12700">
            <a:solidFill>
              <a:srgbClr val="0D928B">
                <a:alpha val="0"/>
              </a:srgbClr>
            </a:solidFill>
            <a:prstDash val="solid"/>
          </a:ln>
        </p:spPr>
        <p:txBody>
          <a:bodyPr/>
          <a:lstStyle/>
          <a:p>
            <a:endParaRPr/>
          </a:p>
        </p:txBody>
      </p:sp>
      <p:sp>
        <p:nvSpPr>
          <p:cNvPr id="3" name="Text 1"/>
          <p:cNvSpPr/>
          <p:nvPr/>
        </p:nvSpPr>
        <p:spPr>
          <a:xfrm>
            <a:off x="512064" y="320040"/>
            <a:ext cx="10058400" cy="192024"/>
          </a:xfrm>
          <a:prstGeom prst="rect">
            <a:avLst/>
          </a:prstGeom>
          <a:noFill/>
          <a:ln/>
        </p:spPr>
        <p:txBody>
          <a:bodyPr wrap="square" lIns="0" tIns="0" rIns="0" bIns="0" rtlCol="0" anchor="ctr">
            <a:normAutofit/>
          </a:bodyPr>
          <a:lstStyle/>
          <a:p>
            <a:pPr marL="0" indent="0" algn="l">
              <a:buNone/>
            </a:pPr>
            <a:r>
              <a:rPr lang="en-US" sz="1020" b="1" kern="0" spc="150" dirty="0">
                <a:solidFill>
                  <a:srgbClr val="08756F"/>
                </a:solidFill>
                <a:latin typeface="Arial" pitchFamily="34" charset="0"/>
                <a:ea typeface="Arial" pitchFamily="34" charset="-122"/>
                <a:cs typeface="Arial" pitchFamily="34" charset="-120"/>
              </a:rPr>
              <a:t>02 · DỮ LIỆU NGHIÊN CỨU</a:t>
            </a:r>
            <a:endParaRPr lang="en-US" sz="1020" dirty="0"/>
          </a:p>
        </p:txBody>
      </p:sp>
      <p:sp>
        <p:nvSpPr>
          <p:cNvPr id="4" name="Text 2"/>
          <p:cNvSpPr/>
          <p:nvPr/>
        </p:nvSpPr>
        <p:spPr>
          <a:xfrm>
            <a:off x="576072" y="722376"/>
            <a:ext cx="6794258" cy="722376"/>
          </a:xfrm>
          <a:prstGeom prst="rect">
            <a:avLst/>
          </a:prstGeom>
          <a:noFill/>
          <a:ln/>
        </p:spPr>
        <p:txBody>
          <a:bodyPr wrap="square" lIns="0" tIns="0" rIns="0" bIns="0" rtlCol="0" anchor="t">
            <a:normAutofit fontScale="92500" lnSpcReduction="10000"/>
          </a:bodyPr>
          <a:lstStyle/>
          <a:p>
            <a:pPr marL="0" indent="0" algn="l">
              <a:buNone/>
            </a:pPr>
            <a:r>
              <a:rPr lang="en-US" sz="2650" b="1" dirty="0">
                <a:solidFill>
                  <a:srgbClr val="102639"/>
                </a:solidFill>
                <a:latin typeface="Arial" pitchFamily="34" charset="0"/>
                <a:ea typeface="Arial" pitchFamily="34" charset="-122"/>
                <a:cs typeface="Arial" pitchFamily="34" charset="-120"/>
              </a:rPr>
              <a:t>Dữ liệu mô phỏng </a:t>
            </a:r>
            <a:r>
              <a:rPr lang="en-US" sz="2650" b="1" dirty="0" err="1">
                <a:solidFill>
                  <a:srgbClr val="102639"/>
                </a:solidFill>
                <a:latin typeface="Arial" pitchFamily="34" charset="0"/>
                <a:ea typeface="Arial" pitchFamily="34" charset="-122"/>
                <a:cs typeface="Arial" pitchFamily="34" charset="-120"/>
              </a:rPr>
              <a:t>giúp</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xây</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dựng</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triển</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khai</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và</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kiểm</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thử</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toàn</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bộ</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quy</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trình</a:t>
            </a:r>
            <a:r>
              <a:rPr lang="en-US" sz="2650" b="1" dirty="0">
                <a:solidFill>
                  <a:srgbClr val="102639"/>
                </a:solidFill>
                <a:latin typeface="Arial" pitchFamily="34" charset="0"/>
                <a:ea typeface="Arial" pitchFamily="34" charset="-122"/>
                <a:cs typeface="Arial" pitchFamily="34" charset="-120"/>
              </a:rPr>
              <a:t>.</a:t>
            </a:r>
            <a:endParaRPr lang="en-US" sz="2650" dirty="0"/>
          </a:p>
        </p:txBody>
      </p:sp>
      <p:sp>
        <p:nvSpPr>
          <p:cNvPr id="5" name="Shape 3"/>
          <p:cNvSpPr/>
          <p:nvPr/>
        </p:nvSpPr>
        <p:spPr>
          <a:xfrm>
            <a:off x="512064" y="6528816"/>
            <a:ext cx="11173968" cy="0"/>
          </a:xfrm>
          <a:prstGeom prst="line">
            <a:avLst/>
          </a:prstGeom>
          <a:noFill/>
          <a:ln w="7620">
            <a:solidFill>
              <a:srgbClr val="D9E1E8"/>
            </a:solidFill>
            <a:prstDash val="solid"/>
          </a:ln>
        </p:spPr>
        <p:txBody>
          <a:bodyPr/>
          <a:lstStyle/>
          <a:p>
            <a:endParaRPr/>
          </a:p>
        </p:txBody>
      </p:sp>
      <p:sp>
        <p:nvSpPr>
          <p:cNvPr id="7" name="Text 5"/>
          <p:cNvSpPr/>
          <p:nvPr/>
        </p:nvSpPr>
        <p:spPr>
          <a:xfrm>
            <a:off x="11292840" y="6556248"/>
            <a:ext cx="384048" cy="210312"/>
          </a:xfrm>
          <a:prstGeom prst="rect">
            <a:avLst/>
          </a:prstGeom>
          <a:noFill/>
          <a:ln/>
        </p:spPr>
        <p:txBody>
          <a:bodyPr wrap="square" lIns="0" tIns="0" rIns="0" bIns="0" rtlCol="0" anchor="ctr">
            <a:normAutofit/>
          </a:bodyPr>
          <a:lstStyle/>
          <a:p>
            <a:pPr marL="0" indent="0" algn="r">
              <a:buNone/>
            </a:pPr>
            <a:r>
              <a:rPr lang="en-US" sz="1100" b="1" dirty="0">
                <a:solidFill>
                  <a:srgbClr val="587083"/>
                </a:solidFill>
                <a:latin typeface="Arial" pitchFamily="34" charset="0"/>
                <a:ea typeface="Arial" pitchFamily="34" charset="-122"/>
                <a:cs typeface="Arial" pitchFamily="34" charset="-120"/>
              </a:rPr>
              <a:t>03</a:t>
            </a:r>
            <a:endParaRPr lang="en-US" sz="1100" dirty="0"/>
          </a:p>
        </p:txBody>
      </p:sp>
      <p:pic>
        <p:nvPicPr>
          <p:cNvPr id="8" name="Image 0" descr="/mnt/data/redo_15/doc_media/image1.png"/>
          <p:cNvPicPr>
            <a:picLocks noChangeAspect="1"/>
          </p:cNvPicPr>
          <p:nvPr/>
        </p:nvPicPr>
        <p:blipFill>
          <a:blip r:embed="rId3"/>
          <a:stretch>
            <a:fillRect/>
          </a:stretch>
        </p:blipFill>
        <p:spPr>
          <a:xfrm>
            <a:off x="576072" y="1939698"/>
            <a:ext cx="7068312" cy="2713428"/>
          </a:xfrm>
          <a:prstGeom prst="rect">
            <a:avLst/>
          </a:prstGeom>
        </p:spPr>
      </p:pic>
      <p:sp>
        <p:nvSpPr>
          <p:cNvPr id="9" name="Shape 6"/>
          <p:cNvSpPr/>
          <p:nvPr/>
        </p:nvSpPr>
        <p:spPr>
          <a:xfrm>
            <a:off x="7808976" y="1655064"/>
            <a:ext cx="3739896" cy="1271016"/>
          </a:xfrm>
          <a:prstGeom prst="roundRect">
            <a:avLst>
              <a:gd name="adj" fmla="val 10791"/>
            </a:avLst>
          </a:prstGeom>
          <a:solidFill>
            <a:srgbClr val="FFFFFF"/>
          </a:solidFill>
          <a:ln w="12700">
            <a:solidFill>
              <a:srgbClr val="FFFFFF">
                <a:alpha val="0"/>
              </a:srgbClr>
            </a:solidFill>
            <a:prstDash val="solid"/>
          </a:ln>
        </p:spPr>
        <p:txBody>
          <a:bodyPr/>
          <a:lstStyle/>
          <a:p>
            <a:endParaRPr/>
          </a:p>
        </p:txBody>
      </p:sp>
      <p:sp>
        <p:nvSpPr>
          <p:cNvPr id="10" name="Shape 7"/>
          <p:cNvSpPr/>
          <p:nvPr/>
        </p:nvSpPr>
        <p:spPr>
          <a:xfrm>
            <a:off x="7808976" y="1655064"/>
            <a:ext cx="59436" cy="1271016"/>
          </a:xfrm>
          <a:prstGeom prst="rect">
            <a:avLst/>
          </a:prstGeom>
          <a:solidFill>
            <a:srgbClr val="0D928B"/>
          </a:solidFill>
          <a:ln w="12700">
            <a:solidFill>
              <a:srgbClr val="0D928B">
                <a:alpha val="0"/>
              </a:srgbClr>
            </a:solidFill>
            <a:prstDash val="solid"/>
          </a:ln>
        </p:spPr>
        <p:txBody>
          <a:bodyPr/>
          <a:lstStyle/>
          <a:p>
            <a:endParaRPr/>
          </a:p>
        </p:txBody>
      </p:sp>
      <p:sp>
        <p:nvSpPr>
          <p:cNvPr id="11" name="Text 8"/>
          <p:cNvSpPr/>
          <p:nvPr/>
        </p:nvSpPr>
        <p:spPr>
          <a:xfrm>
            <a:off x="7982712" y="1773936"/>
            <a:ext cx="3392424" cy="420624"/>
          </a:xfrm>
          <a:prstGeom prst="rect">
            <a:avLst/>
          </a:prstGeom>
          <a:noFill/>
          <a:ln/>
        </p:spPr>
        <p:txBody>
          <a:bodyPr wrap="square" lIns="0" tIns="0" rIns="0" bIns="0" rtlCol="0" anchor="ctr">
            <a:normAutofit/>
          </a:bodyPr>
          <a:lstStyle/>
          <a:p>
            <a:pPr marL="0" indent="0" algn="l">
              <a:buNone/>
            </a:pPr>
            <a:r>
              <a:rPr lang="en-US" sz="2750" b="1" dirty="0">
                <a:solidFill>
                  <a:srgbClr val="0D928B"/>
                </a:solidFill>
                <a:latin typeface="Arial" pitchFamily="34" charset="0"/>
                <a:ea typeface="Arial" pitchFamily="34" charset="-122"/>
                <a:cs typeface="Arial" pitchFamily="34" charset="-120"/>
              </a:rPr>
              <a:t>5.404.530</a:t>
            </a:r>
            <a:endParaRPr lang="en-US" sz="2750" dirty="0"/>
          </a:p>
        </p:txBody>
      </p:sp>
      <p:sp>
        <p:nvSpPr>
          <p:cNvPr id="12" name="Text 9"/>
          <p:cNvSpPr/>
          <p:nvPr/>
        </p:nvSpPr>
        <p:spPr>
          <a:xfrm>
            <a:off x="7982712" y="2304288"/>
            <a:ext cx="3392424" cy="548640"/>
          </a:xfrm>
          <a:prstGeom prst="rect">
            <a:avLst/>
          </a:prstGeom>
          <a:noFill/>
          <a:ln/>
        </p:spPr>
        <p:txBody>
          <a:bodyPr wrap="square" lIns="0" tIns="0" rIns="0" bIns="0" rtlCol="0" anchor="t">
            <a:normAutofit/>
          </a:bodyPr>
          <a:lstStyle/>
          <a:p>
            <a:pPr marL="0" indent="0" algn="l">
              <a:buNone/>
            </a:pPr>
            <a:r>
              <a:rPr lang="en-US" sz="1350" dirty="0">
                <a:solidFill>
                  <a:srgbClr val="587083"/>
                </a:solidFill>
                <a:latin typeface="Arial" pitchFamily="34" charset="0"/>
                <a:ea typeface="Arial" pitchFamily="34" charset="-122"/>
                <a:cs typeface="Arial" pitchFamily="34" charset="-120"/>
              </a:rPr>
              <a:t>bản ghi lịch sử được mô phỏng trong giai đoạn 01/05–10/09/2026.</a:t>
            </a:r>
            <a:endParaRPr lang="en-US" sz="1350" dirty="0"/>
          </a:p>
        </p:txBody>
      </p:sp>
      <p:sp>
        <p:nvSpPr>
          <p:cNvPr id="13" name="Shape 10"/>
          <p:cNvSpPr/>
          <p:nvPr/>
        </p:nvSpPr>
        <p:spPr>
          <a:xfrm>
            <a:off x="7808976" y="3081528"/>
            <a:ext cx="3739896" cy="1225296"/>
          </a:xfrm>
          <a:prstGeom prst="roundRect">
            <a:avLst>
              <a:gd name="adj" fmla="val 11194"/>
            </a:avLst>
          </a:prstGeom>
          <a:solidFill>
            <a:srgbClr val="FFFFFF"/>
          </a:solidFill>
          <a:ln w="12700">
            <a:solidFill>
              <a:srgbClr val="FFFFFF">
                <a:alpha val="0"/>
              </a:srgbClr>
            </a:solidFill>
            <a:prstDash val="solid"/>
          </a:ln>
        </p:spPr>
        <p:txBody>
          <a:bodyPr/>
          <a:lstStyle/>
          <a:p>
            <a:endParaRPr/>
          </a:p>
        </p:txBody>
      </p:sp>
      <p:sp>
        <p:nvSpPr>
          <p:cNvPr id="14" name="Shape 11"/>
          <p:cNvSpPr/>
          <p:nvPr/>
        </p:nvSpPr>
        <p:spPr>
          <a:xfrm>
            <a:off x="7808976" y="3081528"/>
            <a:ext cx="59436" cy="1225296"/>
          </a:xfrm>
          <a:prstGeom prst="rect">
            <a:avLst/>
          </a:prstGeom>
          <a:solidFill>
            <a:srgbClr val="E59C3B"/>
          </a:solidFill>
          <a:ln w="12700">
            <a:solidFill>
              <a:srgbClr val="E59C3B">
                <a:alpha val="0"/>
              </a:srgbClr>
            </a:solidFill>
            <a:prstDash val="solid"/>
          </a:ln>
        </p:spPr>
        <p:txBody>
          <a:bodyPr/>
          <a:lstStyle/>
          <a:p>
            <a:endParaRPr/>
          </a:p>
        </p:txBody>
      </p:sp>
      <p:sp>
        <p:nvSpPr>
          <p:cNvPr id="15" name="Text 12"/>
          <p:cNvSpPr/>
          <p:nvPr/>
        </p:nvSpPr>
        <p:spPr>
          <a:xfrm>
            <a:off x="7982712" y="3200400"/>
            <a:ext cx="3392424" cy="420624"/>
          </a:xfrm>
          <a:prstGeom prst="rect">
            <a:avLst/>
          </a:prstGeom>
          <a:noFill/>
          <a:ln/>
        </p:spPr>
        <p:txBody>
          <a:bodyPr wrap="square" lIns="0" tIns="0" rIns="0" bIns="0" rtlCol="0" anchor="ctr">
            <a:normAutofit/>
          </a:bodyPr>
          <a:lstStyle/>
          <a:p>
            <a:pPr marL="0" indent="0" algn="l">
              <a:buNone/>
            </a:pPr>
            <a:r>
              <a:rPr lang="en-US" sz="2750" b="1" dirty="0">
                <a:solidFill>
                  <a:srgbClr val="E59C3B"/>
                </a:solidFill>
                <a:latin typeface="Arial" pitchFamily="34" charset="0"/>
                <a:ea typeface="Arial" pitchFamily="34" charset="-122"/>
                <a:cs typeface="Arial" pitchFamily="34" charset="-120"/>
              </a:rPr>
              <a:t>10 phút</a:t>
            </a:r>
            <a:endParaRPr lang="en-US" sz="2750" dirty="0"/>
          </a:p>
        </p:txBody>
      </p:sp>
      <p:sp>
        <p:nvSpPr>
          <p:cNvPr id="16" name="Text 13"/>
          <p:cNvSpPr/>
          <p:nvPr/>
        </p:nvSpPr>
        <p:spPr>
          <a:xfrm>
            <a:off x="7982712" y="3730752"/>
            <a:ext cx="3392424" cy="502920"/>
          </a:xfrm>
          <a:prstGeom prst="rect">
            <a:avLst/>
          </a:prstGeom>
          <a:noFill/>
          <a:ln/>
        </p:spPr>
        <p:txBody>
          <a:bodyPr wrap="square" lIns="0" tIns="0" rIns="0" bIns="0" rtlCol="0" anchor="t">
            <a:normAutofit/>
          </a:bodyPr>
          <a:lstStyle/>
          <a:p>
            <a:pPr marL="0" indent="0" algn="l">
              <a:buNone/>
            </a:pPr>
            <a:r>
              <a:rPr lang="en-US" sz="1350" dirty="0">
                <a:solidFill>
                  <a:srgbClr val="587083"/>
                </a:solidFill>
                <a:latin typeface="Arial" pitchFamily="34" charset="0"/>
                <a:ea typeface="Arial" pitchFamily="34" charset="-122"/>
                <a:cs typeface="Arial" pitchFamily="34" charset="-120"/>
              </a:rPr>
              <a:t>mỗi bản ghi = ô H3 × loại xe × khoảng thời gian.</a:t>
            </a:r>
            <a:endParaRPr lang="en-US" sz="1350" dirty="0"/>
          </a:p>
        </p:txBody>
      </p:sp>
      <p:sp>
        <p:nvSpPr>
          <p:cNvPr id="17" name="Shape 14"/>
          <p:cNvSpPr/>
          <p:nvPr/>
        </p:nvSpPr>
        <p:spPr>
          <a:xfrm>
            <a:off x="630936" y="5266944"/>
            <a:ext cx="10954512" cy="676656"/>
          </a:xfrm>
          <a:prstGeom prst="roundRect">
            <a:avLst>
              <a:gd name="adj" fmla="val 20270"/>
            </a:avLst>
          </a:prstGeom>
          <a:solidFill>
            <a:srgbClr val="FFF1DA"/>
          </a:solidFill>
          <a:ln w="12700">
            <a:solidFill>
              <a:srgbClr val="FFF1DA">
                <a:alpha val="0"/>
              </a:srgbClr>
            </a:solidFill>
            <a:prstDash val="solid"/>
          </a:ln>
        </p:spPr>
        <p:txBody>
          <a:bodyPr/>
          <a:lstStyle/>
          <a:p>
            <a:endParaRPr lang="en-US" dirty="0"/>
          </a:p>
        </p:txBody>
      </p:sp>
      <p:sp>
        <p:nvSpPr>
          <p:cNvPr id="18" name="Text 15"/>
          <p:cNvSpPr/>
          <p:nvPr/>
        </p:nvSpPr>
        <p:spPr>
          <a:xfrm>
            <a:off x="832104" y="5404104"/>
            <a:ext cx="1076595" cy="329184"/>
          </a:xfrm>
          <a:prstGeom prst="rect">
            <a:avLst/>
          </a:prstGeom>
          <a:noFill/>
          <a:ln/>
        </p:spPr>
        <p:txBody>
          <a:bodyPr wrap="square" lIns="0" tIns="0" rIns="0" bIns="0" rtlCol="0" anchor="ctr">
            <a:normAutofit/>
          </a:bodyPr>
          <a:lstStyle/>
          <a:p>
            <a:pPr marL="0" indent="0" algn="l">
              <a:buNone/>
            </a:pPr>
            <a:r>
              <a:rPr lang="en-US" sz="1510" b="1" dirty="0" err="1">
                <a:solidFill>
                  <a:srgbClr val="9A6129"/>
                </a:solidFill>
                <a:latin typeface="Arial" pitchFamily="34" charset="0"/>
                <a:ea typeface="Arial" pitchFamily="34" charset="-122"/>
                <a:cs typeface="Arial" pitchFamily="34" charset="-120"/>
              </a:rPr>
              <a:t>Mô</a:t>
            </a:r>
            <a:r>
              <a:rPr lang="en-US" sz="1510" b="1" dirty="0">
                <a:solidFill>
                  <a:srgbClr val="9A6129"/>
                </a:solidFill>
                <a:latin typeface="Arial" pitchFamily="34" charset="0"/>
                <a:ea typeface="Arial" pitchFamily="34" charset="-122"/>
                <a:cs typeface="Arial" pitchFamily="34" charset="-120"/>
              </a:rPr>
              <a:t> </a:t>
            </a:r>
            <a:r>
              <a:rPr lang="en-US" sz="1510" b="1" dirty="0" err="1">
                <a:solidFill>
                  <a:srgbClr val="9A6129"/>
                </a:solidFill>
                <a:latin typeface="Arial" pitchFamily="34" charset="0"/>
                <a:ea typeface="Arial" pitchFamily="34" charset="-122"/>
                <a:cs typeface="Arial" pitchFamily="34" charset="-120"/>
              </a:rPr>
              <a:t>tả</a:t>
            </a:r>
            <a:r>
              <a:rPr lang="en-US" sz="1510" b="1" dirty="0">
                <a:solidFill>
                  <a:srgbClr val="9A6129"/>
                </a:solidFill>
                <a:latin typeface="Arial" pitchFamily="34" charset="0"/>
                <a:ea typeface="Arial" pitchFamily="34" charset="-122"/>
                <a:cs typeface="Arial" pitchFamily="34" charset="-120"/>
              </a:rPr>
              <a:t>:</a:t>
            </a:r>
            <a:endParaRPr lang="en-US" sz="1510" dirty="0"/>
          </a:p>
        </p:txBody>
      </p:sp>
      <p:sp>
        <p:nvSpPr>
          <p:cNvPr id="19" name="Text 16"/>
          <p:cNvSpPr/>
          <p:nvPr/>
        </p:nvSpPr>
        <p:spPr>
          <a:xfrm>
            <a:off x="1908699" y="5349240"/>
            <a:ext cx="9429861" cy="420624"/>
          </a:xfrm>
          <a:prstGeom prst="rect">
            <a:avLst/>
          </a:prstGeom>
          <a:noFill/>
          <a:ln/>
        </p:spPr>
        <p:txBody>
          <a:bodyPr wrap="square" lIns="0" tIns="0" rIns="0" bIns="0" rtlCol="0" anchor="ctr">
            <a:normAutofit/>
          </a:bodyPr>
          <a:lstStyle/>
          <a:p>
            <a:pPr marL="0" indent="0" algn="l">
              <a:buNone/>
            </a:pPr>
            <a:r>
              <a:rPr lang="en-US" sz="1470" dirty="0" err="1">
                <a:solidFill>
                  <a:srgbClr val="102639"/>
                </a:solidFill>
                <a:latin typeface="Arial" pitchFamily="34" charset="0"/>
                <a:cs typeface="Arial" pitchFamily="34" charset="-120"/>
              </a:rPr>
              <a:t>Dữ</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liệu</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được</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sinh</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bằng</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cách</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dựa</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vào</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các</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thống</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kê</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trên</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dữ</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liệu</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thật</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và</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từ</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các</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đặc</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điểm</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thực</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tế</a:t>
            </a:r>
            <a:r>
              <a:rPr lang="en-US" sz="1470" dirty="0">
                <a:solidFill>
                  <a:srgbClr val="102639"/>
                </a:solidFill>
                <a:latin typeface="Arial" pitchFamily="34" charset="0"/>
                <a:cs typeface="Arial" pitchFamily="34" charset="-120"/>
              </a:rPr>
              <a:t> </a:t>
            </a:r>
            <a:r>
              <a:rPr lang="en-US" sz="1470" dirty="0" err="1">
                <a:solidFill>
                  <a:srgbClr val="102639"/>
                </a:solidFill>
                <a:latin typeface="Arial" pitchFamily="34" charset="0"/>
                <a:cs typeface="Arial" pitchFamily="34" charset="-120"/>
              </a:rPr>
              <a:t>tại</a:t>
            </a:r>
            <a:r>
              <a:rPr lang="en-US" sz="1470" dirty="0">
                <a:solidFill>
                  <a:srgbClr val="102639"/>
                </a:solidFill>
                <a:latin typeface="Arial" pitchFamily="34" charset="0"/>
                <a:cs typeface="Arial" pitchFamily="34" charset="-120"/>
              </a:rPr>
              <a:t> HCM.</a:t>
            </a:r>
            <a:endParaRPr lang="en-US" sz="147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D928B"/>
          </a:solidFill>
          <a:ln w="12700">
            <a:solidFill>
              <a:srgbClr val="0D928B">
                <a:alpha val="0"/>
              </a:srgbClr>
            </a:solidFill>
            <a:prstDash val="solid"/>
          </a:ln>
        </p:spPr>
        <p:txBody>
          <a:bodyPr/>
          <a:lstStyle/>
          <a:p>
            <a:endParaRPr/>
          </a:p>
        </p:txBody>
      </p:sp>
      <p:sp>
        <p:nvSpPr>
          <p:cNvPr id="3" name="Text 1"/>
          <p:cNvSpPr/>
          <p:nvPr/>
        </p:nvSpPr>
        <p:spPr>
          <a:xfrm>
            <a:off x="512064" y="320040"/>
            <a:ext cx="10058400" cy="192024"/>
          </a:xfrm>
          <a:prstGeom prst="rect">
            <a:avLst/>
          </a:prstGeom>
          <a:noFill/>
          <a:ln/>
        </p:spPr>
        <p:txBody>
          <a:bodyPr wrap="square" lIns="0" tIns="0" rIns="0" bIns="0" rtlCol="0" anchor="ctr">
            <a:normAutofit/>
          </a:bodyPr>
          <a:lstStyle/>
          <a:p>
            <a:pPr marL="0" indent="0" algn="l">
              <a:buNone/>
            </a:pPr>
            <a:r>
              <a:rPr lang="en-US" sz="1020" b="1" kern="0" spc="150" dirty="0">
                <a:solidFill>
                  <a:srgbClr val="08756F"/>
                </a:solidFill>
                <a:latin typeface="Arial" pitchFamily="34" charset="0"/>
                <a:ea typeface="Arial" pitchFamily="34" charset="-122"/>
                <a:cs typeface="Arial" pitchFamily="34" charset="-120"/>
              </a:rPr>
              <a:t>03 · XÂY DỰNG VÀ LỰA CHỌN MÔ HÌNH</a:t>
            </a:r>
            <a:endParaRPr lang="en-US" sz="1020" dirty="0"/>
          </a:p>
        </p:txBody>
      </p:sp>
      <p:sp>
        <p:nvSpPr>
          <p:cNvPr id="4" name="Text 2"/>
          <p:cNvSpPr/>
          <p:nvPr/>
        </p:nvSpPr>
        <p:spPr>
          <a:xfrm>
            <a:off x="512064" y="658368"/>
            <a:ext cx="11137392" cy="722376"/>
          </a:xfrm>
          <a:prstGeom prst="rect">
            <a:avLst/>
          </a:prstGeom>
          <a:noFill/>
          <a:ln/>
        </p:spPr>
        <p:txBody>
          <a:bodyPr wrap="square" lIns="0" tIns="0" rIns="0" bIns="0" rtlCol="0" anchor="t">
            <a:normAutofit fontScale="92500" lnSpcReduction="10000"/>
          </a:bodyPr>
          <a:lstStyle/>
          <a:p>
            <a:pPr marL="0" indent="0" algn="l">
              <a:buNone/>
            </a:pPr>
            <a:r>
              <a:rPr lang="en-US" sz="2650" b="1" dirty="0" err="1">
                <a:solidFill>
                  <a:srgbClr val="102639"/>
                </a:solidFill>
                <a:latin typeface="Arial" pitchFamily="34" charset="0"/>
                <a:ea typeface="Arial" pitchFamily="34" charset="-122"/>
                <a:cs typeface="Arial" pitchFamily="34" charset="-120"/>
              </a:rPr>
              <a:t>Xây</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dựng</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mô</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hình</a:t>
            </a:r>
            <a:r>
              <a:rPr lang="en-US" sz="2650" b="1" dirty="0">
                <a:solidFill>
                  <a:srgbClr val="102639"/>
                </a:solidFill>
                <a:latin typeface="Arial" pitchFamily="34" charset="0"/>
                <a:ea typeface="Arial" pitchFamily="34" charset="-122"/>
                <a:cs typeface="Arial" pitchFamily="34" charset="-120"/>
              </a:rPr>
              <a:t> baseline </a:t>
            </a:r>
            <a:r>
              <a:rPr lang="en-US" sz="2650" b="1" dirty="0" err="1">
                <a:solidFill>
                  <a:srgbClr val="102639"/>
                </a:solidFill>
                <a:latin typeface="Arial" pitchFamily="34" charset="0"/>
                <a:ea typeface="Arial" pitchFamily="34" charset="-122"/>
                <a:cs typeface="Arial" pitchFamily="34" charset="-120"/>
              </a:rPr>
              <a:t>và</a:t>
            </a:r>
            <a:r>
              <a:rPr lang="en-US" sz="2650" b="1" dirty="0">
                <a:solidFill>
                  <a:srgbClr val="102639"/>
                </a:solidFill>
                <a:latin typeface="Arial" pitchFamily="34" charset="0"/>
                <a:ea typeface="Arial" pitchFamily="34" charset="-122"/>
                <a:cs typeface="Arial" pitchFamily="34" charset="-120"/>
              </a:rPr>
              <a:t> so </a:t>
            </a:r>
            <a:r>
              <a:rPr lang="en-US" sz="2650" b="1" dirty="0" err="1">
                <a:solidFill>
                  <a:srgbClr val="102639"/>
                </a:solidFill>
                <a:latin typeface="Arial" pitchFamily="34" charset="0"/>
                <a:ea typeface="Arial" pitchFamily="34" charset="-122"/>
                <a:cs typeface="Arial" pitchFamily="34" charset="-120"/>
              </a:rPr>
              <a:t>sánh</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với</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mô</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hình</a:t>
            </a:r>
            <a:r>
              <a:rPr lang="en-US" sz="2650" b="1" dirty="0">
                <a:solidFill>
                  <a:srgbClr val="102639"/>
                </a:solidFill>
                <a:latin typeface="Arial" pitchFamily="34" charset="0"/>
                <a:ea typeface="Arial" pitchFamily="34" charset="-122"/>
                <a:cs typeface="Arial" pitchFamily="34" charset="-120"/>
              </a:rPr>
              <a:t> machine learning để </a:t>
            </a:r>
            <a:r>
              <a:rPr lang="en-US" sz="2650" b="1" dirty="0" err="1">
                <a:solidFill>
                  <a:srgbClr val="102639"/>
                </a:solidFill>
                <a:latin typeface="Arial" pitchFamily="34" charset="0"/>
                <a:ea typeface="Arial" pitchFamily="34" charset="-122"/>
                <a:cs typeface="Arial" pitchFamily="34" charset="-120"/>
              </a:rPr>
              <a:t>kiểm</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chứng</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hiệu</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quả</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dự</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đoán</a:t>
            </a:r>
            <a:r>
              <a:rPr lang="en-US" sz="2650" b="1" dirty="0">
                <a:solidFill>
                  <a:srgbClr val="102639"/>
                </a:solidFill>
                <a:latin typeface="Arial" pitchFamily="34" charset="0"/>
                <a:ea typeface="Arial" pitchFamily="34" charset="-122"/>
                <a:cs typeface="Arial" pitchFamily="34" charset="-120"/>
              </a:rPr>
              <a:t>.</a:t>
            </a:r>
            <a:endParaRPr lang="en-US" sz="2650" dirty="0"/>
          </a:p>
        </p:txBody>
      </p:sp>
      <p:sp>
        <p:nvSpPr>
          <p:cNvPr id="5" name="Shape 3"/>
          <p:cNvSpPr/>
          <p:nvPr/>
        </p:nvSpPr>
        <p:spPr>
          <a:xfrm>
            <a:off x="512064" y="6528816"/>
            <a:ext cx="11173968" cy="0"/>
          </a:xfrm>
          <a:prstGeom prst="line">
            <a:avLst/>
          </a:prstGeom>
          <a:noFill/>
          <a:ln w="7620">
            <a:solidFill>
              <a:srgbClr val="D9E1E8"/>
            </a:solidFill>
            <a:prstDash val="solid"/>
          </a:ln>
        </p:spPr>
        <p:txBody>
          <a:bodyPr/>
          <a:lstStyle/>
          <a:p>
            <a:endParaRPr/>
          </a:p>
        </p:txBody>
      </p:sp>
      <p:sp>
        <p:nvSpPr>
          <p:cNvPr id="7" name="Text 5"/>
          <p:cNvSpPr/>
          <p:nvPr/>
        </p:nvSpPr>
        <p:spPr>
          <a:xfrm>
            <a:off x="11292840" y="6556248"/>
            <a:ext cx="384048" cy="210312"/>
          </a:xfrm>
          <a:prstGeom prst="rect">
            <a:avLst/>
          </a:prstGeom>
          <a:noFill/>
          <a:ln/>
        </p:spPr>
        <p:txBody>
          <a:bodyPr wrap="square" lIns="0" tIns="0" rIns="0" bIns="0" rtlCol="0" anchor="ctr">
            <a:normAutofit/>
          </a:bodyPr>
          <a:lstStyle/>
          <a:p>
            <a:pPr marL="0" indent="0" algn="r">
              <a:buNone/>
            </a:pPr>
            <a:r>
              <a:rPr lang="en-US" sz="1100" b="1" dirty="0">
                <a:solidFill>
                  <a:srgbClr val="587083"/>
                </a:solidFill>
                <a:latin typeface="Arial" pitchFamily="34" charset="0"/>
                <a:ea typeface="Arial" pitchFamily="34" charset="-122"/>
                <a:cs typeface="Arial" pitchFamily="34" charset="-120"/>
              </a:rPr>
              <a:t>04</a:t>
            </a:r>
            <a:endParaRPr lang="en-US" sz="1100" dirty="0"/>
          </a:p>
        </p:txBody>
      </p:sp>
      <p:sp>
        <p:nvSpPr>
          <p:cNvPr id="8" name="Text 6"/>
          <p:cNvSpPr/>
          <p:nvPr/>
        </p:nvSpPr>
        <p:spPr>
          <a:xfrm>
            <a:off x="594360" y="1527048"/>
            <a:ext cx="11018520" cy="621792"/>
          </a:xfrm>
          <a:prstGeom prst="rect">
            <a:avLst/>
          </a:prstGeom>
          <a:noFill/>
          <a:ln/>
        </p:spPr>
        <p:txBody>
          <a:bodyPr wrap="square" lIns="0" tIns="0" rIns="0" bIns="0" rtlCol="0" anchor="t">
            <a:normAutofit/>
          </a:bodyPr>
          <a:lstStyle/>
          <a:p>
            <a:pPr marL="0" indent="0" algn="l">
              <a:buNone/>
            </a:pPr>
            <a:r>
              <a:rPr lang="en-US" sz="1700" dirty="0">
                <a:solidFill>
                  <a:srgbClr val="587083"/>
                </a:solidFill>
                <a:latin typeface="Arial" pitchFamily="34" charset="0"/>
                <a:ea typeface="Arial" pitchFamily="34" charset="-122"/>
                <a:cs typeface="Arial" pitchFamily="34" charset="-120"/>
              </a:rPr>
              <a:t>Ba phương pháp baseline đều dự báo từ lịch sử đã biết trước thời điểm T. Kết quả trên VALIDATION cho thấy Naive_recent là baseline tốt nhất trong ba cách.</a:t>
            </a:r>
            <a:endParaRPr lang="en-US" sz="1700" dirty="0"/>
          </a:p>
        </p:txBody>
      </p:sp>
      <p:sp>
        <p:nvSpPr>
          <p:cNvPr id="9" name="Shape 7"/>
          <p:cNvSpPr/>
          <p:nvPr/>
        </p:nvSpPr>
        <p:spPr>
          <a:xfrm>
            <a:off x="594360" y="2395728"/>
            <a:ext cx="3675888" cy="1261872"/>
          </a:xfrm>
          <a:prstGeom prst="roundRect">
            <a:avLst>
              <a:gd name="adj" fmla="val 10870"/>
            </a:avLst>
          </a:prstGeom>
          <a:solidFill>
            <a:srgbClr val="FFFFFF"/>
          </a:solidFill>
          <a:ln w="12700">
            <a:solidFill>
              <a:srgbClr val="FFFFFF">
                <a:alpha val="0"/>
              </a:srgbClr>
            </a:solidFill>
            <a:prstDash val="solid"/>
          </a:ln>
        </p:spPr>
        <p:txBody>
          <a:bodyPr/>
          <a:lstStyle/>
          <a:p>
            <a:endParaRPr/>
          </a:p>
        </p:txBody>
      </p:sp>
      <p:sp>
        <p:nvSpPr>
          <p:cNvPr id="10" name="Shape 8"/>
          <p:cNvSpPr/>
          <p:nvPr/>
        </p:nvSpPr>
        <p:spPr>
          <a:xfrm>
            <a:off x="594360" y="2395728"/>
            <a:ext cx="68580" cy="1261872"/>
          </a:xfrm>
          <a:prstGeom prst="rect">
            <a:avLst/>
          </a:prstGeom>
          <a:solidFill>
            <a:srgbClr val="0D928B"/>
          </a:solidFill>
          <a:ln w="12700">
            <a:solidFill>
              <a:srgbClr val="0D928B"/>
            </a:solidFill>
            <a:prstDash val="solid"/>
          </a:ln>
        </p:spPr>
        <p:txBody>
          <a:bodyPr/>
          <a:lstStyle/>
          <a:p>
            <a:endParaRPr/>
          </a:p>
        </p:txBody>
      </p:sp>
      <p:sp>
        <p:nvSpPr>
          <p:cNvPr id="11" name="Text 9"/>
          <p:cNvSpPr/>
          <p:nvPr/>
        </p:nvSpPr>
        <p:spPr>
          <a:xfrm>
            <a:off x="777240" y="2523744"/>
            <a:ext cx="3346704" cy="265176"/>
          </a:xfrm>
          <a:prstGeom prst="rect">
            <a:avLst/>
          </a:prstGeom>
          <a:noFill/>
          <a:ln/>
        </p:spPr>
        <p:txBody>
          <a:bodyPr wrap="square" lIns="0" tIns="0" rIns="0" bIns="0" rtlCol="0" anchor="ctr">
            <a:normAutofit/>
          </a:bodyPr>
          <a:lstStyle/>
          <a:p>
            <a:pPr marL="0" indent="0" algn="l">
              <a:buNone/>
            </a:pPr>
            <a:r>
              <a:rPr lang="en-US" sz="1670" b="1" dirty="0">
                <a:solidFill>
                  <a:srgbClr val="102639"/>
                </a:solidFill>
                <a:latin typeface="Arial" pitchFamily="34" charset="0"/>
                <a:ea typeface="Arial" pitchFamily="34" charset="-122"/>
                <a:cs typeface="Arial" pitchFamily="34" charset="-120"/>
              </a:rPr>
              <a:t>Naive_recent</a:t>
            </a:r>
            <a:endParaRPr lang="en-US" sz="1670" dirty="0"/>
          </a:p>
        </p:txBody>
      </p:sp>
      <p:sp>
        <p:nvSpPr>
          <p:cNvPr id="12" name="Text 10"/>
          <p:cNvSpPr/>
          <p:nvPr/>
        </p:nvSpPr>
        <p:spPr>
          <a:xfrm>
            <a:off x="777240" y="2880360"/>
            <a:ext cx="3337560" cy="704088"/>
          </a:xfrm>
          <a:prstGeom prst="rect">
            <a:avLst/>
          </a:prstGeom>
          <a:noFill/>
          <a:ln/>
        </p:spPr>
        <p:txBody>
          <a:bodyPr wrap="square" lIns="0" tIns="0" rIns="0" bIns="0" rtlCol="0" anchor="t">
            <a:normAutofit/>
          </a:bodyPr>
          <a:lstStyle/>
          <a:p>
            <a:pPr marL="0" indent="0" algn="l">
              <a:buNone/>
            </a:pPr>
            <a:r>
              <a:rPr lang="en-US" sz="1440" dirty="0">
                <a:solidFill>
                  <a:srgbClr val="587083"/>
                </a:solidFill>
                <a:latin typeface="Arial" pitchFamily="34" charset="0"/>
                <a:ea typeface="Arial" pitchFamily="34" charset="-122"/>
                <a:cs typeface="Arial" pitchFamily="34" charset="-120"/>
              </a:rPr>
              <a:t>Lấy nhu cầu ở các bucket gần nhất đã đóng trước T.</a:t>
            </a:r>
            <a:endParaRPr lang="en-US" sz="1440" dirty="0"/>
          </a:p>
        </p:txBody>
      </p:sp>
      <p:sp>
        <p:nvSpPr>
          <p:cNvPr id="13" name="Shape 11"/>
          <p:cNvSpPr/>
          <p:nvPr/>
        </p:nvSpPr>
        <p:spPr>
          <a:xfrm>
            <a:off x="4407408" y="2395728"/>
            <a:ext cx="3511296" cy="1261872"/>
          </a:xfrm>
          <a:prstGeom prst="roundRect">
            <a:avLst>
              <a:gd name="adj" fmla="val 10870"/>
            </a:avLst>
          </a:prstGeom>
          <a:solidFill>
            <a:srgbClr val="FFFFFF"/>
          </a:solidFill>
          <a:ln w="12700">
            <a:solidFill>
              <a:srgbClr val="FFFFFF">
                <a:alpha val="0"/>
              </a:srgbClr>
            </a:solidFill>
            <a:prstDash val="solid"/>
          </a:ln>
        </p:spPr>
        <p:txBody>
          <a:bodyPr/>
          <a:lstStyle/>
          <a:p>
            <a:endParaRPr/>
          </a:p>
        </p:txBody>
      </p:sp>
      <p:sp>
        <p:nvSpPr>
          <p:cNvPr id="14" name="Shape 12"/>
          <p:cNvSpPr/>
          <p:nvPr/>
        </p:nvSpPr>
        <p:spPr>
          <a:xfrm>
            <a:off x="4407408" y="2395728"/>
            <a:ext cx="68580" cy="1261872"/>
          </a:xfrm>
          <a:prstGeom prst="rect">
            <a:avLst/>
          </a:prstGeom>
          <a:solidFill>
            <a:srgbClr val="31729B"/>
          </a:solidFill>
          <a:ln w="12700">
            <a:solidFill>
              <a:srgbClr val="31729B"/>
            </a:solidFill>
            <a:prstDash val="solid"/>
          </a:ln>
        </p:spPr>
        <p:txBody>
          <a:bodyPr/>
          <a:lstStyle/>
          <a:p>
            <a:endParaRPr/>
          </a:p>
        </p:txBody>
      </p:sp>
      <p:sp>
        <p:nvSpPr>
          <p:cNvPr id="15" name="Text 13"/>
          <p:cNvSpPr/>
          <p:nvPr/>
        </p:nvSpPr>
        <p:spPr>
          <a:xfrm>
            <a:off x="4590288" y="2523744"/>
            <a:ext cx="3182112" cy="265176"/>
          </a:xfrm>
          <a:prstGeom prst="rect">
            <a:avLst/>
          </a:prstGeom>
          <a:noFill/>
          <a:ln/>
        </p:spPr>
        <p:txBody>
          <a:bodyPr wrap="square" lIns="0" tIns="0" rIns="0" bIns="0" rtlCol="0" anchor="ctr">
            <a:normAutofit/>
          </a:bodyPr>
          <a:lstStyle/>
          <a:p>
            <a:pPr marL="0" indent="0" algn="l">
              <a:buNone/>
            </a:pPr>
            <a:r>
              <a:rPr lang="en-US" sz="1670" b="1" dirty="0">
                <a:solidFill>
                  <a:srgbClr val="102639"/>
                </a:solidFill>
                <a:latin typeface="Arial" pitchFamily="34" charset="0"/>
                <a:ea typeface="Arial" pitchFamily="34" charset="-122"/>
                <a:cs typeface="Arial" pitchFamily="34" charset="-120"/>
              </a:rPr>
              <a:t>Naive_1d</a:t>
            </a:r>
            <a:endParaRPr lang="en-US" sz="1670" dirty="0"/>
          </a:p>
        </p:txBody>
      </p:sp>
      <p:sp>
        <p:nvSpPr>
          <p:cNvPr id="16" name="Text 14"/>
          <p:cNvSpPr/>
          <p:nvPr/>
        </p:nvSpPr>
        <p:spPr>
          <a:xfrm>
            <a:off x="4590288" y="2880360"/>
            <a:ext cx="3172968" cy="704088"/>
          </a:xfrm>
          <a:prstGeom prst="rect">
            <a:avLst/>
          </a:prstGeom>
          <a:noFill/>
          <a:ln/>
        </p:spPr>
        <p:txBody>
          <a:bodyPr wrap="square" lIns="0" tIns="0" rIns="0" bIns="0" rtlCol="0" anchor="t">
            <a:normAutofit/>
          </a:bodyPr>
          <a:lstStyle/>
          <a:p>
            <a:pPr marL="0" indent="0" algn="l">
              <a:buNone/>
            </a:pPr>
            <a:r>
              <a:rPr lang="en-US" sz="1440" dirty="0">
                <a:solidFill>
                  <a:srgbClr val="587083"/>
                </a:solidFill>
                <a:latin typeface="Arial" pitchFamily="34" charset="0"/>
                <a:ea typeface="Arial" pitchFamily="34" charset="-122"/>
                <a:cs typeface="Arial" pitchFamily="34" charset="-120"/>
              </a:rPr>
              <a:t>Lấy nhu cầu tại cùng thời điểm của ngày trước.</a:t>
            </a:r>
            <a:endParaRPr lang="en-US" sz="1440" dirty="0"/>
          </a:p>
        </p:txBody>
      </p:sp>
      <p:sp>
        <p:nvSpPr>
          <p:cNvPr id="17" name="Shape 15"/>
          <p:cNvSpPr/>
          <p:nvPr/>
        </p:nvSpPr>
        <p:spPr>
          <a:xfrm>
            <a:off x="8055864" y="2395728"/>
            <a:ext cx="3520440" cy="1261872"/>
          </a:xfrm>
          <a:prstGeom prst="roundRect">
            <a:avLst>
              <a:gd name="adj" fmla="val 10870"/>
            </a:avLst>
          </a:prstGeom>
          <a:solidFill>
            <a:srgbClr val="FFFFFF"/>
          </a:solidFill>
          <a:ln w="12700">
            <a:solidFill>
              <a:srgbClr val="FFFFFF">
                <a:alpha val="0"/>
              </a:srgbClr>
            </a:solidFill>
            <a:prstDash val="solid"/>
          </a:ln>
        </p:spPr>
        <p:txBody>
          <a:bodyPr/>
          <a:lstStyle/>
          <a:p>
            <a:endParaRPr/>
          </a:p>
        </p:txBody>
      </p:sp>
      <p:sp>
        <p:nvSpPr>
          <p:cNvPr id="18" name="Shape 16"/>
          <p:cNvSpPr/>
          <p:nvPr/>
        </p:nvSpPr>
        <p:spPr>
          <a:xfrm>
            <a:off x="8055864" y="2395728"/>
            <a:ext cx="68580" cy="1261872"/>
          </a:xfrm>
          <a:prstGeom prst="rect">
            <a:avLst/>
          </a:prstGeom>
          <a:solidFill>
            <a:srgbClr val="E59C3B"/>
          </a:solidFill>
          <a:ln w="12700">
            <a:solidFill>
              <a:srgbClr val="E59C3B"/>
            </a:solidFill>
            <a:prstDash val="solid"/>
          </a:ln>
        </p:spPr>
        <p:txBody>
          <a:bodyPr/>
          <a:lstStyle/>
          <a:p>
            <a:endParaRPr/>
          </a:p>
        </p:txBody>
      </p:sp>
      <p:sp>
        <p:nvSpPr>
          <p:cNvPr id="19" name="Text 17"/>
          <p:cNvSpPr/>
          <p:nvPr/>
        </p:nvSpPr>
        <p:spPr>
          <a:xfrm>
            <a:off x="8238744" y="2523744"/>
            <a:ext cx="3191256" cy="265176"/>
          </a:xfrm>
          <a:prstGeom prst="rect">
            <a:avLst/>
          </a:prstGeom>
          <a:noFill/>
          <a:ln/>
        </p:spPr>
        <p:txBody>
          <a:bodyPr wrap="square" lIns="0" tIns="0" rIns="0" bIns="0" rtlCol="0" anchor="ctr">
            <a:normAutofit/>
          </a:bodyPr>
          <a:lstStyle/>
          <a:p>
            <a:pPr marL="0" indent="0" algn="l">
              <a:buNone/>
            </a:pPr>
            <a:r>
              <a:rPr lang="en-US" sz="1670" b="1" dirty="0">
                <a:solidFill>
                  <a:srgbClr val="102639"/>
                </a:solidFill>
                <a:latin typeface="Arial" pitchFamily="34" charset="0"/>
                <a:ea typeface="Arial" pitchFamily="34" charset="-122"/>
                <a:cs typeface="Arial" pitchFamily="34" charset="-120"/>
              </a:rPr>
              <a:t>Naive_7d</a:t>
            </a:r>
            <a:endParaRPr lang="en-US" sz="1670" dirty="0"/>
          </a:p>
        </p:txBody>
      </p:sp>
      <p:sp>
        <p:nvSpPr>
          <p:cNvPr id="20" name="Text 18"/>
          <p:cNvSpPr/>
          <p:nvPr/>
        </p:nvSpPr>
        <p:spPr>
          <a:xfrm>
            <a:off x="8238744" y="2880360"/>
            <a:ext cx="3182112" cy="704088"/>
          </a:xfrm>
          <a:prstGeom prst="rect">
            <a:avLst/>
          </a:prstGeom>
          <a:noFill/>
          <a:ln/>
        </p:spPr>
        <p:txBody>
          <a:bodyPr wrap="square" lIns="0" tIns="0" rIns="0" bIns="0" rtlCol="0" anchor="t">
            <a:normAutofit/>
          </a:bodyPr>
          <a:lstStyle/>
          <a:p>
            <a:pPr marL="0" indent="0" algn="l">
              <a:buNone/>
            </a:pPr>
            <a:r>
              <a:rPr lang="en-US" sz="1440" dirty="0">
                <a:solidFill>
                  <a:srgbClr val="587083"/>
                </a:solidFill>
                <a:latin typeface="Arial" pitchFamily="34" charset="0"/>
                <a:ea typeface="Arial" pitchFamily="34" charset="-122"/>
                <a:cs typeface="Arial" pitchFamily="34" charset="-120"/>
              </a:rPr>
              <a:t>Lấy nhu cầu tại cùng thời điểm của tuần trước.</a:t>
            </a:r>
            <a:endParaRPr lang="en-US" sz="1440" dirty="0"/>
          </a:p>
        </p:txBody>
      </p:sp>
      <p:sp>
        <p:nvSpPr>
          <p:cNvPr id="21" name="Text 19"/>
          <p:cNvSpPr/>
          <p:nvPr/>
        </p:nvSpPr>
        <p:spPr>
          <a:xfrm>
            <a:off x="630936" y="4142232"/>
            <a:ext cx="10698480" cy="320040"/>
          </a:xfrm>
          <a:prstGeom prst="rect">
            <a:avLst/>
          </a:prstGeom>
          <a:noFill/>
          <a:ln/>
        </p:spPr>
        <p:txBody>
          <a:bodyPr wrap="square" lIns="0" tIns="0" rIns="0" bIns="0" rtlCol="0" anchor="ctr">
            <a:normAutofit/>
          </a:bodyPr>
          <a:lstStyle/>
          <a:p>
            <a:pPr marL="0" indent="0" algn="l">
              <a:buNone/>
            </a:pPr>
            <a:r>
              <a:rPr lang="en-US" sz="1600" b="1" dirty="0">
                <a:solidFill>
                  <a:srgbClr val="102639"/>
                </a:solidFill>
                <a:latin typeface="Arial" pitchFamily="34" charset="0"/>
                <a:ea typeface="Arial" pitchFamily="34" charset="-122"/>
                <a:cs typeface="Arial" pitchFamily="34" charset="-120"/>
              </a:rPr>
              <a:t>WMAPE VALIDATION — baseline Naive_recent, ví dụ với Car</a:t>
            </a:r>
            <a:endParaRPr lang="en-US" sz="1600" dirty="0"/>
          </a:p>
        </p:txBody>
      </p:sp>
      <p:sp>
        <p:nvSpPr>
          <p:cNvPr id="22" name="Shape 20"/>
          <p:cNvSpPr/>
          <p:nvPr/>
        </p:nvSpPr>
        <p:spPr>
          <a:xfrm>
            <a:off x="612648" y="4590288"/>
            <a:ext cx="3639312" cy="1124712"/>
          </a:xfrm>
          <a:prstGeom prst="roundRect">
            <a:avLst>
              <a:gd name="adj" fmla="val 12195"/>
            </a:avLst>
          </a:prstGeom>
          <a:solidFill>
            <a:srgbClr val="132B43"/>
          </a:solidFill>
          <a:ln w="12700">
            <a:solidFill>
              <a:srgbClr val="132B43">
                <a:alpha val="0"/>
              </a:srgbClr>
            </a:solidFill>
            <a:prstDash val="solid"/>
          </a:ln>
        </p:spPr>
        <p:txBody>
          <a:bodyPr/>
          <a:lstStyle/>
          <a:p>
            <a:endParaRPr/>
          </a:p>
        </p:txBody>
      </p:sp>
      <p:sp>
        <p:nvSpPr>
          <p:cNvPr id="23" name="Text 21"/>
          <p:cNvSpPr/>
          <p:nvPr/>
        </p:nvSpPr>
        <p:spPr>
          <a:xfrm>
            <a:off x="804672" y="4736592"/>
            <a:ext cx="1243584" cy="292608"/>
          </a:xfrm>
          <a:prstGeom prst="rect">
            <a:avLst/>
          </a:prstGeom>
          <a:noFill/>
          <a:ln/>
        </p:spPr>
        <p:txBody>
          <a:bodyPr wrap="square" lIns="0" tIns="0" rIns="0" bIns="0" rtlCol="0" anchor="ctr">
            <a:normAutofit/>
          </a:bodyPr>
          <a:lstStyle/>
          <a:p>
            <a:pPr marL="0" indent="0" algn="l">
              <a:buNone/>
            </a:pPr>
            <a:r>
              <a:rPr lang="en-US" sz="1550" b="1" dirty="0">
                <a:solidFill>
                  <a:srgbClr val="A8DCD5"/>
                </a:solidFill>
                <a:latin typeface="Arial" pitchFamily="34" charset="0"/>
                <a:ea typeface="Arial" pitchFamily="34" charset="-122"/>
                <a:cs typeface="Arial" pitchFamily="34" charset="-120"/>
              </a:rPr>
              <a:t>H10</a:t>
            </a:r>
            <a:endParaRPr lang="en-US" sz="1550" dirty="0"/>
          </a:p>
        </p:txBody>
      </p:sp>
      <p:sp>
        <p:nvSpPr>
          <p:cNvPr id="24" name="Text 22"/>
          <p:cNvSpPr/>
          <p:nvPr/>
        </p:nvSpPr>
        <p:spPr>
          <a:xfrm>
            <a:off x="1911096" y="4663440"/>
            <a:ext cx="2130552" cy="521208"/>
          </a:xfrm>
          <a:prstGeom prst="rect">
            <a:avLst/>
          </a:prstGeom>
          <a:noFill/>
          <a:ln/>
        </p:spPr>
        <p:txBody>
          <a:bodyPr wrap="square" lIns="0" tIns="0" rIns="0" bIns="0" rtlCol="0" anchor="ctr">
            <a:normAutofit/>
          </a:bodyPr>
          <a:lstStyle/>
          <a:p>
            <a:pPr marL="0" indent="0" algn="r">
              <a:buNone/>
            </a:pPr>
            <a:r>
              <a:rPr lang="en-US" sz="2500" b="1" dirty="0">
                <a:solidFill>
                  <a:srgbClr val="FFFFFF"/>
                </a:solidFill>
                <a:latin typeface="Arial" pitchFamily="34" charset="0"/>
                <a:ea typeface="Arial" pitchFamily="34" charset="-122"/>
                <a:cs typeface="Arial" pitchFamily="34" charset="-120"/>
              </a:rPr>
              <a:t>22,76%</a:t>
            </a:r>
            <a:endParaRPr lang="en-US" sz="2500" dirty="0"/>
          </a:p>
        </p:txBody>
      </p:sp>
      <p:sp>
        <p:nvSpPr>
          <p:cNvPr id="25" name="Shape 23"/>
          <p:cNvSpPr/>
          <p:nvPr/>
        </p:nvSpPr>
        <p:spPr>
          <a:xfrm>
            <a:off x="4416552" y="4590288"/>
            <a:ext cx="3639312" cy="1124712"/>
          </a:xfrm>
          <a:prstGeom prst="roundRect">
            <a:avLst>
              <a:gd name="adj" fmla="val 12195"/>
            </a:avLst>
          </a:prstGeom>
          <a:solidFill>
            <a:srgbClr val="132B43"/>
          </a:solidFill>
          <a:ln w="12700">
            <a:solidFill>
              <a:srgbClr val="132B43">
                <a:alpha val="0"/>
              </a:srgbClr>
            </a:solidFill>
            <a:prstDash val="solid"/>
          </a:ln>
        </p:spPr>
        <p:txBody>
          <a:bodyPr/>
          <a:lstStyle/>
          <a:p>
            <a:endParaRPr/>
          </a:p>
        </p:txBody>
      </p:sp>
      <p:sp>
        <p:nvSpPr>
          <p:cNvPr id="26" name="Text 24"/>
          <p:cNvSpPr/>
          <p:nvPr/>
        </p:nvSpPr>
        <p:spPr>
          <a:xfrm>
            <a:off x="4608576" y="4736592"/>
            <a:ext cx="1243584" cy="292608"/>
          </a:xfrm>
          <a:prstGeom prst="rect">
            <a:avLst/>
          </a:prstGeom>
          <a:noFill/>
          <a:ln/>
        </p:spPr>
        <p:txBody>
          <a:bodyPr wrap="square" lIns="0" tIns="0" rIns="0" bIns="0" rtlCol="0" anchor="ctr">
            <a:normAutofit/>
          </a:bodyPr>
          <a:lstStyle/>
          <a:p>
            <a:pPr marL="0" indent="0" algn="l">
              <a:buNone/>
            </a:pPr>
            <a:r>
              <a:rPr lang="en-US" sz="1550" b="1" dirty="0">
                <a:solidFill>
                  <a:srgbClr val="A8DCD5"/>
                </a:solidFill>
                <a:latin typeface="Arial" pitchFamily="34" charset="0"/>
                <a:ea typeface="Arial" pitchFamily="34" charset="-122"/>
                <a:cs typeface="Arial" pitchFamily="34" charset="-120"/>
              </a:rPr>
              <a:t>H30</a:t>
            </a:r>
            <a:endParaRPr lang="en-US" sz="1550" dirty="0"/>
          </a:p>
        </p:txBody>
      </p:sp>
      <p:sp>
        <p:nvSpPr>
          <p:cNvPr id="27" name="Text 25"/>
          <p:cNvSpPr/>
          <p:nvPr/>
        </p:nvSpPr>
        <p:spPr>
          <a:xfrm>
            <a:off x="5715000" y="4663440"/>
            <a:ext cx="2130552" cy="521208"/>
          </a:xfrm>
          <a:prstGeom prst="rect">
            <a:avLst/>
          </a:prstGeom>
          <a:noFill/>
          <a:ln/>
        </p:spPr>
        <p:txBody>
          <a:bodyPr wrap="square" lIns="0" tIns="0" rIns="0" bIns="0" rtlCol="0" anchor="ctr">
            <a:normAutofit/>
          </a:bodyPr>
          <a:lstStyle/>
          <a:p>
            <a:pPr marL="0" indent="0" algn="r">
              <a:buNone/>
            </a:pPr>
            <a:r>
              <a:rPr lang="en-US" sz="2500" b="1" dirty="0">
                <a:solidFill>
                  <a:srgbClr val="FFFFFF"/>
                </a:solidFill>
                <a:latin typeface="Arial" pitchFamily="34" charset="0"/>
                <a:ea typeface="Arial" pitchFamily="34" charset="-122"/>
                <a:cs typeface="Arial" pitchFamily="34" charset="-120"/>
              </a:rPr>
              <a:t>32,42%</a:t>
            </a:r>
            <a:endParaRPr lang="en-US" sz="2500" dirty="0"/>
          </a:p>
        </p:txBody>
      </p:sp>
      <p:sp>
        <p:nvSpPr>
          <p:cNvPr id="28" name="Shape 26"/>
          <p:cNvSpPr/>
          <p:nvPr/>
        </p:nvSpPr>
        <p:spPr>
          <a:xfrm>
            <a:off x="8220456" y="4590288"/>
            <a:ext cx="3639312" cy="1124712"/>
          </a:xfrm>
          <a:prstGeom prst="roundRect">
            <a:avLst>
              <a:gd name="adj" fmla="val 12195"/>
            </a:avLst>
          </a:prstGeom>
          <a:solidFill>
            <a:srgbClr val="132B43"/>
          </a:solidFill>
          <a:ln w="12700">
            <a:solidFill>
              <a:srgbClr val="132B43">
                <a:alpha val="0"/>
              </a:srgbClr>
            </a:solidFill>
            <a:prstDash val="solid"/>
          </a:ln>
        </p:spPr>
        <p:txBody>
          <a:bodyPr/>
          <a:lstStyle/>
          <a:p>
            <a:endParaRPr/>
          </a:p>
        </p:txBody>
      </p:sp>
      <p:sp>
        <p:nvSpPr>
          <p:cNvPr id="29" name="Text 27"/>
          <p:cNvSpPr/>
          <p:nvPr/>
        </p:nvSpPr>
        <p:spPr>
          <a:xfrm>
            <a:off x="8412480" y="4736592"/>
            <a:ext cx="1243584" cy="292608"/>
          </a:xfrm>
          <a:prstGeom prst="rect">
            <a:avLst/>
          </a:prstGeom>
          <a:noFill/>
          <a:ln/>
        </p:spPr>
        <p:txBody>
          <a:bodyPr wrap="square" lIns="0" tIns="0" rIns="0" bIns="0" rtlCol="0" anchor="ctr">
            <a:normAutofit/>
          </a:bodyPr>
          <a:lstStyle/>
          <a:p>
            <a:pPr marL="0" indent="0" algn="l">
              <a:buNone/>
            </a:pPr>
            <a:r>
              <a:rPr lang="en-US" sz="1550" b="1" dirty="0">
                <a:solidFill>
                  <a:srgbClr val="A8DCD5"/>
                </a:solidFill>
                <a:latin typeface="Arial" pitchFamily="34" charset="0"/>
                <a:ea typeface="Arial" pitchFamily="34" charset="-122"/>
                <a:cs typeface="Arial" pitchFamily="34" charset="-120"/>
              </a:rPr>
              <a:t>H60</a:t>
            </a:r>
            <a:endParaRPr lang="en-US" sz="1550" dirty="0"/>
          </a:p>
        </p:txBody>
      </p:sp>
      <p:sp>
        <p:nvSpPr>
          <p:cNvPr id="30" name="Text 28"/>
          <p:cNvSpPr/>
          <p:nvPr/>
        </p:nvSpPr>
        <p:spPr>
          <a:xfrm>
            <a:off x="9518904" y="4663440"/>
            <a:ext cx="2130552" cy="521208"/>
          </a:xfrm>
          <a:prstGeom prst="rect">
            <a:avLst/>
          </a:prstGeom>
          <a:noFill/>
          <a:ln/>
        </p:spPr>
        <p:txBody>
          <a:bodyPr wrap="square" lIns="0" tIns="0" rIns="0" bIns="0" rtlCol="0" anchor="ctr">
            <a:normAutofit/>
          </a:bodyPr>
          <a:lstStyle/>
          <a:p>
            <a:pPr marL="0" indent="0" algn="r">
              <a:buNone/>
            </a:pPr>
            <a:r>
              <a:rPr lang="en-US" sz="2500" b="1" dirty="0">
                <a:solidFill>
                  <a:srgbClr val="FFFFFF"/>
                </a:solidFill>
                <a:latin typeface="Arial" pitchFamily="34" charset="0"/>
                <a:ea typeface="Arial" pitchFamily="34" charset="-122"/>
                <a:cs typeface="Arial" pitchFamily="34" charset="-120"/>
              </a:rPr>
              <a:t>47,89%</a:t>
            </a:r>
            <a:endParaRPr lang="en-US" sz="2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9"/>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D928B"/>
          </a:solidFill>
          <a:ln w="12700">
            <a:solidFill>
              <a:srgbClr val="0D928B">
                <a:alpha val="0"/>
              </a:srgbClr>
            </a:solidFill>
            <a:prstDash val="solid"/>
          </a:ln>
        </p:spPr>
        <p:txBody>
          <a:bodyPr/>
          <a:lstStyle/>
          <a:p>
            <a:endParaRPr/>
          </a:p>
        </p:txBody>
      </p:sp>
      <p:sp>
        <p:nvSpPr>
          <p:cNvPr id="3" name="Text 1"/>
          <p:cNvSpPr/>
          <p:nvPr/>
        </p:nvSpPr>
        <p:spPr>
          <a:xfrm>
            <a:off x="512064" y="320040"/>
            <a:ext cx="10058400" cy="192024"/>
          </a:xfrm>
          <a:prstGeom prst="rect">
            <a:avLst/>
          </a:prstGeom>
          <a:noFill/>
          <a:ln/>
        </p:spPr>
        <p:txBody>
          <a:bodyPr wrap="square" lIns="0" tIns="0" rIns="0" bIns="0" rtlCol="0" anchor="ctr">
            <a:normAutofit/>
          </a:bodyPr>
          <a:lstStyle/>
          <a:p>
            <a:pPr marL="0" indent="0" algn="l">
              <a:buNone/>
            </a:pPr>
            <a:r>
              <a:rPr lang="en-US" sz="1020" b="1" kern="0" spc="150" dirty="0">
                <a:solidFill>
                  <a:srgbClr val="08756F"/>
                </a:solidFill>
                <a:latin typeface="Arial" pitchFamily="34" charset="0"/>
                <a:ea typeface="Arial" pitchFamily="34" charset="-122"/>
                <a:cs typeface="Arial" pitchFamily="34" charset="-120"/>
              </a:rPr>
              <a:t>03 · XÂY DỰNG VÀ LỰA CHỌN MÔ HÌNH</a:t>
            </a:r>
            <a:endParaRPr lang="en-US" sz="1020" dirty="0"/>
          </a:p>
        </p:txBody>
      </p:sp>
      <p:sp>
        <p:nvSpPr>
          <p:cNvPr id="4" name="Text 2"/>
          <p:cNvSpPr/>
          <p:nvPr/>
        </p:nvSpPr>
        <p:spPr>
          <a:xfrm>
            <a:off x="512064" y="658368"/>
            <a:ext cx="11137392" cy="722376"/>
          </a:xfrm>
          <a:prstGeom prst="rect">
            <a:avLst/>
          </a:prstGeom>
          <a:noFill/>
          <a:ln/>
        </p:spPr>
        <p:txBody>
          <a:bodyPr wrap="square" lIns="0" tIns="0" rIns="0" bIns="0" rtlCol="0" anchor="t">
            <a:normAutofit fontScale="92500" lnSpcReduction="10000"/>
          </a:bodyPr>
          <a:lstStyle/>
          <a:p>
            <a:pPr marL="0" indent="0" algn="l">
              <a:buNone/>
            </a:pPr>
            <a:r>
              <a:rPr lang="en-US" sz="2650" b="1" dirty="0">
                <a:solidFill>
                  <a:srgbClr val="102639"/>
                </a:solidFill>
                <a:latin typeface="Arial" pitchFamily="34" charset="0"/>
                <a:ea typeface="Arial" pitchFamily="34" charset="-122"/>
                <a:cs typeface="Arial" pitchFamily="34" charset="-120"/>
              </a:rPr>
              <a:t>LightGBM thắng 5/6 phép so sánh trên VALIDATION nên được chọn làm thuật toán thống nhất.</a:t>
            </a:r>
            <a:endParaRPr lang="en-US" sz="2650" dirty="0"/>
          </a:p>
        </p:txBody>
      </p:sp>
      <p:sp>
        <p:nvSpPr>
          <p:cNvPr id="5" name="Shape 3"/>
          <p:cNvSpPr/>
          <p:nvPr/>
        </p:nvSpPr>
        <p:spPr>
          <a:xfrm>
            <a:off x="512064" y="6528816"/>
            <a:ext cx="11173968" cy="0"/>
          </a:xfrm>
          <a:prstGeom prst="line">
            <a:avLst/>
          </a:prstGeom>
          <a:noFill/>
          <a:ln w="7620">
            <a:solidFill>
              <a:srgbClr val="D9E1E8"/>
            </a:solidFill>
            <a:prstDash val="solid"/>
          </a:ln>
        </p:spPr>
        <p:txBody>
          <a:bodyPr/>
          <a:lstStyle/>
          <a:p>
            <a:endParaRPr/>
          </a:p>
        </p:txBody>
      </p:sp>
      <p:sp>
        <p:nvSpPr>
          <p:cNvPr id="7" name="Text 5"/>
          <p:cNvSpPr/>
          <p:nvPr/>
        </p:nvSpPr>
        <p:spPr>
          <a:xfrm>
            <a:off x="11292840" y="6556248"/>
            <a:ext cx="384048" cy="210312"/>
          </a:xfrm>
          <a:prstGeom prst="rect">
            <a:avLst/>
          </a:prstGeom>
          <a:noFill/>
          <a:ln/>
        </p:spPr>
        <p:txBody>
          <a:bodyPr wrap="square" lIns="0" tIns="0" rIns="0" bIns="0" rtlCol="0" anchor="ctr">
            <a:normAutofit/>
          </a:bodyPr>
          <a:lstStyle/>
          <a:p>
            <a:pPr marL="0" indent="0" algn="r">
              <a:buNone/>
            </a:pPr>
            <a:r>
              <a:rPr lang="en-US" sz="1100" b="1" dirty="0">
                <a:solidFill>
                  <a:srgbClr val="587083"/>
                </a:solidFill>
                <a:latin typeface="Arial" pitchFamily="34" charset="0"/>
                <a:ea typeface="Arial" pitchFamily="34" charset="-122"/>
                <a:cs typeface="Arial" pitchFamily="34" charset="-120"/>
              </a:rPr>
              <a:t>05</a:t>
            </a:r>
            <a:endParaRPr lang="en-US" sz="1100" dirty="0"/>
          </a:p>
        </p:txBody>
      </p:sp>
      <p:sp>
        <p:nvSpPr>
          <p:cNvPr id="8" name="Shape 6"/>
          <p:cNvSpPr/>
          <p:nvPr/>
        </p:nvSpPr>
        <p:spPr>
          <a:xfrm>
            <a:off x="630936" y="1840252"/>
            <a:ext cx="3191256" cy="3236976"/>
          </a:xfrm>
          <a:prstGeom prst="roundRect">
            <a:avLst>
              <a:gd name="adj" fmla="val 4298"/>
            </a:avLst>
          </a:prstGeom>
          <a:solidFill>
            <a:srgbClr val="132B43"/>
          </a:solidFill>
          <a:ln w="12700">
            <a:solidFill>
              <a:srgbClr val="132B43">
                <a:alpha val="0"/>
              </a:srgbClr>
            </a:solidFill>
            <a:prstDash val="solid"/>
          </a:ln>
        </p:spPr>
        <p:txBody>
          <a:bodyPr/>
          <a:lstStyle/>
          <a:p>
            <a:endParaRPr/>
          </a:p>
        </p:txBody>
      </p:sp>
      <p:sp>
        <p:nvSpPr>
          <p:cNvPr id="9" name="Text 7"/>
          <p:cNvSpPr/>
          <p:nvPr/>
        </p:nvSpPr>
        <p:spPr>
          <a:xfrm>
            <a:off x="877824" y="1984248"/>
            <a:ext cx="2606040" cy="914400"/>
          </a:xfrm>
          <a:prstGeom prst="rect">
            <a:avLst/>
          </a:prstGeom>
          <a:noFill/>
          <a:ln/>
        </p:spPr>
        <p:txBody>
          <a:bodyPr wrap="square" lIns="0" tIns="0" rIns="0" bIns="0" rtlCol="0" anchor="ctr">
            <a:normAutofit/>
          </a:bodyPr>
          <a:lstStyle/>
          <a:p>
            <a:pPr marL="0" indent="0" algn="ctr">
              <a:buNone/>
            </a:pPr>
            <a:r>
              <a:rPr lang="en-US" sz="5400" b="1" dirty="0">
                <a:solidFill>
                  <a:srgbClr val="FFFFFF"/>
                </a:solidFill>
                <a:latin typeface="Arial" pitchFamily="34" charset="0"/>
                <a:ea typeface="Arial" pitchFamily="34" charset="-122"/>
                <a:cs typeface="Arial" pitchFamily="34" charset="-120"/>
              </a:rPr>
              <a:t>5 / 6</a:t>
            </a:r>
            <a:endParaRPr lang="en-US" sz="5400" dirty="0"/>
          </a:p>
        </p:txBody>
      </p:sp>
      <p:sp>
        <p:nvSpPr>
          <p:cNvPr id="10" name="Text 8"/>
          <p:cNvSpPr/>
          <p:nvPr/>
        </p:nvSpPr>
        <p:spPr>
          <a:xfrm>
            <a:off x="932688" y="3017520"/>
            <a:ext cx="2560320" cy="914400"/>
          </a:xfrm>
          <a:prstGeom prst="rect">
            <a:avLst/>
          </a:prstGeom>
          <a:noFill/>
          <a:ln/>
        </p:spPr>
        <p:txBody>
          <a:bodyPr wrap="square" lIns="0" tIns="0" rIns="0" bIns="0" rtlCol="0" anchor="ctr">
            <a:normAutofit/>
          </a:bodyPr>
          <a:lstStyle/>
          <a:p>
            <a:pPr marL="0" indent="0" algn="ctr">
              <a:buNone/>
            </a:pPr>
            <a:r>
              <a:rPr lang="en-US" sz="1800" dirty="0">
                <a:solidFill>
                  <a:srgbClr val="D2E6EC"/>
                </a:solidFill>
                <a:latin typeface="Arial" pitchFamily="34" charset="0"/>
                <a:ea typeface="Arial" pitchFamily="34" charset="-122"/>
                <a:cs typeface="Arial" pitchFamily="34" charset="-120"/>
              </a:rPr>
              <a:t>tổ hợp có WMAPE</a:t>
            </a:r>
            <a:endParaRPr lang="en-US" sz="1800" dirty="0"/>
          </a:p>
          <a:p>
            <a:pPr marL="0" indent="0" algn="ctr">
              <a:buNone/>
            </a:pPr>
            <a:r>
              <a:rPr lang="en-US" sz="1800" dirty="0">
                <a:solidFill>
                  <a:srgbClr val="D2E6EC"/>
                </a:solidFill>
                <a:latin typeface="Arial" pitchFamily="34" charset="0"/>
                <a:ea typeface="Arial" pitchFamily="34" charset="-122"/>
                <a:cs typeface="Arial" pitchFamily="34" charset="-120"/>
              </a:rPr>
              <a:t>thấp nhất với LightGBM</a:t>
            </a:r>
            <a:endParaRPr lang="en-US" sz="1800" dirty="0"/>
          </a:p>
        </p:txBody>
      </p:sp>
      <p:sp>
        <p:nvSpPr>
          <p:cNvPr id="11" name="Shape 9"/>
          <p:cNvSpPr/>
          <p:nvPr/>
        </p:nvSpPr>
        <p:spPr>
          <a:xfrm>
            <a:off x="4062984" y="1655064"/>
            <a:ext cx="7498080" cy="1380744"/>
          </a:xfrm>
          <a:prstGeom prst="roundRect">
            <a:avLst>
              <a:gd name="adj" fmla="val 9934"/>
            </a:avLst>
          </a:prstGeom>
          <a:solidFill>
            <a:srgbClr val="FFFFFF"/>
          </a:solidFill>
          <a:ln w="12700">
            <a:solidFill>
              <a:srgbClr val="FFFFFF">
                <a:alpha val="0"/>
              </a:srgbClr>
            </a:solidFill>
            <a:prstDash val="solid"/>
          </a:ln>
        </p:spPr>
        <p:txBody>
          <a:bodyPr/>
          <a:lstStyle/>
          <a:p>
            <a:endParaRPr/>
          </a:p>
        </p:txBody>
      </p:sp>
      <p:sp>
        <p:nvSpPr>
          <p:cNvPr id="12" name="Shape 10"/>
          <p:cNvSpPr/>
          <p:nvPr/>
        </p:nvSpPr>
        <p:spPr>
          <a:xfrm>
            <a:off x="4050792" y="1673352"/>
            <a:ext cx="68580" cy="1380744"/>
          </a:xfrm>
          <a:prstGeom prst="rect">
            <a:avLst/>
          </a:prstGeom>
          <a:solidFill>
            <a:srgbClr val="E59C3B"/>
          </a:solidFill>
          <a:ln w="12700">
            <a:solidFill>
              <a:srgbClr val="E59C3B"/>
            </a:solidFill>
            <a:prstDash val="solid"/>
          </a:ln>
        </p:spPr>
        <p:txBody>
          <a:bodyPr/>
          <a:lstStyle/>
          <a:p>
            <a:endParaRPr/>
          </a:p>
        </p:txBody>
      </p:sp>
      <p:sp>
        <p:nvSpPr>
          <p:cNvPr id="13" name="Text 11"/>
          <p:cNvSpPr/>
          <p:nvPr/>
        </p:nvSpPr>
        <p:spPr>
          <a:xfrm>
            <a:off x="4233672" y="1801368"/>
            <a:ext cx="7168896" cy="265176"/>
          </a:xfrm>
          <a:prstGeom prst="rect">
            <a:avLst/>
          </a:prstGeom>
          <a:noFill/>
          <a:ln/>
        </p:spPr>
        <p:txBody>
          <a:bodyPr wrap="square" lIns="0" tIns="0" rIns="0" bIns="0" rtlCol="0" anchor="ctr">
            <a:normAutofit/>
          </a:bodyPr>
          <a:lstStyle/>
          <a:p>
            <a:pPr marL="0" indent="0" algn="l">
              <a:buNone/>
            </a:pPr>
            <a:r>
              <a:rPr lang="en-US" sz="1670" b="1" dirty="0">
                <a:solidFill>
                  <a:srgbClr val="102639"/>
                </a:solidFill>
                <a:latin typeface="Arial" pitchFamily="34" charset="0"/>
                <a:ea typeface="Arial" pitchFamily="34" charset="-122"/>
                <a:cs typeface="Arial" pitchFamily="34" charset="-120"/>
              </a:rPr>
              <a:t>Car · H10: ngoại lệ</a:t>
            </a:r>
            <a:endParaRPr lang="en-US" sz="1670" dirty="0"/>
          </a:p>
        </p:txBody>
      </p:sp>
      <p:sp>
        <p:nvSpPr>
          <p:cNvPr id="14" name="Text 12"/>
          <p:cNvSpPr/>
          <p:nvPr/>
        </p:nvSpPr>
        <p:spPr>
          <a:xfrm>
            <a:off x="4233672" y="2157984"/>
            <a:ext cx="7159752" cy="822960"/>
          </a:xfrm>
          <a:prstGeom prst="rect">
            <a:avLst/>
          </a:prstGeom>
          <a:noFill/>
          <a:ln/>
        </p:spPr>
        <p:txBody>
          <a:bodyPr wrap="square" lIns="0" tIns="0" rIns="0" bIns="0" rtlCol="0" anchor="t">
            <a:normAutofit/>
          </a:bodyPr>
          <a:lstStyle/>
          <a:p>
            <a:pPr marL="0" indent="0" algn="l">
              <a:buNone/>
            </a:pPr>
            <a:r>
              <a:rPr lang="en-US" sz="1440" dirty="0">
                <a:solidFill>
                  <a:srgbClr val="587083"/>
                </a:solidFill>
                <a:latin typeface="Arial" pitchFamily="34" charset="0"/>
                <a:ea typeface="Arial" pitchFamily="34" charset="-122"/>
                <a:cs typeface="Arial" pitchFamily="34" charset="-120"/>
              </a:rPr>
              <a:t>XGBoost 15,32% so với LightGBM 15,47%; chênh lệch </a:t>
            </a:r>
            <a:r>
              <a:rPr lang="en-US" sz="1440" dirty="0" err="1">
                <a:solidFill>
                  <a:srgbClr val="587083"/>
                </a:solidFill>
                <a:latin typeface="Arial" pitchFamily="34" charset="0"/>
                <a:ea typeface="Arial" pitchFamily="34" charset="-122"/>
                <a:cs typeface="Arial" pitchFamily="34" charset="-120"/>
              </a:rPr>
              <a:t>chỉ</a:t>
            </a:r>
            <a:r>
              <a:rPr lang="en-US" sz="1440" dirty="0">
                <a:solidFill>
                  <a:srgbClr val="587083"/>
                </a:solidFill>
                <a:latin typeface="Arial" pitchFamily="34" charset="0"/>
                <a:ea typeface="Arial" pitchFamily="34" charset="-122"/>
                <a:cs typeface="Arial" pitchFamily="34" charset="-120"/>
              </a:rPr>
              <a:t> 0,15%. </a:t>
            </a:r>
            <a:endParaRPr lang="en-US" sz="1440" dirty="0"/>
          </a:p>
        </p:txBody>
      </p:sp>
      <p:sp>
        <p:nvSpPr>
          <p:cNvPr id="15" name="Shape 13"/>
          <p:cNvSpPr/>
          <p:nvPr/>
        </p:nvSpPr>
        <p:spPr>
          <a:xfrm>
            <a:off x="4119372" y="3672337"/>
            <a:ext cx="7498080" cy="1508760"/>
          </a:xfrm>
          <a:prstGeom prst="roundRect">
            <a:avLst>
              <a:gd name="adj" fmla="val 9091"/>
            </a:avLst>
          </a:prstGeom>
          <a:solidFill>
            <a:srgbClr val="FFFFFF"/>
          </a:solidFill>
          <a:ln w="12700">
            <a:solidFill>
              <a:srgbClr val="FFFFFF">
                <a:alpha val="0"/>
              </a:srgbClr>
            </a:solidFill>
            <a:prstDash val="solid"/>
          </a:ln>
        </p:spPr>
        <p:txBody>
          <a:bodyPr/>
          <a:lstStyle/>
          <a:p>
            <a:endParaRPr/>
          </a:p>
        </p:txBody>
      </p:sp>
      <p:sp>
        <p:nvSpPr>
          <p:cNvPr id="16" name="Shape 14"/>
          <p:cNvSpPr/>
          <p:nvPr/>
        </p:nvSpPr>
        <p:spPr>
          <a:xfrm>
            <a:off x="4046583" y="3694176"/>
            <a:ext cx="68580" cy="1508760"/>
          </a:xfrm>
          <a:prstGeom prst="rect">
            <a:avLst/>
          </a:prstGeom>
          <a:solidFill>
            <a:srgbClr val="0D928B"/>
          </a:solidFill>
          <a:ln w="12700">
            <a:solidFill>
              <a:srgbClr val="0D928B"/>
            </a:solidFill>
            <a:prstDash val="solid"/>
          </a:ln>
        </p:spPr>
        <p:txBody>
          <a:bodyPr/>
          <a:lstStyle/>
          <a:p>
            <a:endParaRPr/>
          </a:p>
        </p:txBody>
      </p:sp>
      <p:sp>
        <p:nvSpPr>
          <p:cNvPr id="17" name="Text 15"/>
          <p:cNvSpPr/>
          <p:nvPr/>
        </p:nvSpPr>
        <p:spPr>
          <a:xfrm>
            <a:off x="4223004" y="3789833"/>
            <a:ext cx="7168896" cy="265176"/>
          </a:xfrm>
          <a:prstGeom prst="rect">
            <a:avLst/>
          </a:prstGeom>
          <a:noFill/>
          <a:ln/>
        </p:spPr>
        <p:txBody>
          <a:bodyPr wrap="square" lIns="0" tIns="0" rIns="0" bIns="0" rtlCol="0" anchor="ctr">
            <a:normAutofit/>
          </a:bodyPr>
          <a:lstStyle/>
          <a:p>
            <a:pPr marL="0" indent="0" algn="l">
              <a:buNone/>
            </a:pPr>
            <a:r>
              <a:rPr lang="en-US" sz="1670" b="1" dirty="0">
                <a:solidFill>
                  <a:srgbClr val="102639"/>
                </a:solidFill>
                <a:latin typeface="Arial" pitchFamily="34" charset="0"/>
                <a:ea typeface="Arial" pitchFamily="34" charset="-122"/>
                <a:cs typeface="Arial" pitchFamily="34" charset="-120"/>
              </a:rPr>
              <a:t>H30/H60: LightGBM tốt nhất</a:t>
            </a:r>
            <a:endParaRPr lang="en-US" sz="1670" dirty="0"/>
          </a:p>
        </p:txBody>
      </p:sp>
      <p:sp>
        <p:nvSpPr>
          <p:cNvPr id="18" name="Text 16"/>
          <p:cNvSpPr/>
          <p:nvPr/>
        </p:nvSpPr>
        <p:spPr>
          <a:xfrm>
            <a:off x="4223004" y="4197762"/>
            <a:ext cx="7159752" cy="950976"/>
          </a:xfrm>
          <a:prstGeom prst="rect">
            <a:avLst/>
          </a:prstGeom>
          <a:noFill/>
          <a:ln/>
        </p:spPr>
        <p:txBody>
          <a:bodyPr wrap="square" lIns="0" tIns="0" rIns="0" bIns="0" rtlCol="0" anchor="t">
            <a:normAutofit/>
          </a:bodyPr>
          <a:lstStyle/>
          <a:p>
            <a:pPr marL="0" indent="0" algn="l">
              <a:buNone/>
            </a:pPr>
            <a:r>
              <a:rPr lang="en-US" sz="1440" dirty="0">
                <a:solidFill>
                  <a:srgbClr val="587083"/>
                </a:solidFill>
                <a:latin typeface="Arial" pitchFamily="34" charset="0"/>
                <a:ea typeface="Arial" pitchFamily="34" charset="-122"/>
                <a:cs typeface="Arial" pitchFamily="34" charset="-120"/>
              </a:rPr>
              <a:t>Cả bốn trường hợp Car và Motorcycle ở H30/H60 đều có WMAPE nhỏ nhất với LightGBM.</a:t>
            </a:r>
            <a:endParaRPr lang="en-US" sz="14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a:extLst>
            <a:ext uri="{FF2B5EF4-FFF2-40B4-BE49-F238E27FC236}">
              <a16:creationId xmlns:a16="http://schemas.microsoft.com/office/drawing/2014/main" id="{AD3E508C-6D26-D23A-2842-EDEDB7366FB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C2E5A3A-CEAF-76BB-EC45-5ADF9928EA6A}"/>
              </a:ext>
            </a:extLst>
          </p:cNvPr>
          <p:cNvSpPr/>
          <p:nvPr/>
        </p:nvSpPr>
        <p:spPr>
          <a:xfrm>
            <a:off x="0" y="0"/>
            <a:ext cx="12191695" cy="73152"/>
          </a:xfrm>
          <a:prstGeom prst="rect">
            <a:avLst/>
          </a:prstGeom>
          <a:solidFill>
            <a:srgbClr val="0D928B"/>
          </a:solidFill>
          <a:ln w="12700">
            <a:solidFill>
              <a:srgbClr val="0D928B">
                <a:alpha val="0"/>
              </a:srgbClr>
            </a:solidFill>
            <a:prstDash val="solid"/>
          </a:ln>
        </p:spPr>
        <p:txBody>
          <a:bodyPr/>
          <a:lstStyle/>
          <a:p>
            <a:endParaRPr/>
          </a:p>
        </p:txBody>
      </p:sp>
      <p:sp>
        <p:nvSpPr>
          <p:cNvPr id="3" name="Text 1">
            <a:extLst>
              <a:ext uri="{FF2B5EF4-FFF2-40B4-BE49-F238E27FC236}">
                <a16:creationId xmlns:a16="http://schemas.microsoft.com/office/drawing/2014/main" id="{93BE2E67-45F9-D39D-8FF6-3C7FAB1DE651}"/>
              </a:ext>
            </a:extLst>
          </p:cNvPr>
          <p:cNvSpPr/>
          <p:nvPr/>
        </p:nvSpPr>
        <p:spPr>
          <a:xfrm>
            <a:off x="512064" y="320040"/>
            <a:ext cx="10058400" cy="192024"/>
          </a:xfrm>
          <a:prstGeom prst="rect">
            <a:avLst/>
          </a:prstGeom>
          <a:noFill/>
          <a:ln/>
        </p:spPr>
        <p:txBody>
          <a:bodyPr wrap="square" lIns="0" tIns="0" rIns="0" bIns="0" rtlCol="0" anchor="ctr">
            <a:normAutofit/>
          </a:bodyPr>
          <a:lstStyle/>
          <a:p>
            <a:pPr marL="0" indent="0" algn="l">
              <a:buNone/>
            </a:pPr>
            <a:r>
              <a:rPr lang="en-US" sz="1020" b="1" kern="0" spc="150" dirty="0">
                <a:solidFill>
                  <a:srgbClr val="08756F"/>
                </a:solidFill>
                <a:latin typeface="Arial" pitchFamily="34" charset="0"/>
                <a:ea typeface="Arial" pitchFamily="34" charset="-122"/>
                <a:cs typeface="Arial" pitchFamily="34" charset="-120"/>
              </a:rPr>
              <a:t>03 · XÂY DỰNG VÀ LỰA CHỌN MÔ HÌNH</a:t>
            </a:r>
            <a:endParaRPr lang="en-US" sz="1020" dirty="0"/>
          </a:p>
        </p:txBody>
      </p:sp>
      <p:sp>
        <p:nvSpPr>
          <p:cNvPr id="4" name="Text 2">
            <a:extLst>
              <a:ext uri="{FF2B5EF4-FFF2-40B4-BE49-F238E27FC236}">
                <a16:creationId xmlns:a16="http://schemas.microsoft.com/office/drawing/2014/main" id="{C6796EAB-078C-AF49-7485-44B65AE0E0AE}"/>
              </a:ext>
            </a:extLst>
          </p:cNvPr>
          <p:cNvSpPr/>
          <p:nvPr/>
        </p:nvSpPr>
        <p:spPr>
          <a:xfrm>
            <a:off x="512064" y="658368"/>
            <a:ext cx="11137392" cy="722376"/>
          </a:xfrm>
          <a:prstGeom prst="rect">
            <a:avLst/>
          </a:prstGeom>
          <a:noFill/>
          <a:ln/>
        </p:spPr>
        <p:txBody>
          <a:bodyPr wrap="square" lIns="0" tIns="0" rIns="0" bIns="0" rtlCol="0" anchor="t">
            <a:normAutofit/>
          </a:bodyPr>
          <a:lstStyle/>
          <a:p>
            <a:pPr marL="0" indent="0" algn="l">
              <a:buNone/>
            </a:pPr>
            <a:r>
              <a:rPr lang="en-US" sz="2650" b="1" dirty="0" err="1">
                <a:solidFill>
                  <a:srgbClr val="102639"/>
                </a:solidFill>
                <a:latin typeface="Arial" pitchFamily="34" charset="0"/>
                <a:ea typeface="Arial" pitchFamily="34" charset="-122"/>
                <a:cs typeface="Arial" pitchFamily="34" charset="-120"/>
              </a:rPr>
              <a:t>Kết</a:t>
            </a:r>
            <a:r>
              <a:rPr lang="en-US" sz="2650" b="1" dirty="0">
                <a:solidFill>
                  <a:srgbClr val="102639"/>
                </a:solidFill>
                <a:latin typeface="Arial" pitchFamily="34" charset="0"/>
                <a:ea typeface="Arial" pitchFamily="34" charset="-122"/>
                <a:cs typeface="Arial" pitchFamily="34" charset="-120"/>
              </a:rPr>
              <a:t> </a:t>
            </a:r>
            <a:r>
              <a:rPr lang="en-US" sz="2650" b="1" dirty="0" err="1">
                <a:solidFill>
                  <a:srgbClr val="102639"/>
                </a:solidFill>
                <a:latin typeface="Arial" pitchFamily="34" charset="0"/>
                <a:ea typeface="Arial" pitchFamily="34" charset="-122"/>
                <a:cs typeface="Arial" pitchFamily="34" charset="-120"/>
              </a:rPr>
              <a:t>quả</a:t>
            </a:r>
            <a:r>
              <a:rPr lang="en-US" sz="2650" b="1" dirty="0">
                <a:solidFill>
                  <a:srgbClr val="102639"/>
                </a:solidFill>
                <a:latin typeface="Arial" pitchFamily="34" charset="0"/>
                <a:ea typeface="Arial" pitchFamily="34" charset="-122"/>
                <a:cs typeface="Arial" pitchFamily="34" charset="-120"/>
              </a:rPr>
              <a:t> so </a:t>
            </a:r>
            <a:r>
              <a:rPr lang="en-US" sz="2650" b="1" dirty="0" err="1">
                <a:solidFill>
                  <a:srgbClr val="102639"/>
                </a:solidFill>
                <a:latin typeface="Arial" pitchFamily="34" charset="0"/>
                <a:ea typeface="Arial" pitchFamily="34" charset="-122"/>
                <a:cs typeface="Arial" pitchFamily="34" charset="-120"/>
              </a:rPr>
              <a:t>sánh</a:t>
            </a:r>
            <a:endParaRPr lang="en-US" sz="2650" dirty="0"/>
          </a:p>
        </p:txBody>
      </p:sp>
      <p:sp>
        <p:nvSpPr>
          <p:cNvPr id="5" name="Shape 3">
            <a:extLst>
              <a:ext uri="{FF2B5EF4-FFF2-40B4-BE49-F238E27FC236}">
                <a16:creationId xmlns:a16="http://schemas.microsoft.com/office/drawing/2014/main" id="{31BA8790-9BE7-AB8C-DBF7-CC586043ADCA}"/>
              </a:ext>
            </a:extLst>
          </p:cNvPr>
          <p:cNvSpPr/>
          <p:nvPr/>
        </p:nvSpPr>
        <p:spPr>
          <a:xfrm>
            <a:off x="512064" y="6528816"/>
            <a:ext cx="11173968" cy="0"/>
          </a:xfrm>
          <a:prstGeom prst="line">
            <a:avLst/>
          </a:prstGeom>
          <a:noFill/>
          <a:ln w="7620">
            <a:solidFill>
              <a:srgbClr val="D9E1E8"/>
            </a:solidFill>
            <a:prstDash val="solid"/>
          </a:ln>
        </p:spPr>
        <p:txBody>
          <a:bodyPr/>
          <a:lstStyle/>
          <a:p>
            <a:endParaRPr/>
          </a:p>
        </p:txBody>
      </p:sp>
      <p:sp>
        <p:nvSpPr>
          <p:cNvPr id="7" name="Text 5">
            <a:extLst>
              <a:ext uri="{FF2B5EF4-FFF2-40B4-BE49-F238E27FC236}">
                <a16:creationId xmlns:a16="http://schemas.microsoft.com/office/drawing/2014/main" id="{9DEA4644-CDD4-31A3-A271-695C78FC7A3B}"/>
              </a:ext>
            </a:extLst>
          </p:cNvPr>
          <p:cNvSpPr/>
          <p:nvPr/>
        </p:nvSpPr>
        <p:spPr>
          <a:xfrm>
            <a:off x="11292840" y="6556248"/>
            <a:ext cx="384048" cy="210312"/>
          </a:xfrm>
          <a:prstGeom prst="rect">
            <a:avLst/>
          </a:prstGeom>
          <a:noFill/>
          <a:ln/>
        </p:spPr>
        <p:txBody>
          <a:bodyPr wrap="square" lIns="0" tIns="0" rIns="0" bIns="0" rtlCol="0" anchor="ctr">
            <a:normAutofit/>
          </a:bodyPr>
          <a:lstStyle/>
          <a:p>
            <a:pPr marL="0" indent="0" algn="r">
              <a:buNone/>
            </a:pPr>
            <a:r>
              <a:rPr lang="en-US" sz="1100" b="1" dirty="0">
                <a:solidFill>
                  <a:srgbClr val="587083"/>
                </a:solidFill>
                <a:latin typeface="Arial" pitchFamily="34" charset="0"/>
                <a:ea typeface="Arial" pitchFamily="34" charset="-122"/>
                <a:cs typeface="Arial" pitchFamily="34" charset="-120"/>
              </a:rPr>
              <a:t>06</a:t>
            </a:r>
          </a:p>
        </p:txBody>
      </p:sp>
      <p:pic>
        <p:nvPicPr>
          <p:cNvPr id="23" name="Picture 22">
            <a:extLst>
              <a:ext uri="{FF2B5EF4-FFF2-40B4-BE49-F238E27FC236}">
                <a16:creationId xmlns:a16="http://schemas.microsoft.com/office/drawing/2014/main" id="{19CB8936-7775-9DAD-9F6A-CCBA7FD75628}"/>
              </a:ext>
            </a:extLst>
          </p:cNvPr>
          <p:cNvPicPr>
            <a:picLocks noChangeAspect="1"/>
          </p:cNvPicPr>
          <p:nvPr/>
        </p:nvPicPr>
        <p:blipFill>
          <a:blip r:embed="rId3"/>
          <a:stretch>
            <a:fillRect/>
          </a:stretch>
        </p:blipFill>
        <p:spPr>
          <a:xfrm>
            <a:off x="548639" y="1612606"/>
            <a:ext cx="4360711" cy="2502189"/>
          </a:xfrm>
          <a:prstGeom prst="rect">
            <a:avLst/>
          </a:prstGeom>
        </p:spPr>
      </p:pic>
      <p:pic>
        <p:nvPicPr>
          <p:cNvPr id="25" name="Picture 24">
            <a:extLst>
              <a:ext uri="{FF2B5EF4-FFF2-40B4-BE49-F238E27FC236}">
                <a16:creationId xmlns:a16="http://schemas.microsoft.com/office/drawing/2014/main" id="{83934085-37CE-FD39-DC40-F26E2FE1274B}"/>
              </a:ext>
            </a:extLst>
          </p:cNvPr>
          <p:cNvPicPr>
            <a:picLocks noChangeAspect="1"/>
          </p:cNvPicPr>
          <p:nvPr/>
        </p:nvPicPr>
        <p:blipFill>
          <a:blip r:embed="rId4"/>
          <a:stretch>
            <a:fillRect/>
          </a:stretch>
        </p:blipFill>
        <p:spPr>
          <a:xfrm>
            <a:off x="512063" y="4133083"/>
            <a:ext cx="4397287" cy="2296016"/>
          </a:xfrm>
          <a:prstGeom prst="rect">
            <a:avLst/>
          </a:prstGeom>
        </p:spPr>
      </p:pic>
      <p:pic>
        <p:nvPicPr>
          <p:cNvPr id="27" name="Picture 26">
            <a:extLst>
              <a:ext uri="{FF2B5EF4-FFF2-40B4-BE49-F238E27FC236}">
                <a16:creationId xmlns:a16="http://schemas.microsoft.com/office/drawing/2014/main" id="{950BA0C5-6657-7644-CC93-6062235207E0}"/>
              </a:ext>
            </a:extLst>
          </p:cNvPr>
          <p:cNvPicPr>
            <a:picLocks noChangeAspect="1"/>
          </p:cNvPicPr>
          <p:nvPr/>
        </p:nvPicPr>
        <p:blipFill>
          <a:blip r:embed="rId5"/>
          <a:stretch>
            <a:fillRect/>
          </a:stretch>
        </p:blipFill>
        <p:spPr>
          <a:xfrm>
            <a:off x="5970321" y="1594969"/>
            <a:ext cx="4425429" cy="2613043"/>
          </a:xfrm>
          <a:prstGeom prst="rect">
            <a:avLst/>
          </a:prstGeom>
        </p:spPr>
      </p:pic>
      <p:graphicFrame>
        <p:nvGraphicFramePr>
          <p:cNvPr id="31" name="Table 30">
            <a:extLst>
              <a:ext uri="{FF2B5EF4-FFF2-40B4-BE49-F238E27FC236}">
                <a16:creationId xmlns:a16="http://schemas.microsoft.com/office/drawing/2014/main" id="{B9AB1F8F-02EB-B02E-E82A-D04C13CA3913}"/>
              </a:ext>
            </a:extLst>
          </p:cNvPr>
          <p:cNvGraphicFramePr>
            <a:graphicFrameLocks noGrp="1"/>
          </p:cNvGraphicFramePr>
          <p:nvPr>
            <p:extLst>
              <p:ext uri="{D42A27DB-BD31-4B8C-83A1-F6EECF244321}">
                <p14:modId xmlns:p14="http://schemas.microsoft.com/office/powerpoint/2010/main" val="3508121833"/>
              </p:ext>
            </p:extLst>
          </p:nvPr>
        </p:nvGraphicFramePr>
        <p:xfrm>
          <a:off x="548640" y="1231899"/>
          <a:ext cx="4360711" cy="370840"/>
        </p:xfrm>
        <a:graphic>
          <a:graphicData uri="http://schemas.openxmlformats.org/drawingml/2006/table">
            <a:tbl>
              <a:tblPr firstRow="1" bandRow="1">
                <a:tableStyleId>{5C22544A-7EE6-4342-B048-85BDC9FD1C3A}</a:tableStyleId>
              </a:tblPr>
              <a:tblGrid>
                <a:gridCol w="735531">
                  <a:extLst>
                    <a:ext uri="{9D8B030D-6E8A-4147-A177-3AD203B41FA5}">
                      <a16:colId xmlns:a16="http://schemas.microsoft.com/office/drawing/2014/main" val="3127057074"/>
                    </a:ext>
                  </a:extLst>
                </a:gridCol>
                <a:gridCol w="819837">
                  <a:extLst>
                    <a:ext uri="{9D8B030D-6E8A-4147-A177-3AD203B41FA5}">
                      <a16:colId xmlns:a16="http://schemas.microsoft.com/office/drawing/2014/main" val="1493393088"/>
                    </a:ext>
                  </a:extLst>
                </a:gridCol>
                <a:gridCol w="1065320">
                  <a:extLst>
                    <a:ext uri="{9D8B030D-6E8A-4147-A177-3AD203B41FA5}">
                      <a16:colId xmlns:a16="http://schemas.microsoft.com/office/drawing/2014/main" val="2602580096"/>
                    </a:ext>
                  </a:extLst>
                </a:gridCol>
                <a:gridCol w="626221">
                  <a:extLst>
                    <a:ext uri="{9D8B030D-6E8A-4147-A177-3AD203B41FA5}">
                      <a16:colId xmlns:a16="http://schemas.microsoft.com/office/drawing/2014/main" val="3421068556"/>
                    </a:ext>
                  </a:extLst>
                </a:gridCol>
                <a:gridCol w="634408">
                  <a:extLst>
                    <a:ext uri="{9D8B030D-6E8A-4147-A177-3AD203B41FA5}">
                      <a16:colId xmlns:a16="http://schemas.microsoft.com/office/drawing/2014/main" val="48406361"/>
                    </a:ext>
                  </a:extLst>
                </a:gridCol>
                <a:gridCol w="479394">
                  <a:extLst>
                    <a:ext uri="{9D8B030D-6E8A-4147-A177-3AD203B41FA5}">
                      <a16:colId xmlns:a16="http://schemas.microsoft.com/office/drawing/2014/main" val="1282265365"/>
                    </a:ext>
                  </a:extLst>
                </a:gridCol>
              </a:tblGrid>
              <a:tr h="370840">
                <a:tc>
                  <a:txBody>
                    <a:bodyPr/>
                    <a:lstStyle/>
                    <a:p>
                      <a:r>
                        <a:rPr lang="en-US" sz="900" dirty="0"/>
                        <a:t>mode</a:t>
                      </a:r>
                    </a:p>
                  </a:txBody>
                  <a:tcPr/>
                </a:tc>
                <a:tc>
                  <a:txBody>
                    <a:bodyPr/>
                    <a:lstStyle/>
                    <a:p>
                      <a:r>
                        <a:rPr lang="en-US" sz="900" dirty="0"/>
                        <a:t>method</a:t>
                      </a:r>
                    </a:p>
                  </a:txBody>
                  <a:tcPr/>
                </a:tc>
                <a:tc>
                  <a:txBody>
                    <a:bodyPr/>
                    <a:lstStyle/>
                    <a:p>
                      <a:r>
                        <a:rPr lang="en-US" sz="900" dirty="0"/>
                        <a:t>VAL-WMAPE</a:t>
                      </a:r>
                    </a:p>
                  </a:txBody>
                  <a:tcPr/>
                </a:tc>
                <a:tc>
                  <a:txBody>
                    <a:bodyPr/>
                    <a:lstStyle/>
                    <a:p>
                      <a:r>
                        <a:rPr lang="en-US" sz="900" dirty="0"/>
                        <a:t>TEST-WMAPE</a:t>
                      </a:r>
                    </a:p>
                  </a:txBody>
                  <a:tcPr/>
                </a:tc>
                <a:tc>
                  <a:txBody>
                    <a:bodyPr/>
                    <a:lstStyle/>
                    <a:p>
                      <a:r>
                        <a:rPr lang="en-US" sz="900" dirty="0"/>
                        <a:t>Horizon</a:t>
                      </a:r>
                    </a:p>
                  </a:txBody>
                  <a:tcPr/>
                </a:tc>
                <a:tc>
                  <a:txBody>
                    <a:bodyPr/>
                    <a:lstStyle/>
                    <a:p>
                      <a:r>
                        <a:rPr lang="en-US" sz="900" dirty="0"/>
                        <a:t>type</a:t>
                      </a:r>
                    </a:p>
                  </a:txBody>
                  <a:tcPr/>
                </a:tc>
                <a:extLst>
                  <a:ext uri="{0D108BD9-81ED-4DB2-BD59-A6C34878D82A}">
                    <a16:rowId xmlns:a16="http://schemas.microsoft.com/office/drawing/2014/main" val="1102874836"/>
                  </a:ext>
                </a:extLst>
              </a:tr>
            </a:tbl>
          </a:graphicData>
        </a:graphic>
      </p:graphicFrame>
      <p:graphicFrame>
        <p:nvGraphicFramePr>
          <p:cNvPr id="32" name="Table 31">
            <a:extLst>
              <a:ext uri="{FF2B5EF4-FFF2-40B4-BE49-F238E27FC236}">
                <a16:creationId xmlns:a16="http://schemas.microsoft.com/office/drawing/2014/main" id="{33FB98B1-800D-976E-A907-EE4B73C6FE3C}"/>
              </a:ext>
            </a:extLst>
          </p:cNvPr>
          <p:cNvGraphicFramePr>
            <a:graphicFrameLocks noGrp="1"/>
          </p:cNvGraphicFramePr>
          <p:nvPr>
            <p:extLst>
              <p:ext uri="{D42A27DB-BD31-4B8C-83A1-F6EECF244321}">
                <p14:modId xmlns:p14="http://schemas.microsoft.com/office/powerpoint/2010/main" val="4255915752"/>
              </p:ext>
            </p:extLst>
          </p:nvPr>
        </p:nvGraphicFramePr>
        <p:xfrm>
          <a:off x="5970320" y="1233576"/>
          <a:ext cx="4360711" cy="370840"/>
        </p:xfrm>
        <a:graphic>
          <a:graphicData uri="http://schemas.openxmlformats.org/drawingml/2006/table">
            <a:tbl>
              <a:tblPr firstRow="1" bandRow="1">
                <a:tableStyleId>{5C22544A-7EE6-4342-B048-85BDC9FD1C3A}</a:tableStyleId>
              </a:tblPr>
              <a:tblGrid>
                <a:gridCol w="735531">
                  <a:extLst>
                    <a:ext uri="{9D8B030D-6E8A-4147-A177-3AD203B41FA5}">
                      <a16:colId xmlns:a16="http://schemas.microsoft.com/office/drawing/2014/main" val="3127057074"/>
                    </a:ext>
                  </a:extLst>
                </a:gridCol>
                <a:gridCol w="819837">
                  <a:extLst>
                    <a:ext uri="{9D8B030D-6E8A-4147-A177-3AD203B41FA5}">
                      <a16:colId xmlns:a16="http://schemas.microsoft.com/office/drawing/2014/main" val="1493393088"/>
                    </a:ext>
                  </a:extLst>
                </a:gridCol>
                <a:gridCol w="1065320">
                  <a:extLst>
                    <a:ext uri="{9D8B030D-6E8A-4147-A177-3AD203B41FA5}">
                      <a16:colId xmlns:a16="http://schemas.microsoft.com/office/drawing/2014/main" val="2602580096"/>
                    </a:ext>
                  </a:extLst>
                </a:gridCol>
                <a:gridCol w="626221">
                  <a:extLst>
                    <a:ext uri="{9D8B030D-6E8A-4147-A177-3AD203B41FA5}">
                      <a16:colId xmlns:a16="http://schemas.microsoft.com/office/drawing/2014/main" val="3421068556"/>
                    </a:ext>
                  </a:extLst>
                </a:gridCol>
                <a:gridCol w="634408">
                  <a:extLst>
                    <a:ext uri="{9D8B030D-6E8A-4147-A177-3AD203B41FA5}">
                      <a16:colId xmlns:a16="http://schemas.microsoft.com/office/drawing/2014/main" val="48406361"/>
                    </a:ext>
                  </a:extLst>
                </a:gridCol>
                <a:gridCol w="479394">
                  <a:extLst>
                    <a:ext uri="{9D8B030D-6E8A-4147-A177-3AD203B41FA5}">
                      <a16:colId xmlns:a16="http://schemas.microsoft.com/office/drawing/2014/main" val="1282265365"/>
                    </a:ext>
                  </a:extLst>
                </a:gridCol>
              </a:tblGrid>
              <a:tr h="370840">
                <a:tc>
                  <a:txBody>
                    <a:bodyPr/>
                    <a:lstStyle/>
                    <a:p>
                      <a:r>
                        <a:rPr lang="en-US" sz="900" dirty="0"/>
                        <a:t>mode</a:t>
                      </a:r>
                    </a:p>
                  </a:txBody>
                  <a:tcPr/>
                </a:tc>
                <a:tc>
                  <a:txBody>
                    <a:bodyPr/>
                    <a:lstStyle/>
                    <a:p>
                      <a:r>
                        <a:rPr lang="en-US" sz="900" dirty="0"/>
                        <a:t>method</a:t>
                      </a:r>
                    </a:p>
                  </a:txBody>
                  <a:tcPr/>
                </a:tc>
                <a:tc>
                  <a:txBody>
                    <a:bodyPr/>
                    <a:lstStyle/>
                    <a:p>
                      <a:r>
                        <a:rPr lang="en-US" sz="900" dirty="0"/>
                        <a:t>VAL-WMAPE</a:t>
                      </a:r>
                    </a:p>
                  </a:txBody>
                  <a:tcPr/>
                </a:tc>
                <a:tc>
                  <a:txBody>
                    <a:bodyPr/>
                    <a:lstStyle/>
                    <a:p>
                      <a:r>
                        <a:rPr lang="en-US" sz="900" dirty="0"/>
                        <a:t>TEST-WMAPE</a:t>
                      </a:r>
                    </a:p>
                  </a:txBody>
                  <a:tcPr/>
                </a:tc>
                <a:tc>
                  <a:txBody>
                    <a:bodyPr/>
                    <a:lstStyle/>
                    <a:p>
                      <a:r>
                        <a:rPr lang="en-US" sz="900" dirty="0"/>
                        <a:t>Horizon</a:t>
                      </a:r>
                    </a:p>
                  </a:txBody>
                  <a:tcPr/>
                </a:tc>
                <a:tc>
                  <a:txBody>
                    <a:bodyPr/>
                    <a:lstStyle/>
                    <a:p>
                      <a:r>
                        <a:rPr lang="en-US" sz="900" dirty="0"/>
                        <a:t>type</a:t>
                      </a:r>
                    </a:p>
                  </a:txBody>
                  <a:tcPr/>
                </a:tc>
                <a:extLst>
                  <a:ext uri="{0D108BD9-81ED-4DB2-BD59-A6C34878D82A}">
                    <a16:rowId xmlns:a16="http://schemas.microsoft.com/office/drawing/2014/main" val="1102874836"/>
                  </a:ext>
                </a:extLst>
              </a:tr>
            </a:tbl>
          </a:graphicData>
        </a:graphic>
      </p:graphicFrame>
    </p:spTree>
    <p:extLst>
      <p:ext uri="{BB962C8B-B14F-4D97-AF65-F5344CB8AC3E}">
        <p14:creationId xmlns:p14="http://schemas.microsoft.com/office/powerpoint/2010/main" val="508442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03 · XÂY DỰNG VÀ LỰA CHỌN MÔ HÌNH</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t>Đặc trưng được kiểm tra trên VALIDATION trước khi chốt cấu hình</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07</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Thử loại từng đặc trưng rồi huấn luyện lại để đo mức thay đổi WMAPE. Đặc trưng có ích giúp mô hình giảm sai số.</a:t>
            </a:r>
          </a:p>
        </p:txBody>
      </p:sp>
      <p:pic>
        <p:nvPicPr>
          <p:cNvPr id="8" name="Picture 7" descr="report_05.png"/>
          <p:cNvPicPr>
            <a:picLocks noChangeAspect="1"/>
          </p:cNvPicPr>
          <p:nvPr/>
        </p:nvPicPr>
        <p:blipFill>
          <a:blip r:embed="rId2"/>
          <a:stretch>
            <a:fillRect/>
          </a:stretch>
        </p:blipFill>
        <p:spPr>
          <a:xfrm>
            <a:off x="921460" y="1975104"/>
            <a:ext cx="10373462" cy="3502152"/>
          </a:xfrm>
          <a:prstGeom prst="rect">
            <a:avLst/>
          </a:prstGeom>
        </p:spPr>
      </p:pic>
      <p:sp>
        <p:nvSpPr>
          <p:cNvPr id="9" name="Rounded Rectangle 8"/>
          <p:cNvSpPr/>
          <p:nvPr/>
        </p:nvSpPr>
        <p:spPr>
          <a:xfrm>
            <a:off x="704088" y="5577840"/>
            <a:ext cx="10835640" cy="64008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04088" y="5577840"/>
            <a:ext cx="64008" cy="6400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3544" y="5687568"/>
            <a:ext cx="10332720" cy="384048"/>
          </a:xfrm>
          <a:prstGeom prst="rect">
            <a:avLst/>
          </a:prstGeom>
          <a:noFill/>
        </p:spPr>
        <p:txBody>
          <a:bodyPr wrap="square" lIns="18288" tIns="18288" rIns="18288" bIns="0">
            <a:spAutoFit/>
          </a:bodyPr>
          <a:lstStyle/>
          <a:p>
            <a:pPr>
              <a:spcBef>
                <a:spcPts val="0"/>
              </a:spcBef>
              <a:spcAft>
                <a:spcPts val="0"/>
              </a:spcAft>
              <a:defRPr sz="1560" b="0">
                <a:solidFill>
                  <a:srgbClr val="102A39"/>
                </a:solidFill>
                <a:latin typeface="Arial"/>
              </a:defRPr>
            </a:pPr>
            <a:r>
              <a:t>Các tín hiệu lịch sử gần được giữ lại; hiệu quả của cấu hình cuối được xác nhận riêng bằng kết quả đánh giá mô hình.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03 · XÂY DỰNG VÀ LỰA CHỌN MÔ HÌNH</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t>Chốt các mô hình LightGBM độc lập theo loại xe và khoảng dự báo</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08</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Mỗi mô hình ước lượng trực tiếp tổng yêu cầu trong khoảng dự báo, không sử dụng kết quả H10 để suy tiếp H30 và H60.</a:t>
            </a:r>
          </a:p>
        </p:txBody>
      </p:sp>
      <p:pic>
        <p:nvPicPr>
          <p:cNvPr id="8" name="Picture 7" descr="report_09.png"/>
          <p:cNvPicPr>
            <a:picLocks noChangeAspect="1"/>
          </p:cNvPicPr>
          <p:nvPr/>
        </p:nvPicPr>
        <p:blipFill>
          <a:blip r:embed="rId2"/>
          <a:stretch>
            <a:fillRect/>
          </a:stretch>
        </p:blipFill>
        <p:spPr>
          <a:xfrm>
            <a:off x="1783683" y="2029968"/>
            <a:ext cx="8630728" cy="3182112"/>
          </a:xfrm>
          <a:prstGeom prst="rect">
            <a:avLst/>
          </a:prstGeom>
        </p:spPr>
      </p:pic>
      <p:sp>
        <p:nvSpPr>
          <p:cNvPr id="9" name="Rounded Rectangle 8"/>
          <p:cNvSpPr/>
          <p:nvPr/>
        </p:nvSpPr>
        <p:spPr>
          <a:xfrm>
            <a:off x="713232" y="5376672"/>
            <a:ext cx="10744200" cy="81381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13232" y="5376672"/>
            <a:ext cx="64008" cy="813816"/>
          </a:xfrm>
          <a:prstGeom prst="rect">
            <a:avLst/>
          </a:prstGeom>
          <a:solidFill>
            <a:srgbClr val="E2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5532120"/>
            <a:ext cx="10149840" cy="466344"/>
          </a:xfrm>
          <a:prstGeom prst="rect">
            <a:avLst/>
          </a:prstGeom>
          <a:noFill/>
        </p:spPr>
        <p:txBody>
          <a:bodyPr wrap="square" lIns="18288" tIns="18288" rIns="18288" bIns="0">
            <a:spAutoFit/>
          </a:bodyPr>
          <a:lstStyle/>
          <a:p>
            <a:pPr>
              <a:spcBef>
                <a:spcPts val="0"/>
              </a:spcBef>
              <a:spcAft>
                <a:spcPts val="0"/>
              </a:spcAft>
              <a:defRPr sz="1620" b="0">
                <a:solidFill>
                  <a:srgbClr val="102A39"/>
                </a:solidFill>
                <a:latin typeface="Arial"/>
              </a:defRPr>
            </a:pPr>
            <a:r>
              <a:t>Bảng cấu hình gốc thể hiện số đặc trưng, số cây, số lá và số mẫu huấn luyện tương ứng cho từng mô hình.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04 · ĐÁNH GIÁ KẾT QUẢ DỰ BÁO</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t>Kết quả TEST xác nhận mô hình đáp ứng mục tiêu WMAPE</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09</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Bảng gốc trong báo cáo đối chiếu kết quả của sáu mô hình trên tập TEST và giai đoạn HOLDOUT giả lập mới.</a:t>
            </a:r>
          </a:p>
        </p:txBody>
      </p:sp>
      <p:sp>
        <p:nvSpPr>
          <p:cNvPr id="9" name="Rounded Rectangle 8"/>
          <p:cNvSpPr/>
          <p:nvPr/>
        </p:nvSpPr>
        <p:spPr>
          <a:xfrm>
            <a:off x="713232" y="4544568"/>
            <a:ext cx="3465576"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4690872"/>
            <a:ext cx="3136392" cy="265176"/>
          </a:xfrm>
          <a:prstGeom prst="rect">
            <a:avLst/>
          </a:prstGeom>
          <a:noFill/>
        </p:spPr>
        <p:txBody>
          <a:bodyPr wrap="square" lIns="18288" tIns="18288" rIns="18288" bIns="0">
            <a:spAutoFit/>
          </a:bodyPr>
          <a:lstStyle/>
          <a:p>
            <a:pPr>
              <a:spcBef>
                <a:spcPts val="0"/>
              </a:spcBef>
              <a:spcAft>
                <a:spcPts val="0"/>
              </a:spcAft>
              <a:defRPr sz="1200" b="1">
                <a:solidFill>
                  <a:srgbClr val="009587"/>
                </a:solidFill>
                <a:latin typeface="Arial"/>
              </a:defRPr>
            </a:pPr>
            <a:r>
              <a:t>ĐÁNH GIÁ ĐỘC LẬP</a:t>
            </a:r>
          </a:p>
        </p:txBody>
      </p:sp>
      <p:sp>
        <p:nvSpPr>
          <p:cNvPr id="11" name="TextBox 10"/>
          <p:cNvSpPr txBox="1"/>
          <p:nvPr/>
        </p:nvSpPr>
        <p:spPr>
          <a:xfrm>
            <a:off x="886968" y="5020056"/>
            <a:ext cx="3136392" cy="960120"/>
          </a:xfrm>
          <a:prstGeom prst="rect">
            <a:avLst/>
          </a:prstGeom>
          <a:noFill/>
        </p:spPr>
        <p:txBody>
          <a:bodyPr wrap="square" lIns="18288" tIns="18288" rIns="18288" bIns="0">
            <a:spAutoFit/>
          </a:bodyPr>
          <a:lstStyle/>
          <a:p>
            <a:pPr>
              <a:spcBef>
                <a:spcPts val="0"/>
              </a:spcBef>
              <a:spcAft>
                <a:spcPts val="0"/>
              </a:spcAft>
              <a:defRPr sz="1420" b="0">
                <a:solidFill>
                  <a:srgbClr val="102A39"/>
                </a:solidFill>
                <a:latin typeface="Arial"/>
              </a:defRPr>
            </a:pPr>
            <a:r>
              <a:t>TEST chỉ dùng để xác nhận chất lượng sau khi đã chốt thuật toán và đặc trưng.</a:t>
            </a:r>
          </a:p>
        </p:txBody>
      </p:sp>
      <p:sp>
        <p:nvSpPr>
          <p:cNvPr id="12" name="Rounded Rectangle 11"/>
          <p:cNvSpPr/>
          <p:nvPr/>
        </p:nvSpPr>
        <p:spPr>
          <a:xfrm>
            <a:off x="4361688" y="4544568"/>
            <a:ext cx="3465576"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35424" y="4690872"/>
            <a:ext cx="3136392" cy="265176"/>
          </a:xfrm>
          <a:prstGeom prst="rect">
            <a:avLst/>
          </a:prstGeom>
          <a:noFill/>
        </p:spPr>
        <p:txBody>
          <a:bodyPr wrap="square" lIns="18288" tIns="18288" rIns="18288" bIns="0">
            <a:spAutoFit/>
          </a:bodyPr>
          <a:lstStyle/>
          <a:p>
            <a:pPr>
              <a:spcBef>
                <a:spcPts val="0"/>
              </a:spcBef>
              <a:spcAft>
                <a:spcPts val="0"/>
              </a:spcAft>
              <a:defRPr sz="1200" b="1">
                <a:solidFill>
                  <a:srgbClr val="E2963A"/>
                </a:solidFill>
                <a:latin typeface="Arial"/>
              </a:defRPr>
            </a:pPr>
            <a:r>
              <a:t>KIỂM TRA BỔ SUNG</a:t>
            </a:r>
          </a:p>
        </p:txBody>
      </p:sp>
      <p:sp>
        <p:nvSpPr>
          <p:cNvPr id="14" name="TextBox 13"/>
          <p:cNvSpPr txBox="1"/>
          <p:nvPr/>
        </p:nvSpPr>
        <p:spPr>
          <a:xfrm>
            <a:off x="4535424" y="5020056"/>
            <a:ext cx="3136392" cy="674031"/>
          </a:xfrm>
          <a:prstGeom prst="rect">
            <a:avLst/>
          </a:prstGeom>
          <a:noFill/>
        </p:spPr>
        <p:txBody>
          <a:bodyPr wrap="square" lIns="18288" tIns="18288" rIns="18288" bIns="0">
            <a:spAutoFit/>
          </a:bodyPr>
          <a:lstStyle/>
          <a:p>
            <a:pPr>
              <a:spcBef>
                <a:spcPts val="0"/>
              </a:spcBef>
              <a:spcAft>
                <a:spcPts val="0"/>
              </a:spcAft>
              <a:defRPr sz="1420" b="0">
                <a:solidFill>
                  <a:srgbClr val="102A39"/>
                </a:solidFill>
                <a:latin typeface="Arial"/>
              </a:defRPr>
            </a:pPr>
            <a:r>
              <a:rPr dirty="0"/>
              <a:t>HOLDOUT </a:t>
            </a:r>
            <a:r>
              <a:rPr dirty="0" err="1"/>
              <a:t>được</a:t>
            </a:r>
            <a:r>
              <a:rPr dirty="0"/>
              <a:t> </a:t>
            </a:r>
            <a:r>
              <a:rPr dirty="0" err="1"/>
              <a:t>tạo</a:t>
            </a:r>
            <a:r>
              <a:rPr dirty="0"/>
              <a:t> </a:t>
            </a:r>
            <a:r>
              <a:rPr dirty="0" err="1"/>
              <a:t>sau</a:t>
            </a:r>
            <a:r>
              <a:rPr dirty="0"/>
              <a:t> </a:t>
            </a:r>
            <a:r>
              <a:rPr dirty="0" err="1"/>
              <a:t>giai</a:t>
            </a:r>
            <a:r>
              <a:rPr dirty="0"/>
              <a:t> </a:t>
            </a:r>
            <a:r>
              <a:rPr dirty="0" err="1"/>
              <a:t>đoạn</a:t>
            </a:r>
            <a:r>
              <a:rPr dirty="0"/>
              <a:t> TEST</a:t>
            </a:r>
            <a:r>
              <a:rPr lang="en-US" dirty="0"/>
              <a:t> </a:t>
            </a:r>
            <a:r>
              <a:rPr lang="en-US" dirty="0" err="1"/>
              <a:t>dùng</a:t>
            </a:r>
            <a:r>
              <a:rPr lang="en-US" dirty="0"/>
              <a:t> để </a:t>
            </a:r>
            <a:r>
              <a:rPr lang="en-US" dirty="0" err="1"/>
              <a:t>kiểm</a:t>
            </a:r>
            <a:r>
              <a:rPr lang="en-US" dirty="0"/>
              <a:t> </a:t>
            </a:r>
            <a:r>
              <a:rPr lang="en-US" dirty="0" err="1"/>
              <a:t>tra</a:t>
            </a:r>
            <a:r>
              <a:rPr lang="en-US" dirty="0"/>
              <a:t> </a:t>
            </a:r>
            <a:r>
              <a:rPr lang="en-US" dirty="0" err="1"/>
              <a:t>bổ</a:t>
            </a:r>
            <a:r>
              <a:rPr lang="en-US" dirty="0"/>
              <a:t> sung </a:t>
            </a:r>
            <a:r>
              <a:rPr lang="en-US" dirty="0" err="1"/>
              <a:t>khả</a:t>
            </a:r>
            <a:r>
              <a:rPr lang="en-US" dirty="0"/>
              <a:t> </a:t>
            </a:r>
            <a:r>
              <a:rPr lang="en-US" dirty="0" err="1"/>
              <a:t>năng</a:t>
            </a:r>
            <a:r>
              <a:rPr lang="en-US" dirty="0"/>
              <a:t> </a:t>
            </a:r>
            <a:r>
              <a:rPr lang="en-US" dirty="0" err="1"/>
              <a:t>dự</a:t>
            </a:r>
            <a:r>
              <a:rPr lang="en-US" dirty="0"/>
              <a:t> </a:t>
            </a:r>
            <a:r>
              <a:rPr lang="en-US" dirty="0" err="1"/>
              <a:t>báo</a:t>
            </a:r>
            <a:r>
              <a:rPr lang="en-US" dirty="0"/>
              <a:t> ở </a:t>
            </a:r>
            <a:r>
              <a:rPr lang="en-US" dirty="0" err="1"/>
              <a:t>giai</a:t>
            </a:r>
            <a:r>
              <a:rPr lang="en-US" dirty="0"/>
              <a:t> </a:t>
            </a:r>
            <a:r>
              <a:rPr lang="en-US" dirty="0" err="1"/>
              <a:t>đoạn</a:t>
            </a:r>
            <a:r>
              <a:rPr lang="en-US" dirty="0"/>
              <a:t> </a:t>
            </a:r>
            <a:r>
              <a:rPr lang="en-US" dirty="0" err="1"/>
              <a:t>tiếp</a:t>
            </a:r>
            <a:r>
              <a:rPr lang="en-US" dirty="0"/>
              <a:t> </a:t>
            </a:r>
            <a:r>
              <a:rPr lang="en-US" dirty="0" err="1"/>
              <a:t>theo.</a:t>
            </a:r>
            <a:endParaRPr dirty="0"/>
          </a:p>
        </p:txBody>
      </p:sp>
      <p:sp>
        <p:nvSpPr>
          <p:cNvPr id="15" name="Rounded Rectangle 14"/>
          <p:cNvSpPr/>
          <p:nvPr/>
        </p:nvSpPr>
        <p:spPr>
          <a:xfrm>
            <a:off x="8001000" y="4544568"/>
            <a:ext cx="3474720"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74736" y="4690872"/>
            <a:ext cx="3145536" cy="265176"/>
          </a:xfrm>
          <a:prstGeom prst="rect">
            <a:avLst/>
          </a:prstGeom>
          <a:noFill/>
        </p:spPr>
        <p:txBody>
          <a:bodyPr wrap="square" lIns="18288" tIns="18288" rIns="18288" bIns="0">
            <a:spAutoFit/>
          </a:bodyPr>
          <a:lstStyle/>
          <a:p>
            <a:pPr>
              <a:spcBef>
                <a:spcPts val="0"/>
              </a:spcBef>
              <a:spcAft>
                <a:spcPts val="0"/>
              </a:spcAft>
              <a:defRPr sz="1200" b="1">
                <a:solidFill>
                  <a:srgbClr val="009587"/>
                </a:solidFill>
                <a:latin typeface="Arial"/>
              </a:defRPr>
            </a:pPr>
            <a:r>
              <a:t>KẾT QUẢ</a:t>
            </a:r>
          </a:p>
        </p:txBody>
      </p:sp>
      <p:sp>
        <p:nvSpPr>
          <p:cNvPr id="17" name="TextBox 16"/>
          <p:cNvSpPr txBox="1"/>
          <p:nvPr/>
        </p:nvSpPr>
        <p:spPr>
          <a:xfrm>
            <a:off x="8174736" y="5020056"/>
            <a:ext cx="3145536" cy="674031"/>
          </a:xfrm>
          <a:prstGeom prst="rect">
            <a:avLst/>
          </a:prstGeom>
          <a:noFill/>
        </p:spPr>
        <p:txBody>
          <a:bodyPr wrap="square" lIns="18288" tIns="18288" rIns="18288" bIns="0">
            <a:spAutoFit/>
          </a:bodyPr>
          <a:lstStyle/>
          <a:p>
            <a:pPr>
              <a:spcBef>
                <a:spcPts val="0"/>
              </a:spcBef>
              <a:spcAft>
                <a:spcPts val="0"/>
              </a:spcAft>
              <a:defRPr sz="1420" b="0">
                <a:solidFill>
                  <a:srgbClr val="102A39"/>
                </a:solidFill>
                <a:latin typeface="Arial"/>
              </a:defRPr>
            </a:pPr>
            <a:r>
              <a:rPr dirty="0" err="1"/>
              <a:t>Tất</a:t>
            </a:r>
            <a:r>
              <a:rPr dirty="0"/>
              <a:t> </a:t>
            </a:r>
            <a:r>
              <a:rPr dirty="0" err="1"/>
              <a:t>cả</a:t>
            </a:r>
            <a:r>
              <a:rPr dirty="0"/>
              <a:t> </a:t>
            </a:r>
            <a:r>
              <a:rPr dirty="0" err="1"/>
              <a:t>mô</a:t>
            </a:r>
            <a:r>
              <a:rPr dirty="0"/>
              <a:t> </a:t>
            </a:r>
            <a:r>
              <a:rPr dirty="0" err="1"/>
              <a:t>hình</a:t>
            </a:r>
            <a:r>
              <a:rPr dirty="0"/>
              <a:t> </a:t>
            </a:r>
            <a:r>
              <a:rPr dirty="0" err="1"/>
              <a:t>đạt</a:t>
            </a:r>
            <a:r>
              <a:rPr dirty="0"/>
              <a:t> </a:t>
            </a:r>
            <a:r>
              <a:rPr dirty="0" err="1"/>
              <a:t>ngưỡng</a:t>
            </a:r>
            <a:r>
              <a:rPr dirty="0"/>
              <a:t> WMAPE </a:t>
            </a:r>
            <a:r>
              <a:rPr dirty="0" err="1"/>
              <a:t>mục</a:t>
            </a:r>
            <a:r>
              <a:rPr dirty="0"/>
              <a:t> </a:t>
            </a:r>
            <a:r>
              <a:rPr dirty="0" err="1"/>
              <a:t>tiêu</a:t>
            </a:r>
            <a:r>
              <a:rPr lang="en-US" dirty="0"/>
              <a:t>,</a:t>
            </a:r>
            <a:r>
              <a:rPr dirty="0"/>
              <a:t> </a:t>
            </a:r>
            <a:r>
              <a:rPr dirty="0" err="1"/>
              <a:t>sai</a:t>
            </a:r>
            <a:r>
              <a:rPr dirty="0"/>
              <a:t> </a:t>
            </a:r>
            <a:r>
              <a:rPr dirty="0" err="1"/>
              <a:t>số</a:t>
            </a:r>
            <a:r>
              <a:rPr dirty="0"/>
              <a:t> </a:t>
            </a:r>
            <a:r>
              <a:rPr dirty="0" err="1"/>
              <a:t>trên</a:t>
            </a:r>
            <a:r>
              <a:rPr dirty="0"/>
              <a:t> HOLDOUT </a:t>
            </a:r>
            <a:r>
              <a:rPr dirty="0" err="1"/>
              <a:t>tăng</a:t>
            </a:r>
            <a:r>
              <a:rPr dirty="0"/>
              <a:t> </a:t>
            </a:r>
            <a:r>
              <a:rPr dirty="0" err="1"/>
              <a:t>nhẹ</a:t>
            </a:r>
            <a:r>
              <a:rPr dirty="0"/>
              <a:t>.</a:t>
            </a:r>
          </a:p>
        </p:txBody>
      </p:sp>
      <p:pic>
        <p:nvPicPr>
          <p:cNvPr id="21" name="Picture 20">
            <a:extLst>
              <a:ext uri="{FF2B5EF4-FFF2-40B4-BE49-F238E27FC236}">
                <a16:creationId xmlns:a16="http://schemas.microsoft.com/office/drawing/2014/main" id="{949F1A80-7102-A3CF-CC20-9EEA06993C49}"/>
              </a:ext>
            </a:extLst>
          </p:cNvPr>
          <p:cNvPicPr>
            <a:picLocks noChangeAspect="1"/>
          </p:cNvPicPr>
          <p:nvPr/>
        </p:nvPicPr>
        <p:blipFill>
          <a:blip r:embed="rId2"/>
          <a:stretch>
            <a:fillRect/>
          </a:stretch>
        </p:blipFill>
        <p:spPr>
          <a:xfrm>
            <a:off x="641257" y="1897969"/>
            <a:ext cx="10679015" cy="247684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04 · ĐÁNH GIÁ KẾT QUẢ DỰ BÁO</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t>Dự báo bám xu hướng nhu cầu, nhưng phản ứng chưa đủ khi nhu cầu tăng</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10</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Biểu đồ gốc đối chiếu tổng số yêu cầu thực tế và dự báo theo ngày trên TEST và HOLDOUT.</a:t>
            </a:r>
          </a:p>
        </p:txBody>
      </p:sp>
      <p:pic>
        <p:nvPicPr>
          <p:cNvPr id="8" name="Picture 7" descr="report_12.png"/>
          <p:cNvPicPr>
            <a:picLocks noChangeAspect="1"/>
          </p:cNvPicPr>
          <p:nvPr/>
        </p:nvPicPr>
        <p:blipFill>
          <a:blip r:embed="rId2"/>
          <a:stretch>
            <a:fillRect/>
          </a:stretch>
        </p:blipFill>
        <p:spPr>
          <a:xfrm>
            <a:off x="765965" y="1975104"/>
            <a:ext cx="7410901" cy="3730752"/>
          </a:xfrm>
          <a:prstGeom prst="rect">
            <a:avLst/>
          </a:prstGeom>
        </p:spPr>
      </p:pic>
      <p:sp>
        <p:nvSpPr>
          <p:cNvPr id="9" name="Rounded Rectangle 8"/>
          <p:cNvSpPr/>
          <p:nvPr/>
        </p:nvSpPr>
        <p:spPr>
          <a:xfrm>
            <a:off x="8549640" y="1975104"/>
            <a:ext cx="2926080"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23376" y="2121408"/>
            <a:ext cx="2596896" cy="265176"/>
          </a:xfrm>
          <a:prstGeom prst="rect">
            <a:avLst/>
          </a:prstGeom>
          <a:noFill/>
        </p:spPr>
        <p:txBody>
          <a:bodyPr wrap="square" lIns="18288" tIns="18288" rIns="18288" bIns="0">
            <a:spAutoFit/>
          </a:bodyPr>
          <a:lstStyle/>
          <a:p>
            <a:pPr>
              <a:spcBef>
                <a:spcPts val="0"/>
              </a:spcBef>
              <a:spcAft>
                <a:spcPts val="0"/>
              </a:spcAft>
              <a:defRPr sz="1200" b="1">
                <a:solidFill>
                  <a:srgbClr val="009587"/>
                </a:solidFill>
                <a:latin typeface="Arial"/>
              </a:defRPr>
            </a:pPr>
            <a:r>
              <a:t>DIỄN BIẾN CHUNG</a:t>
            </a:r>
          </a:p>
        </p:txBody>
      </p:sp>
      <p:sp>
        <p:nvSpPr>
          <p:cNvPr id="11" name="TextBox 10"/>
          <p:cNvSpPr txBox="1"/>
          <p:nvPr/>
        </p:nvSpPr>
        <p:spPr>
          <a:xfrm>
            <a:off x="8723376" y="2450592"/>
            <a:ext cx="2596896" cy="960120"/>
          </a:xfrm>
          <a:prstGeom prst="rect">
            <a:avLst/>
          </a:prstGeom>
          <a:noFill/>
        </p:spPr>
        <p:txBody>
          <a:bodyPr wrap="square" lIns="18288" tIns="18288" rIns="18288" bIns="0">
            <a:spAutoFit/>
          </a:bodyPr>
          <a:lstStyle/>
          <a:p>
            <a:pPr>
              <a:spcBef>
                <a:spcPts val="0"/>
              </a:spcBef>
              <a:spcAft>
                <a:spcPts val="0"/>
              </a:spcAft>
              <a:defRPr sz="1400" b="0">
                <a:solidFill>
                  <a:srgbClr val="102A39"/>
                </a:solidFill>
                <a:latin typeface="Arial"/>
              </a:defRPr>
            </a:pPr>
            <a:r>
              <a:t>Ở nhiều ngày, xu hướng tăng giảm của dự báo đi cùng chiều với nhu cầu quan sát.</a:t>
            </a:r>
          </a:p>
        </p:txBody>
      </p:sp>
      <p:sp>
        <p:nvSpPr>
          <p:cNvPr id="12" name="Rounded Rectangle 11"/>
          <p:cNvSpPr/>
          <p:nvPr/>
        </p:nvSpPr>
        <p:spPr>
          <a:xfrm>
            <a:off x="8549640" y="3630168"/>
            <a:ext cx="2926080" cy="14630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723376" y="3776472"/>
            <a:ext cx="2596896" cy="265176"/>
          </a:xfrm>
          <a:prstGeom prst="rect">
            <a:avLst/>
          </a:prstGeom>
          <a:noFill/>
        </p:spPr>
        <p:txBody>
          <a:bodyPr wrap="square" lIns="18288" tIns="18288" rIns="18288" bIns="0">
            <a:spAutoFit/>
          </a:bodyPr>
          <a:lstStyle/>
          <a:p>
            <a:pPr>
              <a:spcBef>
                <a:spcPts val="0"/>
              </a:spcBef>
              <a:spcAft>
                <a:spcPts val="0"/>
              </a:spcAft>
              <a:defRPr sz="1200" b="1">
                <a:solidFill>
                  <a:srgbClr val="E2963A"/>
                </a:solidFill>
                <a:latin typeface="Arial"/>
              </a:defRPr>
            </a:pPr>
            <a:r>
              <a:t>ĐIỂM CÒN HẠN CHẾ</a:t>
            </a:r>
          </a:p>
        </p:txBody>
      </p:sp>
      <p:sp>
        <p:nvSpPr>
          <p:cNvPr id="14" name="TextBox 13"/>
          <p:cNvSpPr txBox="1"/>
          <p:nvPr/>
        </p:nvSpPr>
        <p:spPr>
          <a:xfrm>
            <a:off x="8723376" y="4105656"/>
            <a:ext cx="2596896" cy="960120"/>
          </a:xfrm>
          <a:prstGeom prst="rect">
            <a:avLst/>
          </a:prstGeom>
          <a:noFill/>
        </p:spPr>
        <p:txBody>
          <a:bodyPr wrap="square" lIns="18288" tIns="18288" rIns="18288" bIns="0">
            <a:spAutoFit/>
          </a:bodyPr>
          <a:lstStyle/>
          <a:p>
            <a:pPr>
              <a:spcBef>
                <a:spcPts val="0"/>
              </a:spcBef>
              <a:spcAft>
                <a:spcPts val="0"/>
              </a:spcAft>
              <a:defRPr sz="1400" b="0">
                <a:solidFill>
                  <a:srgbClr val="102A39"/>
                </a:solidFill>
                <a:latin typeface="Arial"/>
              </a:defRPr>
            </a:pPr>
            <a:r>
              <a:t>Khi nhu cầu tăng nhanh, mức tăng của dự báo thấp hơn mức tăng quan sát.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04 · ĐÁNH GIÁ KẾT QUẢ DỰ BÁO</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t>Sai số ở khu vực đông khách cần được xem xét riêng theo ô và theo ngày</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11</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Hai hình gốc phân tích các ô có nhu cầu thực tế cao ở khoảng dự báo H60 cho từng loại xe.</a:t>
            </a:r>
          </a:p>
        </p:txBody>
      </p:sp>
      <p:sp>
        <p:nvSpPr>
          <p:cNvPr id="8" name="Rounded Rectangle 7"/>
          <p:cNvSpPr/>
          <p:nvPr/>
        </p:nvSpPr>
        <p:spPr>
          <a:xfrm>
            <a:off x="594360" y="1984248"/>
            <a:ext cx="5513832" cy="27706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181344" y="1984248"/>
            <a:ext cx="5422392" cy="27706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 y="2093976"/>
            <a:ext cx="5212080" cy="283464"/>
          </a:xfrm>
          <a:prstGeom prst="rect">
            <a:avLst/>
          </a:prstGeom>
          <a:noFill/>
        </p:spPr>
        <p:txBody>
          <a:bodyPr wrap="square" lIns="18288" tIns="18288" rIns="18288" bIns="0">
            <a:spAutoFit/>
          </a:bodyPr>
          <a:lstStyle/>
          <a:p>
            <a:pPr>
              <a:spcBef>
                <a:spcPts val="0"/>
              </a:spcBef>
              <a:spcAft>
                <a:spcPts val="0"/>
              </a:spcAft>
              <a:defRPr sz="1350" b="1">
                <a:solidFill>
                  <a:srgbClr val="009587"/>
                </a:solidFill>
                <a:latin typeface="Arial"/>
              </a:defRPr>
            </a:pPr>
            <a:r>
              <a:t>CAR · H60</a:t>
            </a:r>
          </a:p>
        </p:txBody>
      </p:sp>
      <p:sp>
        <p:nvSpPr>
          <p:cNvPr id="11" name="TextBox 10"/>
          <p:cNvSpPr txBox="1"/>
          <p:nvPr/>
        </p:nvSpPr>
        <p:spPr>
          <a:xfrm>
            <a:off x="6345936" y="2093976"/>
            <a:ext cx="5029200" cy="283464"/>
          </a:xfrm>
          <a:prstGeom prst="rect">
            <a:avLst/>
          </a:prstGeom>
          <a:noFill/>
        </p:spPr>
        <p:txBody>
          <a:bodyPr wrap="square" lIns="18288" tIns="18288" rIns="18288" bIns="0">
            <a:spAutoFit/>
          </a:bodyPr>
          <a:lstStyle/>
          <a:p>
            <a:pPr>
              <a:spcBef>
                <a:spcPts val="0"/>
              </a:spcBef>
              <a:spcAft>
                <a:spcPts val="0"/>
              </a:spcAft>
              <a:defRPr sz="1350" b="1">
                <a:solidFill>
                  <a:srgbClr val="009587"/>
                </a:solidFill>
                <a:latin typeface="Arial"/>
              </a:defRPr>
            </a:pPr>
            <a:r>
              <a:t>MOTORCYCLE · H60</a:t>
            </a:r>
          </a:p>
        </p:txBody>
      </p:sp>
      <p:pic>
        <p:nvPicPr>
          <p:cNvPr id="12" name="Picture 11" descr="report_14.png"/>
          <p:cNvPicPr>
            <a:picLocks noChangeAspect="1"/>
          </p:cNvPicPr>
          <p:nvPr/>
        </p:nvPicPr>
        <p:blipFill>
          <a:blip r:embed="rId2"/>
          <a:stretch>
            <a:fillRect/>
          </a:stretch>
        </p:blipFill>
        <p:spPr>
          <a:xfrm>
            <a:off x="967412" y="2468880"/>
            <a:ext cx="4786015" cy="2112264"/>
          </a:xfrm>
          <a:prstGeom prst="rect">
            <a:avLst/>
          </a:prstGeom>
        </p:spPr>
      </p:pic>
      <p:pic>
        <p:nvPicPr>
          <p:cNvPr id="13" name="Picture 12" descr="report_15.png"/>
          <p:cNvPicPr>
            <a:picLocks noChangeAspect="1"/>
          </p:cNvPicPr>
          <p:nvPr/>
        </p:nvPicPr>
        <p:blipFill>
          <a:blip r:embed="rId3"/>
          <a:stretch>
            <a:fillRect/>
          </a:stretch>
        </p:blipFill>
        <p:spPr>
          <a:xfrm>
            <a:off x="6467528" y="2468880"/>
            <a:ext cx="4786015" cy="2112264"/>
          </a:xfrm>
          <a:prstGeom prst="rect">
            <a:avLst/>
          </a:prstGeom>
        </p:spPr>
      </p:pic>
      <p:sp>
        <p:nvSpPr>
          <p:cNvPr id="14" name="Rounded Rectangle 13"/>
          <p:cNvSpPr/>
          <p:nvPr/>
        </p:nvSpPr>
        <p:spPr>
          <a:xfrm>
            <a:off x="612648" y="4983480"/>
            <a:ext cx="10991088" cy="112471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8" y="4983480"/>
            <a:ext cx="68580" cy="1124712"/>
          </a:xfrm>
          <a:prstGeom prst="rect">
            <a:avLst/>
          </a:prstGeom>
          <a:solidFill>
            <a:srgbClr val="E2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0392" y="5193792"/>
            <a:ext cx="10543032" cy="529376"/>
          </a:xfrm>
          <a:prstGeom prst="rect">
            <a:avLst/>
          </a:prstGeom>
          <a:noFill/>
        </p:spPr>
        <p:txBody>
          <a:bodyPr wrap="square" lIns="18288" tIns="18288" rIns="18288" bIns="0">
            <a:spAutoFit/>
          </a:bodyPr>
          <a:lstStyle/>
          <a:p>
            <a:pPr>
              <a:spcBef>
                <a:spcPts val="0"/>
              </a:spcBef>
              <a:spcAft>
                <a:spcPts val="0"/>
              </a:spcAft>
              <a:defRPr sz="1660" b="0">
                <a:solidFill>
                  <a:srgbClr val="102A39"/>
                </a:solidFill>
                <a:latin typeface="Arial"/>
              </a:defRPr>
            </a:pPr>
            <a:r>
              <a:rPr dirty="0" err="1"/>
              <a:t>Biểu</a:t>
            </a:r>
            <a:r>
              <a:rPr dirty="0"/>
              <a:t> </a:t>
            </a:r>
            <a:r>
              <a:rPr dirty="0" err="1"/>
              <a:t>đồ</a:t>
            </a:r>
            <a:r>
              <a:rPr dirty="0"/>
              <a:t> </a:t>
            </a:r>
            <a:r>
              <a:rPr dirty="0" err="1"/>
              <a:t>cho</a:t>
            </a:r>
            <a:r>
              <a:rPr dirty="0"/>
              <a:t> thấy </a:t>
            </a:r>
            <a:r>
              <a:rPr dirty="0" err="1"/>
              <a:t>sai</a:t>
            </a:r>
            <a:r>
              <a:rPr dirty="0"/>
              <a:t> </a:t>
            </a:r>
            <a:r>
              <a:rPr dirty="0" err="1"/>
              <a:t>lệch</a:t>
            </a:r>
            <a:r>
              <a:rPr dirty="0"/>
              <a:t> </a:t>
            </a:r>
            <a:r>
              <a:rPr dirty="0" err="1"/>
              <a:t>có</a:t>
            </a:r>
            <a:r>
              <a:rPr dirty="0"/>
              <a:t> </a:t>
            </a:r>
            <a:r>
              <a:rPr dirty="0" err="1"/>
              <a:t>thể</a:t>
            </a:r>
            <a:r>
              <a:rPr dirty="0"/>
              <a:t> </a:t>
            </a:r>
            <a:r>
              <a:rPr dirty="0" err="1"/>
              <a:t>đổi</a:t>
            </a:r>
            <a:r>
              <a:rPr dirty="0"/>
              <a:t> </a:t>
            </a:r>
            <a:r>
              <a:rPr dirty="0" err="1"/>
              <a:t>chiều</a:t>
            </a:r>
            <a:r>
              <a:rPr dirty="0"/>
              <a:t> </a:t>
            </a:r>
            <a:r>
              <a:rPr dirty="0" err="1"/>
              <a:t>giữa</a:t>
            </a:r>
            <a:r>
              <a:rPr dirty="0"/>
              <a:t> </a:t>
            </a:r>
            <a:r>
              <a:rPr dirty="0" err="1"/>
              <a:t>khu</a:t>
            </a:r>
            <a:r>
              <a:rPr dirty="0"/>
              <a:t> </a:t>
            </a:r>
            <a:r>
              <a:rPr dirty="0" err="1"/>
              <a:t>vực</a:t>
            </a:r>
            <a:r>
              <a:rPr dirty="0"/>
              <a:t> </a:t>
            </a:r>
            <a:r>
              <a:rPr dirty="0" err="1"/>
              <a:t>và</a:t>
            </a:r>
            <a:r>
              <a:rPr dirty="0"/>
              <a:t> </a:t>
            </a:r>
            <a:r>
              <a:rPr dirty="0" err="1"/>
              <a:t>ngày</a:t>
            </a:r>
            <a:r>
              <a:rPr dirty="0"/>
              <a:t>. </a:t>
            </a:r>
            <a:r>
              <a:rPr dirty="0" err="1"/>
              <a:t>Dự</a:t>
            </a:r>
            <a:r>
              <a:rPr dirty="0"/>
              <a:t> </a:t>
            </a:r>
            <a:r>
              <a:rPr dirty="0" err="1"/>
              <a:t>án</a:t>
            </a:r>
            <a:r>
              <a:rPr dirty="0"/>
              <a:t> </a:t>
            </a:r>
            <a:r>
              <a:rPr dirty="0" err="1"/>
              <a:t>không</a:t>
            </a:r>
            <a:r>
              <a:rPr dirty="0"/>
              <a:t> </a:t>
            </a:r>
            <a:r>
              <a:rPr dirty="0" err="1"/>
              <a:t>áp</a:t>
            </a:r>
            <a:r>
              <a:rPr dirty="0"/>
              <a:t> </a:t>
            </a:r>
            <a:r>
              <a:rPr dirty="0" err="1"/>
              <a:t>dụng</a:t>
            </a:r>
            <a:r>
              <a:rPr dirty="0"/>
              <a:t> </a:t>
            </a:r>
            <a:r>
              <a:rPr dirty="0" err="1"/>
              <a:t>hệ</a:t>
            </a:r>
            <a:r>
              <a:rPr dirty="0"/>
              <a:t> </a:t>
            </a:r>
            <a:r>
              <a:rPr dirty="0" err="1"/>
              <a:t>số</a:t>
            </a:r>
            <a:r>
              <a:rPr dirty="0"/>
              <a:t> </a:t>
            </a:r>
            <a:r>
              <a:rPr dirty="0" err="1"/>
              <a:t>cộng</a:t>
            </a:r>
            <a:r>
              <a:rPr dirty="0"/>
              <a:t> </a:t>
            </a:r>
            <a:r>
              <a:rPr dirty="0" err="1"/>
              <a:t>bù</a:t>
            </a:r>
            <a:r>
              <a:rPr dirty="0"/>
              <a:t> </a:t>
            </a:r>
            <a:r>
              <a:rPr dirty="0" err="1"/>
              <a:t>cố</a:t>
            </a:r>
            <a:r>
              <a:rPr dirty="0"/>
              <a:t> </a:t>
            </a:r>
            <a:r>
              <a:rPr dirty="0" err="1"/>
              <a:t>định</a:t>
            </a:r>
            <a:r>
              <a:rPr dirty="0"/>
              <a:t> </a:t>
            </a:r>
            <a:r>
              <a:rPr dirty="0" err="1"/>
              <a:t>cho</a:t>
            </a:r>
            <a:r>
              <a:rPr dirty="0"/>
              <a:t> </a:t>
            </a:r>
            <a:r>
              <a:rPr dirty="0" err="1"/>
              <a:t>tất</a:t>
            </a:r>
            <a:r>
              <a:rPr dirty="0"/>
              <a:t> </a:t>
            </a:r>
            <a:r>
              <a:rPr dirty="0" err="1"/>
              <a:t>cả</a:t>
            </a:r>
            <a:r>
              <a:rPr dirty="0"/>
              <a:t> </a:t>
            </a:r>
            <a:r>
              <a:rPr dirty="0" err="1"/>
              <a:t>kết</a:t>
            </a:r>
            <a:r>
              <a:rPr dirty="0"/>
              <a:t> </a:t>
            </a:r>
            <a:r>
              <a:rPr dirty="0" err="1"/>
              <a:t>quả</a:t>
            </a:r>
            <a:r>
              <a:rPr dirty="0"/>
              <a:t> </a:t>
            </a:r>
            <a:r>
              <a:rPr dirty="0" err="1"/>
              <a:t>dự</a:t>
            </a:r>
            <a:r>
              <a:rPr dirty="0"/>
              <a:t> </a:t>
            </a:r>
            <a:r>
              <a:rPr dirty="0" err="1"/>
              <a:t>báo</a:t>
            </a:r>
            <a:r>
              <a:rPr lang="en-US" dirty="0"/>
              <a:t> </a:t>
            </a:r>
            <a:r>
              <a:rPr lang="en-US" dirty="0" err="1"/>
              <a:t>vì</a:t>
            </a:r>
            <a:r>
              <a:rPr lang="en-US" dirty="0"/>
              <a:t> </a:t>
            </a:r>
            <a:r>
              <a:rPr lang="en-US" dirty="0" err="1"/>
              <a:t>nếu</a:t>
            </a:r>
            <a:r>
              <a:rPr lang="en-US" dirty="0"/>
              <a:t> </a:t>
            </a:r>
            <a:r>
              <a:rPr lang="en-US" dirty="0" err="1"/>
              <a:t>cộng</a:t>
            </a:r>
            <a:r>
              <a:rPr lang="en-US" dirty="0"/>
              <a:t> </a:t>
            </a:r>
            <a:r>
              <a:rPr lang="en-US" dirty="0" err="1"/>
              <a:t>trừ</a:t>
            </a:r>
            <a:r>
              <a:rPr lang="en-US" dirty="0"/>
              <a:t> </a:t>
            </a:r>
            <a:r>
              <a:rPr lang="en-US" dirty="0" err="1"/>
              <a:t>cố</a:t>
            </a:r>
            <a:r>
              <a:rPr lang="en-US" dirty="0"/>
              <a:t> </a:t>
            </a:r>
            <a:r>
              <a:rPr lang="en-US" dirty="0" err="1"/>
              <a:t>định</a:t>
            </a:r>
            <a:r>
              <a:rPr lang="en-US" dirty="0"/>
              <a:t> </a:t>
            </a:r>
            <a:r>
              <a:rPr lang="en-US" dirty="0" err="1"/>
              <a:t>có</a:t>
            </a:r>
            <a:r>
              <a:rPr lang="en-US" dirty="0"/>
              <a:t> </a:t>
            </a:r>
            <a:r>
              <a:rPr lang="en-US" dirty="0" err="1"/>
              <a:t>thể</a:t>
            </a:r>
            <a:r>
              <a:rPr lang="en-US" dirty="0"/>
              <a:t> </a:t>
            </a:r>
            <a:r>
              <a:rPr lang="en-US" dirty="0" err="1"/>
              <a:t>sẽ</a:t>
            </a:r>
            <a:r>
              <a:rPr lang="en-US" dirty="0"/>
              <a:t> </a:t>
            </a:r>
            <a:r>
              <a:rPr lang="en-US" dirty="0" err="1"/>
              <a:t>làm</a:t>
            </a:r>
            <a:r>
              <a:rPr lang="en-US" dirty="0"/>
              <a:t> </a:t>
            </a:r>
            <a:r>
              <a:rPr lang="en-US" dirty="0" err="1"/>
              <a:t>sai</a:t>
            </a:r>
            <a:r>
              <a:rPr lang="en-US" dirty="0"/>
              <a:t> </a:t>
            </a:r>
            <a:r>
              <a:rPr lang="en-US" dirty="0" err="1"/>
              <a:t>số</a:t>
            </a:r>
            <a:r>
              <a:rPr lang="en-US" dirty="0"/>
              <a:t> </a:t>
            </a:r>
            <a:r>
              <a:rPr lang="en-US" dirty="0" err="1"/>
              <a:t>trầm</a:t>
            </a:r>
            <a:r>
              <a:rPr lang="en-US" dirty="0"/>
              <a:t> </a:t>
            </a:r>
            <a:r>
              <a:rPr lang="en-US" dirty="0" err="1"/>
              <a:t>trọng</a:t>
            </a:r>
            <a:r>
              <a:rPr lang="en-US" dirty="0"/>
              <a:t> </a:t>
            </a:r>
            <a:r>
              <a:rPr lang="en-US" dirty="0" err="1"/>
              <a:t>hơn</a:t>
            </a:r>
            <a:r>
              <a:rPr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05 · HUẤN LUYỆN VÀ QUẢN LÝ MÔ HÌNH</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t>Airflow tự động hóa huấn luyện, đánh giá và quản lý phiên bản mô hình</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12</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Luồng huấn luyện được triển khai từ lịch sử PostgreSQL đến bước đánh giá và lưu mô hình.</a:t>
            </a:r>
          </a:p>
        </p:txBody>
      </p:sp>
      <p:pic>
        <p:nvPicPr>
          <p:cNvPr id="8" name="Picture 7" descr="report_16.png"/>
          <p:cNvPicPr>
            <a:picLocks noChangeAspect="1"/>
          </p:cNvPicPr>
          <p:nvPr/>
        </p:nvPicPr>
        <p:blipFill>
          <a:blip r:embed="rId2"/>
          <a:stretch>
            <a:fillRect/>
          </a:stretch>
        </p:blipFill>
        <p:spPr>
          <a:xfrm>
            <a:off x="937967" y="1847088"/>
            <a:ext cx="10313017" cy="2697480"/>
          </a:xfrm>
          <a:prstGeom prst="rect">
            <a:avLst/>
          </a:prstGeom>
        </p:spPr>
      </p:pic>
      <p:sp>
        <p:nvSpPr>
          <p:cNvPr id="9" name="Rounded Rectangle 8"/>
          <p:cNvSpPr/>
          <p:nvPr/>
        </p:nvSpPr>
        <p:spPr>
          <a:xfrm>
            <a:off x="649224" y="4645152"/>
            <a:ext cx="7178040" cy="16276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report_18.png"/>
          <p:cNvPicPr>
            <a:picLocks noChangeAspect="1"/>
          </p:cNvPicPr>
          <p:nvPr/>
        </p:nvPicPr>
        <p:blipFill>
          <a:blip r:embed="rId3"/>
          <a:stretch>
            <a:fillRect/>
          </a:stretch>
        </p:blipFill>
        <p:spPr>
          <a:xfrm>
            <a:off x="1541024" y="4791456"/>
            <a:ext cx="5412727" cy="1289304"/>
          </a:xfrm>
          <a:prstGeom prst="rect">
            <a:avLst/>
          </a:prstGeom>
        </p:spPr>
      </p:pic>
      <p:sp>
        <p:nvSpPr>
          <p:cNvPr id="11" name="Rounded Rectangle 10"/>
          <p:cNvSpPr/>
          <p:nvPr/>
        </p:nvSpPr>
        <p:spPr>
          <a:xfrm>
            <a:off x="8037575" y="4645152"/>
            <a:ext cx="3511296" cy="16276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037575" y="4645152"/>
            <a:ext cx="64008" cy="1627632"/>
          </a:xfrm>
          <a:prstGeom prst="rect">
            <a:avLst/>
          </a:prstGeom>
          <a:solidFill>
            <a:srgbClr val="E2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4800600"/>
            <a:ext cx="3017520" cy="292608"/>
          </a:xfrm>
          <a:prstGeom prst="rect">
            <a:avLst/>
          </a:prstGeom>
          <a:noFill/>
        </p:spPr>
        <p:txBody>
          <a:bodyPr wrap="square" lIns="18288" tIns="18288" rIns="18288" bIns="0">
            <a:spAutoFit/>
          </a:bodyPr>
          <a:lstStyle/>
          <a:p>
            <a:pPr>
              <a:spcBef>
                <a:spcPts val="0"/>
              </a:spcBef>
              <a:spcAft>
                <a:spcPts val="0"/>
              </a:spcAft>
              <a:defRPr sz="1270" b="1">
                <a:solidFill>
                  <a:srgbClr val="E2963A"/>
                </a:solidFill>
                <a:latin typeface="Arial"/>
              </a:defRPr>
            </a:pPr>
            <a:r>
              <a:t>ĐIỀU KIỆN PHÁT HÀNH</a:t>
            </a:r>
          </a:p>
        </p:txBody>
      </p:sp>
      <p:sp>
        <p:nvSpPr>
          <p:cNvPr id="14" name="TextBox 13"/>
          <p:cNvSpPr txBox="1"/>
          <p:nvPr/>
        </p:nvSpPr>
        <p:spPr>
          <a:xfrm>
            <a:off x="8257031" y="5175504"/>
            <a:ext cx="2990088" cy="692497"/>
          </a:xfrm>
          <a:prstGeom prst="rect">
            <a:avLst/>
          </a:prstGeom>
          <a:noFill/>
        </p:spPr>
        <p:txBody>
          <a:bodyPr wrap="square" lIns="18288" tIns="18288" rIns="18288" bIns="0">
            <a:spAutoFit/>
          </a:bodyPr>
          <a:lstStyle/>
          <a:p>
            <a:pPr>
              <a:spcBef>
                <a:spcPts val="0"/>
              </a:spcBef>
              <a:spcAft>
                <a:spcPts val="0"/>
              </a:spcAft>
              <a:defRPr sz="1460" b="0">
                <a:solidFill>
                  <a:srgbClr val="102A39"/>
                </a:solidFill>
                <a:latin typeface="Arial"/>
              </a:defRPr>
            </a:pPr>
            <a:r>
              <a:rPr lang="en-US" dirty="0"/>
              <a:t>Mã nguồn hiện cho phép cập nhật mô hình với TEST WMAPE ≤30%; ngưỡng này cần điều chỉnh để phù hợp mục tiêu nghiên cứu dưới 15%.</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r>
              <a:rPr lang="en-US" dirty="0" err="1"/>
              <a:t/>
            </a:r>
            <a:r>
              <a:rPr lang="en-US" dirty="0"/>
              <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06 · TRIỂN KHAI DỰ BÁO</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t>Luồng dự báo định kỳ đưa kết quả mô hình lên bản đồ theo ô H3</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13</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Dịch vụ đọc các bucket đã đóng, tạo đặc trưng tương ứng, chạy mô hình rồi lưu kết quả vào PostgreSQL.</a:t>
            </a:r>
          </a:p>
        </p:txBody>
      </p:sp>
      <p:pic>
        <p:nvPicPr>
          <p:cNvPr id="8" name="Picture 7" descr="report_19.png"/>
          <p:cNvPicPr>
            <a:picLocks noChangeAspect="1"/>
          </p:cNvPicPr>
          <p:nvPr/>
        </p:nvPicPr>
        <p:blipFill>
          <a:blip r:embed="rId2"/>
          <a:stretch>
            <a:fillRect/>
          </a:stretch>
        </p:blipFill>
        <p:spPr>
          <a:xfrm>
            <a:off x="658368" y="1875456"/>
            <a:ext cx="10881360" cy="2274983"/>
          </a:xfrm>
          <a:prstGeom prst="rect">
            <a:avLst/>
          </a:prstGeom>
        </p:spPr>
      </p:pic>
      <p:sp>
        <p:nvSpPr>
          <p:cNvPr id="9" name="Rounded Rectangle 8"/>
          <p:cNvSpPr/>
          <p:nvPr/>
        </p:nvSpPr>
        <p:spPr>
          <a:xfrm>
            <a:off x="640080" y="4306824"/>
            <a:ext cx="4572000" cy="18470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report_21.png"/>
          <p:cNvPicPr>
            <a:picLocks noChangeAspect="1"/>
          </p:cNvPicPr>
          <p:nvPr/>
        </p:nvPicPr>
        <p:blipFill>
          <a:blip r:embed="rId3"/>
          <a:stretch>
            <a:fillRect/>
          </a:stretch>
        </p:blipFill>
        <p:spPr>
          <a:xfrm>
            <a:off x="1737744" y="4407408"/>
            <a:ext cx="2340094" cy="1618488"/>
          </a:xfrm>
          <a:prstGeom prst="rect">
            <a:avLst/>
          </a:prstGeom>
        </p:spPr>
      </p:pic>
      <p:sp>
        <p:nvSpPr>
          <p:cNvPr id="11" name="Rounded Rectangle 10"/>
          <p:cNvSpPr/>
          <p:nvPr/>
        </p:nvSpPr>
        <p:spPr>
          <a:xfrm>
            <a:off x="5431536" y="4306824"/>
            <a:ext cx="6108192" cy="184708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31536" y="4306824"/>
            <a:ext cx="64008" cy="1847088"/>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41848" y="4471416"/>
            <a:ext cx="5605272" cy="329184"/>
          </a:xfrm>
          <a:prstGeom prst="rect">
            <a:avLst/>
          </a:prstGeom>
          <a:noFill/>
        </p:spPr>
        <p:txBody>
          <a:bodyPr wrap="square" lIns="18288" tIns="18288" rIns="18288" bIns="0">
            <a:spAutoFit/>
          </a:bodyPr>
          <a:lstStyle/>
          <a:p>
            <a:pPr>
              <a:spcBef>
                <a:spcPts val="0"/>
              </a:spcBef>
              <a:spcAft>
                <a:spcPts val="0"/>
              </a:spcAft>
              <a:defRPr sz="1350" b="1">
                <a:solidFill>
                  <a:srgbClr val="009587"/>
                </a:solidFill>
                <a:latin typeface="Arial"/>
              </a:defRPr>
            </a:pPr>
            <a:r>
              <a:t>KẾT QUẢ CÓ THỂ TRA CỨU</a:t>
            </a:r>
          </a:p>
        </p:txBody>
      </p:sp>
      <p:sp>
        <p:nvSpPr>
          <p:cNvPr id="14" name="TextBox 13"/>
          <p:cNvSpPr txBox="1"/>
          <p:nvPr/>
        </p:nvSpPr>
        <p:spPr>
          <a:xfrm>
            <a:off x="5641848" y="4892040"/>
            <a:ext cx="5559552" cy="1042415"/>
          </a:xfrm>
          <a:prstGeom prst="rect">
            <a:avLst/>
          </a:prstGeom>
          <a:noFill/>
        </p:spPr>
        <p:txBody>
          <a:bodyPr wrap="square" lIns="18288" tIns="18288" rIns="18288" bIns="0">
            <a:spAutoFit/>
          </a:bodyPr>
          <a:lstStyle/>
          <a:p>
            <a:pPr>
              <a:spcBef>
                <a:spcPts val="0"/>
              </a:spcBef>
              <a:spcAft>
                <a:spcPts val="0"/>
              </a:spcAft>
              <a:defRPr sz="1500" b="0">
                <a:solidFill>
                  <a:srgbClr val="102A39"/>
                </a:solidFill>
                <a:latin typeface="Arial"/>
              </a:defRPr>
            </a:pPr>
            <a:r>
              <a:t>Giao diện cho phép lựa chọn loại xe, khoảng dự báo và từng ô H3. Dự báo được lưu kèm thời điểm phát hành và phiên bản mô hình để đối chiếu lại.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07 · GIÁM SÁT VÀ CẢNH BÁO</a:t>
            </a:r>
          </a:p>
        </p:txBody>
      </p:sp>
      <p:sp>
        <p:nvSpPr>
          <p:cNvPr id="4" name="TextBox 3"/>
          <p:cNvSpPr txBox="1"/>
          <p:nvPr/>
        </p:nvSpPr>
        <p:spPr>
          <a:xfrm>
            <a:off x="530352" y="658368"/>
            <a:ext cx="11109960" cy="594360"/>
          </a:xfrm>
          <a:prstGeom prst="rect">
            <a:avLst/>
          </a:prstGeom>
          <a:noFill/>
        </p:spPr>
        <p:txBody>
          <a:bodyPr wrap="square" lIns="18288" tIns="18288" rIns="18288" bIns="0">
            <a:spAutoFit/>
          </a:bodyPr>
          <a:lstStyle/>
          <a:p>
            <a:r>
              <a:t>Grafana trực quan hóa hoạt động giám sát của hệ thống dự báo</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14</a:t>
            </a:r>
          </a:p>
        </p:txBody>
      </p:sp>
      <p:sp>
        <p:nvSpPr>
          <p:cNvPr id="7" name="TextBox 6"/>
          <p:cNvSpPr txBox="1"/>
          <p:nvPr/>
        </p:nvSpPr>
        <p:spPr>
          <a:xfrm>
            <a:off x="621792" y="1353312"/>
            <a:ext cx="10927080" cy="274320"/>
          </a:xfrm>
          <a:prstGeom prst="rect">
            <a:avLst/>
          </a:prstGeom>
          <a:noFill/>
        </p:spPr>
        <p:txBody>
          <a:bodyPr wrap="square" lIns="13716" rIns="13716" tIns="9144" bIns="9144">
            <a:spAutoFit/>
          </a:bodyPr>
          <a:lstStyle/>
          <a:p>
            <a:pPr>
              <a:defRPr sz="1400" b="0">
                <a:solidFill>
                  <a:srgbClr val="49616F"/>
                </a:solidFill>
                <a:latin typeface="Aptos"/>
              </a:defRPr>
            </a:pPr>
            <a:r>
              <a:t>Ảnh chụp dashboard Grafana trong quá trình chạy thử ngày 15/10/2026.</a:t>
            </a:r>
          </a:p>
        </p:txBody>
      </p:sp>
      <p:sp>
        <p:nvSpPr>
          <p:cNvPr id="8" name="Rounded Rectangle 7"/>
          <p:cNvSpPr/>
          <p:nvPr/>
        </p:nvSpPr>
        <p:spPr>
          <a:xfrm>
            <a:off x="612648" y="1746504"/>
            <a:ext cx="10945368" cy="3447288"/>
          </a:xfrm>
          <a:prstGeom prst="roundRect">
            <a:avLst/>
          </a:prstGeom>
          <a:solidFill>
            <a:srgbClr val="F6F8FA"/>
          </a:solidFill>
          <a:ln>
            <a:solidFill>
              <a:srgbClr val="E0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9279f6d74cc3cc9d95d2(2).jpg"/>
          <p:cNvPicPr>
            <a:picLocks noChangeAspect="1"/>
          </p:cNvPicPr>
          <p:nvPr/>
        </p:nvPicPr>
        <p:blipFill>
          <a:blip r:embed="rId11"/>
          <a:stretch>
            <a:fillRect/>
          </a:stretch>
        </p:blipFill>
        <p:spPr>
          <a:xfrm>
            <a:off x="694944" y="1828800"/>
            <a:ext cx="10771632" cy="3405689"/>
          </a:xfrm>
          <a:prstGeom prst="rect">
            <a:avLst/>
          </a:prstGeom>
        </p:spPr>
      </p:pic>
      <p:sp>
        <p:nvSpPr>
          <p:cNvPr id="10" name="Rounded Rectangle 9"/>
          <p:cNvSpPr/>
          <p:nvPr/>
        </p:nvSpPr>
        <p:spPr>
          <a:xfrm>
            <a:off x="612648" y="5376672"/>
            <a:ext cx="3483864" cy="1033271"/>
          </a:xfrm>
          <a:prstGeom prst="roundRect">
            <a:avLst/>
          </a:prstGeom>
          <a:solidFill>
            <a:srgbClr val="F7FAFA"/>
          </a:solidFill>
          <a:ln>
            <a:solidFill>
              <a:srgbClr val="DFE6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5477256"/>
            <a:ext cx="3218688" cy="246888"/>
          </a:xfrm>
          <a:prstGeom prst="rect">
            <a:avLst/>
          </a:prstGeom>
          <a:noFill/>
        </p:spPr>
        <p:txBody>
          <a:bodyPr wrap="square" lIns="13716" rIns="13716" tIns="9144" bIns="9144">
            <a:spAutoFit/>
          </a:bodyPr>
          <a:lstStyle/>
          <a:p>
            <a:pPr>
              <a:defRPr sz="1230" b="1">
                <a:solidFill>
                  <a:srgbClr val="146B65"/>
                </a:solidFill>
                <a:latin typeface="Aptos"/>
              </a:defRPr>
            </a:pPr>
            <a:r>
              <a:t>DỮ LIỆU ĐẦU VÀO</a:t>
            </a:r>
          </a:p>
        </p:txBody>
      </p:sp>
      <p:sp>
        <p:nvSpPr>
          <p:cNvPr id="12" name="TextBox 11"/>
          <p:cNvSpPr txBox="1"/>
          <p:nvPr/>
        </p:nvSpPr>
        <p:spPr>
          <a:xfrm>
            <a:off x="758952" y="5751576"/>
            <a:ext cx="3227832" cy="521207"/>
          </a:xfrm>
          <a:prstGeom prst="rect">
            <a:avLst/>
          </a:prstGeom>
          <a:noFill/>
        </p:spPr>
        <p:txBody>
          <a:bodyPr wrap="square" lIns="13716" rIns="13716" tIns="9144" bIns="9144">
            <a:spAutoFit/>
          </a:bodyPr>
          <a:lstStyle/>
          <a:p>
            <a:pPr>
              <a:defRPr sz="1240" b="0">
                <a:solidFill>
                  <a:srgbClr val="364650"/>
                </a:solidFill>
                <a:latin typeface="Aptos"/>
              </a:defRPr>
            </a:pPr>
            <a:r>
              <a:t>Phát hiện đặc trưng bị thiếu và dữ liệu nguồn cập nhật chậm.</a:t>
            </a:r>
          </a:p>
        </p:txBody>
      </p:sp>
      <p:sp>
        <p:nvSpPr>
          <p:cNvPr id="13" name="Rounded Rectangle 12"/>
          <p:cNvSpPr/>
          <p:nvPr/>
        </p:nvSpPr>
        <p:spPr>
          <a:xfrm>
            <a:off x="4343400" y="5376672"/>
            <a:ext cx="3483864" cy="1033271"/>
          </a:xfrm>
          <a:prstGeom prst="roundRect">
            <a:avLst/>
          </a:prstGeom>
          <a:solidFill>
            <a:srgbClr val="F7FAFA"/>
          </a:solidFill>
          <a:ln>
            <a:solidFill>
              <a:srgbClr val="DFE6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9704" y="5477256"/>
            <a:ext cx="3218688" cy="246888"/>
          </a:xfrm>
          <a:prstGeom prst="rect">
            <a:avLst/>
          </a:prstGeom>
          <a:noFill/>
        </p:spPr>
        <p:txBody>
          <a:bodyPr wrap="square" lIns="13716" rIns="13716" tIns="9144" bIns="9144">
            <a:spAutoFit/>
          </a:bodyPr>
          <a:lstStyle/>
          <a:p>
            <a:pPr>
              <a:defRPr sz="1230" b="1">
                <a:solidFill>
                  <a:srgbClr val="146B65"/>
                </a:solidFill>
                <a:latin typeface="Aptos"/>
              </a:defRPr>
            </a:pPr>
            <a:r>
              <a:t>SAI SỐ DỰ BÁO</a:t>
            </a:r>
          </a:p>
        </p:txBody>
      </p:sp>
      <p:sp>
        <p:nvSpPr>
          <p:cNvPr id="15" name="TextBox 14"/>
          <p:cNvSpPr txBox="1"/>
          <p:nvPr/>
        </p:nvSpPr>
        <p:spPr>
          <a:xfrm>
            <a:off x="4489704" y="5751576"/>
            <a:ext cx="3227832" cy="521207"/>
          </a:xfrm>
          <a:prstGeom prst="rect">
            <a:avLst/>
          </a:prstGeom>
          <a:noFill/>
        </p:spPr>
        <p:txBody>
          <a:bodyPr wrap="square" lIns="13716" rIns="13716" tIns="9144" bIns="9144">
            <a:spAutoFit/>
          </a:bodyPr>
          <a:lstStyle/>
          <a:p>
            <a:pPr>
              <a:defRPr sz="1240" b="0">
                <a:solidFill>
                  <a:srgbClr val="364650"/>
                </a:solidFill>
                <a:latin typeface="Aptos"/>
              </a:defRPr>
            </a:pPr>
            <a:r>
              <a:t>Theo dõi WMAPE, MAE, bias và độ phủ khi có nhu cầu thực tế.</a:t>
            </a:r>
          </a:p>
        </p:txBody>
      </p:sp>
      <p:sp>
        <p:nvSpPr>
          <p:cNvPr id="16" name="Rounded Rectangle 15"/>
          <p:cNvSpPr/>
          <p:nvPr/>
        </p:nvSpPr>
        <p:spPr>
          <a:xfrm>
            <a:off x="8074152" y="5376672"/>
            <a:ext cx="3483864" cy="1033271"/>
          </a:xfrm>
          <a:prstGeom prst="roundRect">
            <a:avLst/>
          </a:prstGeom>
          <a:solidFill>
            <a:srgbClr val="F7FAFA"/>
          </a:solidFill>
          <a:ln>
            <a:solidFill>
              <a:srgbClr val="DFE6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0456" y="5477256"/>
            <a:ext cx="3218688" cy="246888"/>
          </a:xfrm>
          <a:prstGeom prst="rect">
            <a:avLst/>
          </a:prstGeom>
          <a:noFill/>
        </p:spPr>
        <p:txBody>
          <a:bodyPr wrap="square" lIns="13716" rIns="13716" tIns="9144" bIns="9144">
            <a:spAutoFit/>
          </a:bodyPr>
          <a:lstStyle/>
          <a:p>
            <a:pPr>
              <a:defRPr sz="1230" b="1">
                <a:solidFill>
                  <a:srgbClr val="146B65"/>
                </a:solidFill>
                <a:latin typeface="Aptos"/>
              </a:defRPr>
            </a:pPr>
            <a:r>
              <a:t>PHÂN PHỐI ĐẦU RA</a:t>
            </a:r>
          </a:p>
        </p:txBody>
      </p:sp>
      <p:sp>
        <p:nvSpPr>
          <p:cNvPr id="18" name="TextBox 17"/>
          <p:cNvSpPr txBox="1"/>
          <p:nvPr/>
        </p:nvSpPr>
        <p:spPr>
          <a:xfrm>
            <a:off x="8220456" y="5751576"/>
            <a:ext cx="3227832" cy="521207"/>
          </a:xfrm>
          <a:prstGeom prst="rect">
            <a:avLst/>
          </a:prstGeom>
          <a:noFill/>
        </p:spPr>
        <p:txBody>
          <a:bodyPr wrap="square" lIns="13716" rIns="13716" tIns="9144" bIns="9144">
            <a:spAutoFit/>
          </a:bodyPr>
          <a:lstStyle/>
          <a:p>
            <a:pPr>
              <a:defRPr sz="1240" b="0">
                <a:solidFill>
                  <a:srgbClr val="364650"/>
                </a:solidFill>
                <a:latin typeface="Aptos"/>
              </a:defRPr>
            </a:pPr>
            <a:r>
              <a:t>Theo dõi PSI để nhận biết sự thay đổi của kết quả dự báo.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21207" y="283464"/>
            <a:ext cx="10972800" cy="292608"/>
          </a:xfrm>
          <a:prstGeom prst="rect">
            <a:avLst/>
          </a:prstGeom>
          <a:noFill/>
        </p:spPr>
        <p:txBody>
          <a:bodyPr wrap="square" lIns="18288" tIns="18288" rIns="18288" bIns="0">
            <a:spAutoFit/>
          </a:bodyPr>
          <a:lstStyle/>
          <a:p>
            <a:pPr>
              <a:spcBef>
                <a:spcPts val="0"/>
              </a:spcBef>
              <a:spcAft>
                <a:spcPts val="0"/>
              </a:spcAft>
              <a:defRPr sz="1019" b="1">
                <a:solidFill>
                  <a:srgbClr val="009587"/>
                </a:solidFill>
                <a:latin typeface="Arial"/>
              </a:defRPr>
            </a:pPr>
            <a:r>
              <a:t>08 · KẾT LUẬN VÀ HƯỚNG PHÁT TRIỂN</a:t>
            </a:r>
          </a:p>
        </p:txBody>
      </p:sp>
      <p:sp>
        <p:nvSpPr>
          <p:cNvPr id="4" name="TextBox 3"/>
          <p:cNvSpPr txBox="1"/>
          <p:nvPr/>
        </p:nvSpPr>
        <p:spPr>
          <a:xfrm>
            <a:off x="530352" y="676656"/>
            <a:ext cx="11109960" cy="914400"/>
          </a:xfrm>
          <a:prstGeom prst="rect">
            <a:avLst/>
          </a:prstGeom>
          <a:noFill/>
        </p:spPr>
        <p:txBody>
          <a:bodyPr wrap="square" lIns="18288" tIns="18288" rIns="18288" bIns="0">
            <a:spAutoFit/>
          </a:bodyPr>
          <a:lstStyle/>
          <a:p>
            <a:pPr>
              <a:spcBef>
                <a:spcPts val="0"/>
              </a:spcBef>
              <a:spcAft>
                <a:spcPts val="0"/>
              </a:spcAft>
              <a:defRPr sz="2550" b="1">
                <a:solidFill>
                  <a:srgbClr val="0A2032"/>
                </a:solidFill>
                <a:latin typeface="Arial"/>
              </a:defRPr>
            </a:pPr>
            <a:r>
              <a:t>Quy trình MLE đã vận hành thử, cần hoàn thiện dữ liệu và kiểm chứng thực tế</a:t>
            </a:r>
          </a:p>
        </p:txBody>
      </p:sp>
      <p:sp>
        <p:nvSpPr>
          <p:cNvPr id="5" name="Rectangle 4"/>
          <p:cNvSpPr/>
          <p:nvPr/>
        </p:nvSpPr>
        <p:spPr>
          <a:xfrm>
            <a:off x="521207" y="6547104"/>
            <a:ext cx="11137392" cy="10972"/>
          </a:xfrm>
          <a:prstGeom prst="rect">
            <a:avLst/>
          </a:prstGeom>
          <a:solidFill>
            <a:srgbClr val="DAE2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11128" y="6574536"/>
            <a:ext cx="301752" cy="182880"/>
          </a:xfrm>
          <a:prstGeom prst="rect">
            <a:avLst/>
          </a:prstGeom>
          <a:noFill/>
        </p:spPr>
        <p:txBody>
          <a:bodyPr wrap="square" lIns="18288" tIns="18288" rIns="18288" bIns="0">
            <a:spAutoFit/>
          </a:bodyPr>
          <a:lstStyle/>
          <a:p>
            <a:pPr algn="r">
              <a:spcBef>
                <a:spcPts val="0"/>
              </a:spcBef>
              <a:spcAft>
                <a:spcPts val="0"/>
              </a:spcAft>
              <a:defRPr sz="1050" b="1">
                <a:solidFill>
                  <a:srgbClr val="4C6270"/>
                </a:solidFill>
                <a:latin typeface="Arial"/>
              </a:defRPr>
            </a:pPr>
            <a:r>
              <a:t>15</a:t>
            </a:r>
          </a:p>
        </p:txBody>
      </p:sp>
      <p:sp>
        <p:nvSpPr>
          <p:cNvPr id="7" name="TextBox 6"/>
          <p:cNvSpPr txBox="1"/>
          <p:nvPr/>
        </p:nvSpPr>
        <p:spPr>
          <a:xfrm>
            <a:off x="594360" y="1481328"/>
            <a:ext cx="10972800" cy="502920"/>
          </a:xfrm>
          <a:prstGeom prst="rect">
            <a:avLst/>
          </a:prstGeom>
          <a:noFill/>
        </p:spPr>
        <p:txBody>
          <a:bodyPr wrap="square" lIns="18288" tIns="18288" rIns="18288" bIns="0">
            <a:spAutoFit/>
          </a:bodyPr>
          <a:lstStyle/>
          <a:p>
            <a:pPr>
              <a:spcBef>
                <a:spcPts val="0"/>
              </a:spcBef>
              <a:spcAft>
                <a:spcPts val="0"/>
              </a:spcAft>
              <a:defRPr sz="1580" b="0">
                <a:solidFill>
                  <a:srgbClr val="4C6270"/>
                </a:solidFill>
                <a:latin typeface="Arial"/>
              </a:defRPr>
            </a:pPr>
            <a:r>
              <a:t>Nhật ký cảnh báo chứng minh hệ thống giám sát không chỉ ghi nhận trạng thái chạy mà còn phát hiện điều kiện bất thường.</a:t>
            </a:r>
          </a:p>
        </p:txBody>
      </p:sp>
      <p:pic>
        <p:nvPicPr>
          <p:cNvPr id="8" name="Picture 7" descr="report_26.png"/>
          <p:cNvPicPr>
            <a:picLocks noChangeAspect="1"/>
          </p:cNvPicPr>
          <p:nvPr/>
        </p:nvPicPr>
        <p:blipFill>
          <a:blip r:embed="rId2"/>
          <a:stretch>
            <a:fillRect/>
          </a:stretch>
        </p:blipFill>
        <p:spPr>
          <a:xfrm>
            <a:off x="884542" y="1993392"/>
            <a:ext cx="10392435" cy="3575304"/>
          </a:xfrm>
          <a:prstGeom prst="rect">
            <a:avLst/>
          </a:prstGeom>
        </p:spPr>
      </p:pic>
      <p:sp>
        <p:nvSpPr>
          <p:cNvPr id="9" name="Rounded Rectangle 8"/>
          <p:cNvSpPr/>
          <p:nvPr/>
        </p:nvSpPr>
        <p:spPr>
          <a:xfrm>
            <a:off x="676656" y="5641848"/>
            <a:ext cx="10808208" cy="58521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76656" y="5641848"/>
            <a:ext cx="64008" cy="585216"/>
          </a:xfrm>
          <a:prstGeom prst="rect">
            <a:avLst/>
          </a:prstGeom>
          <a:solidFill>
            <a:srgbClr val="009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5733288"/>
            <a:ext cx="10396728" cy="411480"/>
          </a:xfrm>
          <a:prstGeom prst="rect">
            <a:avLst/>
          </a:prstGeom>
          <a:noFill/>
        </p:spPr>
        <p:txBody>
          <a:bodyPr wrap="square" lIns="18288" tIns="18288" rIns="18288" bIns="0">
            <a:spAutoFit/>
          </a:bodyPr>
          <a:lstStyle/>
          <a:p>
            <a:pPr>
              <a:spcBef>
                <a:spcPts val="0"/>
              </a:spcBef>
              <a:spcAft>
                <a:spcPts val="0"/>
              </a:spcAft>
              <a:defRPr sz="1520" b="0">
                <a:solidFill>
                  <a:srgbClr val="102A39"/>
                </a:solidFill>
                <a:latin typeface="Arial"/>
              </a:defRPr>
            </a:pPr>
            <a:r>
              <a:t>Bước tiếp theo: khắc phục dữ liệu thiếu, cải thiện dự báo khi nhu cầu biến động nhanh và đánh giá với dữ liệu đặt chuyến thực tế.</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1333</Words>
  <Application>Microsoft Office PowerPoint</Application>
  <PresentationFormat>Widescreen</PresentationFormat>
  <Paragraphs>141</Paragraphs>
  <Slides>15</Slides>
  <Notes>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Arial</vt:lpstr>
      <vt:lpstr>Calibri</vt:lpstr>
      <vt:lpstr>Inter</vt:lpstr>
      <vt:lpstr>Inter Display</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Dự đoán nhu cầu đặt xe tại TP.HCM — báo cáo MLE</dc:title>
  <dc:subject>Dự báo nhu cầu đặt xe tại TP.HCM</dc:subject>
  <dc:creator>OpenAI</dc:creator>
  <cp:lastModifiedBy>Trường an Nguyễn</cp:lastModifiedBy>
  <cp:revision>6</cp:revision>
  <dcterms:created xsi:type="dcterms:W3CDTF">2026-10-15T07:41:17Z</dcterms:created>
  <dcterms:modified xsi:type="dcterms:W3CDTF">2026-10-15T09:24:40Z</dcterms:modified>
</cp:coreProperties>
</file>